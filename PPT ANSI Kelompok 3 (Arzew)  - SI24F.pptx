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Bricolage Grotesque Bold" charset="1" panose="020B0605040402000204"/>
      <p:regular r:id="rId31"/>
    </p:embeddedFont>
    <p:embeddedFont>
      <p:font typeface="Bricolage Grotesque Light" charset="1" panose="020B0605040402000204"/>
      <p:regular r:id="rId32"/>
    </p:embeddedFont>
    <p:embeddedFont>
      <p:font typeface="Open Sans 2" charset="1" panose="00000000000000000000"/>
      <p:regular r:id="rId33"/>
    </p:embeddedFont>
    <p:embeddedFont>
      <p:font typeface="Open Sans 1" charset="1" panose="020B0606030504020204"/>
      <p:regular r:id="rId34"/>
    </p:embeddedFont>
    <p:embeddedFont>
      <p:font typeface="Open Sans 2 Bold" charset="1" panose="00000000000000000000"/>
      <p:regular r:id="rId35"/>
    </p:embeddedFont>
    <p:embeddedFont>
      <p:font typeface="Open Sans 1 Italics" charset="1" panose="020B0606030504020204"/>
      <p:regular r:id="rId36"/>
    </p:embeddedFont>
    <p:embeddedFont>
      <p:font typeface="Open Sans 1 Bold" charset="1" panose="020B0806030504020204"/>
      <p:regular r:id="rId37"/>
    </p:embeddedFont>
    <p:embeddedFont>
      <p:font typeface="Higuen Elegant Serif" charset="1" panose="000000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8.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 Id="rId7" Target="../media/image34.png" Type="http://schemas.openxmlformats.org/officeDocument/2006/relationships/image"/><Relationship Id="rId8" Target="../media/image3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38.png" Type="http://schemas.openxmlformats.org/officeDocument/2006/relationships/image"/><Relationship Id="rId8" Target="../media/image3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png" Type="http://schemas.openxmlformats.org/officeDocument/2006/relationships/image"/><Relationship Id="rId8" Target="../media/image4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44.pn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 Id="rId8" Target="../media/image47.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48.png" Type="http://schemas.openxmlformats.org/officeDocument/2006/relationships/image"/><Relationship Id="rId6" Target="../media/image4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0.png" Type="http://schemas.openxmlformats.org/officeDocument/2006/relationships/image"/><Relationship Id="rId6" Target="../media/image51.png" Type="http://schemas.openxmlformats.org/officeDocument/2006/relationships/image"/><Relationship Id="rId7" Target="../media/image52.png" Type="http://schemas.openxmlformats.org/officeDocument/2006/relationships/image"/><Relationship Id="rId8" Target="../media/image5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4.png" Type="http://schemas.openxmlformats.org/officeDocument/2006/relationships/image"/><Relationship Id="rId6" Target="../media/image55.png" Type="http://schemas.openxmlformats.org/officeDocument/2006/relationships/image"/><Relationship Id="rId7" Target="../media/image56.png" Type="http://schemas.openxmlformats.org/officeDocument/2006/relationships/image"/><Relationship Id="rId8" Target="../media/image5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8.png" Type="http://schemas.openxmlformats.org/officeDocument/2006/relationships/image"/><Relationship Id="rId6" Target="../media/image59.png" Type="http://schemas.openxmlformats.org/officeDocument/2006/relationships/image"/><Relationship Id="rId7" Target="../media/image60.png" Type="http://schemas.openxmlformats.org/officeDocument/2006/relationships/image"/><Relationship Id="rId8" Target="../media/image6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 Id="rId8" Target="../media/image6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3.png" Type="http://schemas.openxmlformats.org/officeDocument/2006/relationships/image"/><Relationship Id="rId6" Target="https://www.figma.com/design/EtVbPQLrKY0KScQ8ztPfR5/latihan-ansi?node-id=1-16990&amp;t=wLsI6A84NJn2UuRV-1" TargetMode="External" Type="http://schemas.openxmlformats.org/officeDocument/2006/relationships/hyperlink"/></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6.jpeg" Type="http://schemas.openxmlformats.org/officeDocument/2006/relationships/image"/><Relationship Id="rId5" Target="../media/image4.png" Type="http://schemas.openxmlformats.org/officeDocument/2006/relationships/image"/><Relationship Id="rId6" Target="../media/image67.png" Type="http://schemas.openxmlformats.org/officeDocument/2006/relationships/image"/><Relationship Id="rId7" Target="../media/image6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69.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sp>
        <p:nvSpPr>
          <p:cNvPr name="AutoShape 2" id="2"/>
          <p:cNvSpPr/>
          <p:nvPr/>
        </p:nvSpPr>
        <p:spPr>
          <a:xfrm>
            <a:off x="10239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Freeform 3" id="3"/>
          <p:cNvSpPr/>
          <p:nvPr/>
        </p:nvSpPr>
        <p:spPr>
          <a:xfrm flipH="false" flipV="false" rot="0">
            <a:off x="-1087109" y="-1319378"/>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64341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118443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7" id="7"/>
          <p:cNvSpPr/>
          <p:nvPr/>
        </p:nvSpPr>
        <p:spPr>
          <a:xfrm>
            <a:off x="17254538" y="-448043"/>
            <a:ext cx="0" cy="11118486"/>
          </a:xfrm>
          <a:prstGeom prst="line">
            <a:avLst/>
          </a:prstGeom>
          <a:ln cap="flat" w="9525">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len="sm" w="sm"/>
            <a:tailEnd type="none" len="sm" w="sm"/>
          </a:ln>
        </p:spPr>
      </p:sp>
      <p:grpSp>
        <p:nvGrpSpPr>
          <p:cNvPr name="Group 8" id="8"/>
          <p:cNvGrpSpPr/>
          <p:nvPr/>
        </p:nvGrpSpPr>
        <p:grpSpPr>
          <a:xfrm rot="0">
            <a:off x="12976639" y="-96257"/>
            <a:ext cx="5421584" cy="10461592"/>
            <a:chOff x="0" y="0"/>
            <a:chExt cx="839945" cy="1620774"/>
          </a:xfrm>
        </p:grpSpPr>
        <p:sp>
          <p:nvSpPr>
            <p:cNvPr name="Freeform 9" id="9"/>
            <p:cNvSpPr/>
            <p:nvPr/>
          </p:nvSpPr>
          <p:spPr>
            <a:xfrm flipH="false" flipV="false" rot="0">
              <a:off x="0" y="0"/>
              <a:ext cx="839945" cy="1620774"/>
            </a:xfrm>
            <a:custGeom>
              <a:avLst/>
              <a:gdLst/>
              <a:ahLst/>
              <a:cxnLst/>
              <a:rect r="r" b="b" t="t" l="l"/>
              <a:pathLst>
                <a:path h="1620774" w="839945">
                  <a:moveTo>
                    <a:pt x="0" y="0"/>
                  </a:moveTo>
                  <a:lnTo>
                    <a:pt x="839945" y="0"/>
                  </a:lnTo>
                  <a:lnTo>
                    <a:pt x="839945" y="1620774"/>
                  </a:lnTo>
                  <a:lnTo>
                    <a:pt x="0" y="1620774"/>
                  </a:lnTo>
                  <a:close/>
                </a:path>
              </a:pathLst>
            </a:custGeom>
            <a:blipFill>
              <a:blip r:embed="rId4"/>
              <a:stretch>
                <a:fillRect l="-3845" t="0" r="-3845" b="0"/>
              </a:stretch>
            </a:blipFill>
            <a:ln cap="sq">
              <a:noFill/>
              <a:prstDash val="solid"/>
              <a:miter/>
            </a:ln>
          </p:spPr>
        </p:sp>
      </p:grpSp>
      <p:sp>
        <p:nvSpPr>
          <p:cNvPr name="Freeform 10" id="10"/>
          <p:cNvSpPr/>
          <p:nvPr/>
        </p:nvSpPr>
        <p:spPr>
          <a:xfrm flipH="false" flipV="false" rot="0">
            <a:off x="699681" y="1028700"/>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sp>
        <p:nvSpPr>
          <p:cNvPr name="Freeform 11" id="11"/>
          <p:cNvSpPr/>
          <p:nvPr/>
        </p:nvSpPr>
        <p:spPr>
          <a:xfrm flipH="false" flipV="false" rot="0">
            <a:off x="699681" y="5385578"/>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grpSp>
        <p:nvGrpSpPr>
          <p:cNvPr name="Group 12" id="12"/>
          <p:cNvGrpSpPr/>
          <p:nvPr/>
        </p:nvGrpSpPr>
        <p:grpSpPr>
          <a:xfrm rot="0">
            <a:off x="815566" y="2421562"/>
            <a:ext cx="12791025" cy="5050342"/>
            <a:chOff x="0" y="0"/>
            <a:chExt cx="3368830" cy="1330131"/>
          </a:xfrm>
        </p:grpSpPr>
        <p:sp>
          <p:nvSpPr>
            <p:cNvPr name="Freeform 13" id="13"/>
            <p:cNvSpPr/>
            <p:nvPr/>
          </p:nvSpPr>
          <p:spPr>
            <a:xfrm flipH="false" flipV="false" rot="0">
              <a:off x="0" y="0"/>
              <a:ext cx="3368830" cy="1330131"/>
            </a:xfrm>
            <a:custGeom>
              <a:avLst/>
              <a:gdLst/>
              <a:ahLst/>
              <a:cxnLst/>
              <a:rect r="r" b="b" t="t" l="l"/>
              <a:pathLst>
                <a:path h="1330131" w="3368830">
                  <a:moveTo>
                    <a:pt x="37526" y="0"/>
                  </a:moveTo>
                  <a:lnTo>
                    <a:pt x="3331303" y="0"/>
                  </a:lnTo>
                  <a:cubicBezTo>
                    <a:pt x="3352029" y="0"/>
                    <a:pt x="3368830" y="16801"/>
                    <a:pt x="3368830" y="37526"/>
                  </a:cubicBezTo>
                  <a:lnTo>
                    <a:pt x="3368830" y="1292605"/>
                  </a:lnTo>
                  <a:cubicBezTo>
                    <a:pt x="3368830" y="1302558"/>
                    <a:pt x="3364876" y="1312103"/>
                    <a:pt x="3357838" y="1319140"/>
                  </a:cubicBezTo>
                  <a:cubicBezTo>
                    <a:pt x="3350801" y="1326178"/>
                    <a:pt x="3341256" y="1330131"/>
                    <a:pt x="3331303" y="1330131"/>
                  </a:cubicBezTo>
                  <a:lnTo>
                    <a:pt x="37526" y="1330131"/>
                  </a:lnTo>
                  <a:cubicBezTo>
                    <a:pt x="27574" y="1330131"/>
                    <a:pt x="18029" y="1326178"/>
                    <a:pt x="10991" y="1319140"/>
                  </a:cubicBezTo>
                  <a:cubicBezTo>
                    <a:pt x="3954" y="1312103"/>
                    <a:pt x="0" y="1302558"/>
                    <a:pt x="0" y="1292605"/>
                  </a:cubicBezTo>
                  <a:lnTo>
                    <a:pt x="0" y="37526"/>
                  </a:lnTo>
                  <a:cubicBezTo>
                    <a:pt x="0" y="27574"/>
                    <a:pt x="3954" y="18029"/>
                    <a:pt x="10991" y="10991"/>
                  </a:cubicBezTo>
                  <a:cubicBezTo>
                    <a:pt x="18029" y="3954"/>
                    <a:pt x="27574" y="0"/>
                    <a:pt x="37526" y="0"/>
                  </a:cubicBezTo>
                  <a:close/>
                </a:path>
              </a:pathLst>
            </a:custGeom>
            <a:solidFill>
              <a:srgbClr val="FFFFFF"/>
            </a:solidFill>
            <a:ln w="19050" cap="rnd">
              <a:solidFill>
                <a:srgbClr val="320000"/>
              </a:solidFill>
              <a:prstDash val="solid"/>
              <a:round/>
            </a:ln>
          </p:spPr>
        </p:sp>
        <p:sp>
          <p:nvSpPr>
            <p:cNvPr name="TextBox 14" id="14"/>
            <p:cNvSpPr txBox="true"/>
            <p:nvPr/>
          </p:nvSpPr>
          <p:spPr>
            <a:xfrm>
              <a:off x="0" y="-38100"/>
              <a:ext cx="3368830" cy="1368231"/>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4298029" y="8216870"/>
            <a:ext cx="8383335" cy="1041430"/>
            <a:chOff x="0" y="0"/>
            <a:chExt cx="2207957" cy="274286"/>
          </a:xfrm>
        </p:grpSpPr>
        <p:sp>
          <p:nvSpPr>
            <p:cNvPr name="Freeform 16" id="16"/>
            <p:cNvSpPr/>
            <p:nvPr/>
          </p:nvSpPr>
          <p:spPr>
            <a:xfrm flipH="false" flipV="false" rot="0">
              <a:off x="0" y="0"/>
              <a:ext cx="2207957" cy="274286"/>
            </a:xfrm>
            <a:custGeom>
              <a:avLst/>
              <a:gdLst/>
              <a:ahLst/>
              <a:cxnLst/>
              <a:rect r="r" b="b" t="t" l="l"/>
              <a:pathLst>
                <a:path h="274286" w="2207957">
                  <a:moveTo>
                    <a:pt x="57256" y="0"/>
                  </a:moveTo>
                  <a:lnTo>
                    <a:pt x="2150700" y="0"/>
                  </a:lnTo>
                  <a:cubicBezTo>
                    <a:pt x="2165885" y="0"/>
                    <a:pt x="2180449" y="6032"/>
                    <a:pt x="2191187" y="16770"/>
                  </a:cubicBezTo>
                  <a:cubicBezTo>
                    <a:pt x="2201924" y="27508"/>
                    <a:pt x="2207957" y="42071"/>
                    <a:pt x="2207957" y="57256"/>
                  </a:cubicBezTo>
                  <a:lnTo>
                    <a:pt x="2207957" y="217030"/>
                  </a:lnTo>
                  <a:cubicBezTo>
                    <a:pt x="2207957" y="232215"/>
                    <a:pt x="2201924" y="246778"/>
                    <a:pt x="2191187" y="257516"/>
                  </a:cubicBezTo>
                  <a:cubicBezTo>
                    <a:pt x="2180449" y="268254"/>
                    <a:pt x="2165885" y="274286"/>
                    <a:pt x="2150700" y="274286"/>
                  </a:cubicBezTo>
                  <a:lnTo>
                    <a:pt x="57256" y="274286"/>
                  </a:lnTo>
                  <a:cubicBezTo>
                    <a:pt x="42071" y="274286"/>
                    <a:pt x="27508" y="268254"/>
                    <a:pt x="16770" y="257516"/>
                  </a:cubicBezTo>
                  <a:cubicBezTo>
                    <a:pt x="6032" y="246778"/>
                    <a:pt x="0" y="232215"/>
                    <a:pt x="0" y="217030"/>
                  </a:cubicBezTo>
                  <a:lnTo>
                    <a:pt x="0" y="57256"/>
                  </a:lnTo>
                  <a:cubicBezTo>
                    <a:pt x="0" y="42071"/>
                    <a:pt x="6032" y="27508"/>
                    <a:pt x="16770" y="16770"/>
                  </a:cubicBezTo>
                  <a:cubicBezTo>
                    <a:pt x="27508" y="6032"/>
                    <a:pt x="42071" y="0"/>
                    <a:pt x="57256" y="0"/>
                  </a:cubicBezTo>
                  <a:close/>
                </a:path>
              </a:pathLst>
            </a:custGeom>
            <a:gradFill rotWithShape="true">
              <a:gsLst>
                <a:gs pos="0">
                  <a:srgbClr val="FFFFFF">
                    <a:alpha val="8400"/>
                  </a:srgbClr>
                </a:gs>
                <a:gs pos="25000">
                  <a:srgbClr val="FFFFFF">
                    <a:alpha val="24000"/>
                  </a:srgbClr>
                </a:gs>
                <a:gs pos="50000">
                  <a:srgbClr val="FFFFFF">
                    <a:alpha val="8000"/>
                  </a:srgbClr>
                </a:gs>
                <a:gs pos="75000">
                  <a:srgbClr val="FFFFFF">
                    <a:alpha val="24000"/>
                  </a:srgbClr>
                </a:gs>
                <a:gs pos="100000">
                  <a:srgbClr val="FFFFFF">
                    <a:alpha val="8000"/>
                  </a:srgbClr>
                </a:gs>
              </a:gsLst>
              <a:lin ang="2700000"/>
            </a:gradFill>
            <a:ln w="19050" cap="rnd">
              <a:solidFill>
                <a:srgbClr val="FFFFFF">
                  <a:alpha val="80000"/>
                </a:srgbClr>
              </a:solidFill>
              <a:prstDash val="solid"/>
              <a:round/>
            </a:ln>
          </p:spPr>
        </p:sp>
        <p:sp>
          <p:nvSpPr>
            <p:cNvPr name="TextBox 17" id="17"/>
            <p:cNvSpPr txBox="true"/>
            <p:nvPr/>
          </p:nvSpPr>
          <p:spPr>
            <a:xfrm>
              <a:off x="0" y="-38100"/>
              <a:ext cx="2207957" cy="312386"/>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15566" y="8216870"/>
            <a:ext cx="5077952" cy="1041430"/>
            <a:chOff x="0" y="0"/>
            <a:chExt cx="1337403" cy="274286"/>
          </a:xfrm>
        </p:grpSpPr>
        <p:sp>
          <p:nvSpPr>
            <p:cNvPr name="Freeform 19" id="19"/>
            <p:cNvSpPr/>
            <p:nvPr/>
          </p:nvSpPr>
          <p:spPr>
            <a:xfrm flipH="false" flipV="false" rot="0">
              <a:off x="0" y="0"/>
              <a:ext cx="1337403" cy="274286"/>
            </a:xfrm>
            <a:custGeom>
              <a:avLst/>
              <a:gdLst/>
              <a:ahLst/>
              <a:cxnLst/>
              <a:rect r="r" b="b" t="t" l="l"/>
              <a:pathLst>
                <a:path h="274286" w="1337403">
                  <a:moveTo>
                    <a:pt x="94526" y="0"/>
                  </a:moveTo>
                  <a:lnTo>
                    <a:pt x="1242877" y="0"/>
                  </a:lnTo>
                  <a:cubicBezTo>
                    <a:pt x="1295082" y="0"/>
                    <a:pt x="1337403" y="42321"/>
                    <a:pt x="1337403" y="94526"/>
                  </a:cubicBezTo>
                  <a:lnTo>
                    <a:pt x="1337403" y="179760"/>
                  </a:lnTo>
                  <a:cubicBezTo>
                    <a:pt x="1337403" y="204830"/>
                    <a:pt x="1327444" y="228873"/>
                    <a:pt x="1309717" y="246600"/>
                  </a:cubicBezTo>
                  <a:cubicBezTo>
                    <a:pt x="1291990" y="264327"/>
                    <a:pt x="1267947" y="274286"/>
                    <a:pt x="1242877" y="274286"/>
                  </a:cubicBezTo>
                  <a:lnTo>
                    <a:pt x="94526" y="274286"/>
                  </a:lnTo>
                  <a:cubicBezTo>
                    <a:pt x="42321" y="274286"/>
                    <a:pt x="0" y="231965"/>
                    <a:pt x="0" y="179760"/>
                  </a:cubicBezTo>
                  <a:lnTo>
                    <a:pt x="0" y="94526"/>
                  </a:lnTo>
                  <a:cubicBezTo>
                    <a:pt x="0" y="42321"/>
                    <a:pt x="42321" y="0"/>
                    <a:pt x="94526" y="0"/>
                  </a:cubicBezTo>
                  <a:close/>
                </a:path>
              </a:pathLst>
            </a:custGeom>
            <a:solidFill>
              <a:srgbClr val="FFFFFF"/>
            </a:solidFill>
            <a:ln w="19050" cap="rnd">
              <a:solidFill>
                <a:srgbClr val="320000"/>
              </a:solidFill>
              <a:prstDash val="solid"/>
              <a:round/>
            </a:ln>
          </p:spPr>
        </p:sp>
        <p:sp>
          <p:nvSpPr>
            <p:cNvPr name="TextBox 20" id="20"/>
            <p:cNvSpPr txBox="true"/>
            <p:nvPr/>
          </p:nvSpPr>
          <p:spPr>
            <a:xfrm>
              <a:off x="0" y="-38100"/>
              <a:ext cx="1337403" cy="312386"/>
            </a:xfrm>
            <a:prstGeom prst="rect">
              <a:avLst/>
            </a:prstGeom>
          </p:spPr>
          <p:txBody>
            <a:bodyPr anchor="ctr" rtlCol="false" tIns="50800" lIns="50800" bIns="50800" rIns="50800"/>
            <a:lstStyle/>
            <a:p>
              <a:pPr algn="ctr">
                <a:lnSpc>
                  <a:spcPts val="2659"/>
                </a:lnSpc>
                <a:spcBef>
                  <a:spcPct val="0"/>
                </a:spcBef>
              </a:pPr>
            </a:p>
          </p:txBody>
        </p:sp>
      </p:grpSp>
      <p:pic>
        <p:nvPicPr>
          <p:cNvPr name="Picture 21" id="21"/>
          <p:cNvPicPr>
            <a:picLocks noChangeAspect="true"/>
          </p:cNvPicPr>
          <p:nvPr/>
        </p:nvPicPr>
        <p:blipFill>
          <a:blip r:embed="rId6"/>
          <a:stretch>
            <a:fillRect/>
          </a:stretch>
        </p:blipFill>
        <p:spPr>
          <a:xfrm rot="0">
            <a:off x="6892709" y="8493617"/>
            <a:ext cx="448093" cy="456348"/>
          </a:xfrm>
          <a:prstGeom prst="rect">
            <a:avLst/>
          </a:prstGeom>
        </p:spPr>
      </p:pic>
      <p:sp>
        <p:nvSpPr>
          <p:cNvPr name="Freeform 22" id="22"/>
          <p:cNvSpPr/>
          <p:nvPr/>
        </p:nvSpPr>
        <p:spPr>
          <a:xfrm flipH="false" flipV="false" rot="0">
            <a:off x="9948069" y="8552977"/>
            <a:ext cx="383274" cy="383274"/>
          </a:xfrm>
          <a:custGeom>
            <a:avLst/>
            <a:gdLst/>
            <a:ahLst/>
            <a:cxnLst/>
            <a:rect r="r" b="b" t="t" l="l"/>
            <a:pathLst>
              <a:path h="383274" w="383274">
                <a:moveTo>
                  <a:pt x="0" y="0"/>
                </a:moveTo>
                <a:lnTo>
                  <a:pt x="383274" y="0"/>
                </a:lnTo>
                <a:lnTo>
                  <a:pt x="383274" y="383274"/>
                </a:lnTo>
                <a:lnTo>
                  <a:pt x="0" y="3832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1195873" y="2863017"/>
            <a:ext cx="13600372" cy="1684107"/>
          </a:xfrm>
          <a:prstGeom prst="rect">
            <a:avLst/>
          </a:prstGeom>
        </p:spPr>
        <p:txBody>
          <a:bodyPr anchor="t" rtlCol="false" tIns="0" lIns="0" bIns="0" rIns="0">
            <a:spAutoFit/>
          </a:bodyPr>
          <a:lstStyle/>
          <a:p>
            <a:pPr algn="l">
              <a:lnSpc>
                <a:spcPts val="12699"/>
              </a:lnSpc>
            </a:pPr>
            <a:r>
              <a:rPr lang="en-US" sz="12450" spc="-722" b="true">
                <a:solidFill>
                  <a:srgbClr val="320000"/>
                </a:solidFill>
                <a:latin typeface="Bricolage Grotesque Bold"/>
                <a:ea typeface="Bricolage Grotesque Bold"/>
                <a:cs typeface="Bricolage Grotesque Bold"/>
                <a:sym typeface="Bricolage Grotesque Bold"/>
              </a:rPr>
              <a:t>Sistem Infomasi</a:t>
            </a:r>
          </a:p>
        </p:txBody>
      </p:sp>
      <p:sp>
        <p:nvSpPr>
          <p:cNvPr name="TextBox 24" id="24"/>
          <p:cNvSpPr txBox="true"/>
          <p:nvPr/>
        </p:nvSpPr>
        <p:spPr>
          <a:xfrm rot="0">
            <a:off x="2392775" y="4888095"/>
            <a:ext cx="10945602" cy="1137840"/>
          </a:xfrm>
          <a:prstGeom prst="rect">
            <a:avLst/>
          </a:prstGeom>
        </p:spPr>
        <p:txBody>
          <a:bodyPr anchor="t" rtlCol="false" tIns="0" lIns="0" bIns="0" rIns="0">
            <a:spAutoFit/>
          </a:bodyPr>
          <a:lstStyle/>
          <a:p>
            <a:pPr algn="l">
              <a:lnSpc>
                <a:spcPts val="8588"/>
              </a:lnSpc>
            </a:pPr>
            <a:r>
              <a:rPr lang="en-US" sz="8420" spc="-488">
                <a:solidFill>
                  <a:srgbClr val="320000"/>
                </a:solidFill>
                <a:latin typeface="Bricolage Grotesque Light"/>
                <a:ea typeface="Bricolage Grotesque Light"/>
                <a:cs typeface="Bricolage Grotesque Light"/>
                <a:sym typeface="Bricolage Grotesque Light"/>
              </a:rPr>
              <a:t>Pemesanan ARZEW</a:t>
            </a:r>
          </a:p>
        </p:txBody>
      </p:sp>
      <p:sp>
        <p:nvSpPr>
          <p:cNvPr name="TextBox 25" id="25"/>
          <p:cNvSpPr txBox="true"/>
          <p:nvPr/>
        </p:nvSpPr>
        <p:spPr>
          <a:xfrm rot="0">
            <a:off x="4961809" y="6518185"/>
            <a:ext cx="5252561" cy="393785"/>
          </a:xfrm>
          <a:prstGeom prst="rect">
            <a:avLst/>
          </a:prstGeom>
        </p:spPr>
        <p:txBody>
          <a:bodyPr anchor="t" rtlCol="false" tIns="0" lIns="0" bIns="0" rIns="0">
            <a:spAutoFit/>
          </a:bodyPr>
          <a:lstStyle/>
          <a:p>
            <a:pPr algn="l">
              <a:lnSpc>
                <a:spcPts val="3108"/>
              </a:lnSpc>
            </a:pPr>
            <a:r>
              <a:rPr lang="en-US" sz="2486" spc="-74">
                <a:solidFill>
                  <a:srgbClr val="320000"/>
                </a:solidFill>
                <a:latin typeface="Open Sans 2"/>
                <a:ea typeface="Open Sans 2"/>
                <a:cs typeface="Open Sans 2"/>
                <a:sym typeface="Open Sans 2"/>
              </a:rPr>
              <a:t>Ibu Arny Lattu, S.Pd.Kom., M.Kom.</a:t>
            </a:r>
          </a:p>
        </p:txBody>
      </p:sp>
      <p:sp>
        <p:nvSpPr>
          <p:cNvPr name="TextBox 26" id="26"/>
          <p:cNvSpPr txBox="true"/>
          <p:nvPr/>
        </p:nvSpPr>
        <p:spPr>
          <a:xfrm rot="0">
            <a:off x="1326848" y="8539192"/>
            <a:ext cx="3894213" cy="372744"/>
          </a:xfrm>
          <a:prstGeom prst="rect">
            <a:avLst/>
          </a:prstGeom>
        </p:spPr>
        <p:txBody>
          <a:bodyPr anchor="t" rtlCol="false" tIns="0" lIns="0" bIns="0" rIns="0">
            <a:spAutoFit/>
          </a:bodyPr>
          <a:lstStyle/>
          <a:p>
            <a:pPr algn="l">
              <a:lnSpc>
                <a:spcPts val="3080"/>
              </a:lnSpc>
              <a:spcBef>
                <a:spcPct val="0"/>
              </a:spcBef>
            </a:pPr>
            <a:r>
              <a:rPr lang="en-US" sz="2200" spc="-77">
                <a:solidFill>
                  <a:srgbClr val="320000"/>
                </a:solidFill>
                <a:latin typeface="Open Sans 1"/>
                <a:ea typeface="Open Sans 1"/>
                <a:cs typeface="Open Sans 1"/>
                <a:sym typeface="Open Sans 1"/>
              </a:rPr>
              <a:t>Kelompok 3  SI24F</a:t>
            </a:r>
          </a:p>
        </p:txBody>
      </p:sp>
      <p:sp>
        <p:nvSpPr>
          <p:cNvPr name="TextBox 27" id="27"/>
          <p:cNvSpPr txBox="true"/>
          <p:nvPr/>
        </p:nvSpPr>
        <p:spPr>
          <a:xfrm rot="0">
            <a:off x="7349812" y="8581737"/>
            <a:ext cx="1972567"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083110651114</a:t>
            </a:r>
          </a:p>
        </p:txBody>
      </p:sp>
      <p:sp>
        <p:nvSpPr>
          <p:cNvPr name="TextBox 28" id="28"/>
          <p:cNvSpPr txBox="true"/>
          <p:nvPr/>
        </p:nvSpPr>
        <p:spPr>
          <a:xfrm rot="0">
            <a:off x="10422779" y="8581737"/>
            <a:ext cx="2915598"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@4rzew</a:t>
            </a:r>
          </a:p>
        </p:txBody>
      </p:sp>
      <p:sp>
        <p:nvSpPr>
          <p:cNvPr name="TextBox 29" id="29"/>
          <p:cNvSpPr txBox="true"/>
          <p:nvPr/>
        </p:nvSpPr>
        <p:spPr>
          <a:xfrm rot="0">
            <a:off x="1102785" y="874681"/>
            <a:ext cx="7386911" cy="489606"/>
          </a:xfrm>
          <a:prstGeom prst="rect">
            <a:avLst/>
          </a:prstGeom>
        </p:spPr>
        <p:txBody>
          <a:bodyPr anchor="t" rtlCol="false" tIns="0" lIns="0" bIns="0" rIns="0">
            <a:spAutoFit/>
          </a:bodyPr>
          <a:lstStyle/>
          <a:p>
            <a:pPr algn="l">
              <a:lnSpc>
                <a:spcPts val="4014"/>
              </a:lnSpc>
            </a:pPr>
            <a:r>
              <a:rPr lang="en-US" sz="2867" spc="-126" b="true">
                <a:solidFill>
                  <a:srgbClr val="FFFFFF"/>
                </a:solidFill>
                <a:latin typeface="Open Sans 2 Bold"/>
                <a:ea typeface="Open Sans 2 Bold"/>
                <a:cs typeface="Open Sans 2 Bold"/>
                <a:sym typeface="Open Sans 2 Bold"/>
              </a:rPr>
              <a:t>ANALISIS DAN PERANCANGAN SISTEM</a:t>
            </a:r>
          </a:p>
        </p:txBody>
      </p:sp>
      <p:sp>
        <p:nvSpPr>
          <p:cNvPr name="TextBox 30" id="30"/>
          <p:cNvSpPr txBox="true"/>
          <p:nvPr/>
        </p:nvSpPr>
        <p:spPr>
          <a:xfrm rot="0">
            <a:off x="10378788" y="981075"/>
            <a:ext cx="2264569" cy="349250"/>
          </a:xfrm>
          <a:prstGeom prst="rect">
            <a:avLst/>
          </a:prstGeom>
        </p:spPr>
        <p:txBody>
          <a:bodyPr anchor="t" rtlCol="false" tIns="0" lIns="0" bIns="0" rIns="0">
            <a:spAutoFit/>
          </a:bodyPr>
          <a:lstStyle/>
          <a:p>
            <a:pPr algn="ctr">
              <a:lnSpc>
                <a:spcPts val="2800"/>
              </a:lnSpc>
            </a:pPr>
            <a:r>
              <a:rPr lang="en-US" sz="2000" spc="-88">
                <a:solidFill>
                  <a:srgbClr val="FFFFFF"/>
                </a:solidFill>
                <a:latin typeface="Open Sans 2"/>
                <a:ea typeface="Open Sans 2"/>
                <a:cs typeface="Open Sans 2"/>
                <a:sym typeface="Open Sans 2"/>
              </a:rPr>
              <a:t>Januari 2026</a:t>
            </a:r>
          </a:p>
        </p:txBody>
      </p:sp>
      <p:sp>
        <p:nvSpPr>
          <p:cNvPr name="TextBox 31" id="31"/>
          <p:cNvSpPr txBox="true"/>
          <p:nvPr/>
        </p:nvSpPr>
        <p:spPr>
          <a:xfrm rot="0">
            <a:off x="6210043" y="6087848"/>
            <a:ext cx="2002072" cy="349375"/>
          </a:xfrm>
          <a:prstGeom prst="rect">
            <a:avLst/>
          </a:prstGeom>
        </p:spPr>
        <p:txBody>
          <a:bodyPr anchor="t" rtlCol="false" tIns="0" lIns="0" bIns="0" rIns="0">
            <a:spAutoFit/>
          </a:bodyPr>
          <a:lstStyle/>
          <a:p>
            <a:pPr algn="ctr">
              <a:lnSpc>
                <a:spcPts val="2909"/>
              </a:lnSpc>
              <a:spcBef>
                <a:spcPct val="0"/>
              </a:spcBef>
            </a:pPr>
            <a:r>
              <a:rPr lang="en-US" sz="2077" spc="-155">
                <a:solidFill>
                  <a:srgbClr val="000000"/>
                </a:solidFill>
                <a:latin typeface="Open Sans 2"/>
                <a:ea typeface="Open Sans 2"/>
                <a:cs typeface="Open Sans 2"/>
                <a:sym typeface="Open Sans 2"/>
              </a:rPr>
              <a:t>Dosen Pengampu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sp>
        <p:nvSpPr>
          <p:cNvPr name="AutoShape 2" id="2"/>
          <p:cNvSpPr/>
          <p:nvPr/>
        </p:nvSpPr>
        <p:spPr>
          <a:xfrm>
            <a:off x="10239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Freeform 3" id="3"/>
          <p:cNvSpPr/>
          <p:nvPr/>
        </p:nvSpPr>
        <p:spPr>
          <a:xfrm flipH="false" flipV="false" rot="0">
            <a:off x="-1087109" y="-1319378"/>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64341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118443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7" id="7"/>
          <p:cNvSpPr/>
          <p:nvPr/>
        </p:nvSpPr>
        <p:spPr>
          <a:xfrm>
            <a:off x="17254538" y="-448043"/>
            <a:ext cx="0" cy="11118486"/>
          </a:xfrm>
          <a:prstGeom prst="line">
            <a:avLst/>
          </a:prstGeom>
          <a:ln cap="flat" w="9525">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len="sm" w="sm"/>
            <a:tailEnd type="none" len="sm" w="sm"/>
          </a:ln>
        </p:spPr>
      </p:sp>
      <p:grpSp>
        <p:nvGrpSpPr>
          <p:cNvPr name="Group 8" id="8"/>
          <p:cNvGrpSpPr/>
          <p:nvPr/>
        </p:nvGrpSpPr>
        <p:grpSpPr>
          <a:xfrm rot="0">
            <a:off x="12976639" y="-96257"/>
            <a:ext cx="5421584" cy="10461592"/>
            <a:chOff x="0" y="0"/>
            <a:chExt cx="839945" cy="1620774"/>
          </a:xfrm>
        </p:grpSpPr>
        <p:sp>
          <p:nvSpPr>
            <p:cNvPr name="Freeform 9" id="9"/>
            <p:cNvSpPr/>
            <p:nvPr/>
          </p:nvSpPr>
          <p:spPr>
            <a:xfrm flipH="false" flipV="false" rot="0">
              <a:off x="0" y="0"/>
              <a:ext cx="839945" cy="1620774"/>
            </a:xfrm>
            <a:custGeom>
              <a:avLst/>
              <a:gdLst/>
              <a:ahLst/>
              <a:cxnLst/>
              <a:rect r="r" b="b" t="t" l="l"/>
              <a:pathLst>
                <a:path h="1620774" w="839945">
                  <a:moveTo>
                    <a:pt x="0" y="0"/>
                  </a:moveTo>
                  <a:lnTo>
                    <a:pt x="839945" y="0"/>
                  </a:lnTo>
                  <a:lnTo>
                    <a:pt x="839945" y="1620774"/>
                  </a:lnTo>
                  <a:lnTo>
                    <a:pt x="0" y="1620774"/>
                  </a:lnTo>
                  <a:close/>
                </a:path>
              </a:pathLst>
            </a:custGeom>
            <a:blipFill>
              <a:blip r:embed="rId4"/>
              <a:stretch>
                <a:fillRect l="-3845" t="0" r="-3845" b="0"/>
              </a:stretch>
            </a:blipFill>
            <a:ln cap="sq">
              <a:noFill/>
              <a:prstDash val="solid"/>
              <a:miter/>
            </a:ln>
          </p:spPr>
        </p:sp>
      </p:grpSp>
      <p:sp>
        <p:nvSpPr>
          <p:cNvPr name="Freeform 10" id="10"/>
          <p:cNvSpPr/>
          <p:nvPr/>
        </p:nvSpPr>
        <p:spPr>
          <a:xfrm flipH="false" flipV="false" rot="0">
            <a:off x="699681" y="1028700"/>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sp>
        <p:nvSpPr>
          <p:cNvPr name="Freeform 11" id="11"/>
          <p:cNvSpPr/>
          <p:nvPr/>
        </p:nvSpPr>
        <p:spPr>
          <a:xfrm flipH="false" flipV="false" rot="0">
            <a:off x="699681" y="5385578"/>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grpSp>
        <p:nvGrpSpPr>
          <p:cNvPr name="Group 12" id="12"/>
          <p:cNvGrpSpPr/>
          <p:nvPr/>
        </p:nvGrpSpPr>
        <p:grpSpPr>
          <a:xfrm rot="0">
            <a:off x="815566" y="2421562"/>
            <a:ext cx="12791025" cy="5050342"/>
            <a:chOff x="0" y="0"/>
            <a:chExt cx="3368830" cy="1330131"/>
          </a:xfrm>
        </p:grpSpPr>
        <p:sp>
          <p:nvSpPr>
            <p:cNvPr name="Freeform 13" id="13"/>
            <p:cNvSpPr/>
            <p:nvPr/>
          </p:nvSpPr>
          <p:spPr>
            <a:xfrm flipH="false" flipV="false" rot="0">
              <a:off x="0" y="0"/>
              <a:ext cx="3368830" cy="1330131"/>
            </a:xfrm>
            <a:custGeom>
              <a:avLst/>
              <a:gdLst/>
              <a:ahLst/>
              <a:cxnLst/>
              <a:rect r="r" b="b" t="t" l="l"/>
              <a:pathLst>
                <a:path h="1330131" w="3368830">
                  <a:moveTo>
                    <a:pt x="37526" y="0"/>
                  </a:moveTo>
                  <a:lnTo>
                    <a:pt x="3331303" y="0"/>
                  </a:lnTo>
                  <a:cubicBezTo>
                    <a:pt x="3352029" y="0"/>
                    <a:pt x="3368830" y="16801"/>
                    <a:pt x="3368830" y="37526"/>
                  </a:cubicBezTo>
                  <a:lnTo>
                    <a:pt x="3368830" y="1292605"/>
                  </a:lnTo>
                  <a:cubicBezTo>
                    <a:pt x="3368830" y="1302558"/>
                    <a:pt x="3364876" y="1312103"/>
                    <a:pt x="3357838" y="1319140"/>
                  </a:cubicBezTo>
                  <a:cubicBezTo>
                    <a:pt x="3350801" y="1326178"/>
                    <a:pt x="3341256" y="1330131"/>
                    <a:pt x="3331303" y="1330131"/>
                  </a:cubicBezTo>
                  <a:lnTo>
                    <a:pt x="37526" y="1330131"/>
                  </a:lnTo>
                  <a:cubicBezTo>
                    <a:pt x="27574" y="1330131"/>
                    <a:pt x="18029" y="1326178"/>
                    <a:pt x="10991" y="1319140"/>
                  </a:cubicBezTo>
                  <a:cubicBezTo>
                    <a:pt x="3954" y="1312103"/>
                    <a:pt x="0" y="1302558"/>
                    <a:pt x="0" y="1292605"/>
                  </a:cubicBezTo>
                  <a:lnTo>
                    <a:pt x="0" y="37526"/>
                  </a:lnTo>
                  <a:cubicBezTo>
                    <a:pt x="0" y="27574"/>
                    <a:pt x="3954" y="18029"/>
                    <a:pt x="10991" y="10991"/>
                  </a:cubicBezTo>
                  <a:cubicBezTo>
                    <a:pt x="18029" y="3954"/>
                    <a:pt x="27574" y="0"/>
                    <a:pt x="37526" y="0"/>
                  </a:cubicBezTo>
                  <a:close/>
                </a:path>
              </a:pathLst>
            </a:custGeom>
            <a:solidFill>
              <a:srgbClr val="FFFFFF"/>
            </a:solidFill>
            <a:ln w="19050" cap="rnd">
              <a:solidFill>
                <a:srgbClr val="320000"/>
              </a:solidFill>
              <a:prstDash val="solid"/>
              <a:round/>
            </a:ln>
          </p:spPr>
        </p:sp>
        <p:sp>
          <p:nvSpPr>
            <p:cNvPr name="TextBox 14" id="14"/>
            <p:cNvSpPr txBox="true"/>
            <p:nvPr/>
          </p:nvSpPr>
          <p:spPr>
            <a:xfrm>
              <a:off x="0" y="-38100"/>
              <a:ext cx="3368830" cy="1368231"/>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4298029" y="8216870"/>
            <a:ext cx="8383335" cy="1041430"/>
            <a:chOff x="0" y="0"/>
            <a:chExt cx="2207957" cy="274286"/>
          </a:xfrm>
        </p:grpSpPr>
        <p:sp>
          <p:nvSpPr>
            <p:cNvPr name="Freeform 16" id="16"/>
            <p:cNvSpPr/>
            <p:nvPr/>
          </p:nvSpPr>
          <p:spPr>
            <a:xfrm flipH="false" flipV="false" rot="0">
              <a:off x="0" y="0"/>
              <a:ext cx="2207957" cy="274286"/>
            </a:xfrm>
            <a:custGeom>
              <a:avLst/>
              <a:gdLst/>
              <a:ahLst/>
              <a:cxnLst/>
              <a:rect r="r" b="b" t="t" l="l"/>
              <a:pathLst>
                <a:path h="274286" w="2207957">
                  <a:moveTo>
                    <a:pt x="57256" y="0"/>
                  </a:moveTo>
                  <a:lnTo>
                    <a:pt x="2150700" y="0"/>
                  </a:lnTo>
                  <a:cubicBezTo>
                    <a:pt x="2165885" y="0"/>
                    <a:pt x="2180449" y="6032"/>
                    <a:pt x="2191187" y="16770"/>
                  </a:cubicBezTo>
                  <a:cubicBezTo>
                    <a:pt x="2201924" y="27508"/>
                    <a:pt x="2207957" y="42071"/>
                    <a:pt x="2207957" y="57256"/>
                  </a:cubicBezTo>
                  <a:lnTo>
                    <a:pt x="2207957" y="217030"/>
                  </a:lnTo>
                  <a:cubicBezTo>
                    <a:pt x="2207957" y="232215"/>
                    <a:pt x="2201924" y="246778"/>
                    <a:pt x="2191187" y="257516"/>
                  </a:cubicBezTo>
                  <a:cubicBezTo>
                    <a:pt x="2180449" y="268254"/>
                    <a:pt x="2165885" y="274286"/>
                    <a:pt x="2150700" y="274286"/>
                  </a:cubicBezTo>
                  <a:lnTo>
                    <a:pt x="57256" y="274286"/>
                  </a:lnTo>
                  <a:cubicBezTo>
                    <a:pt x="42071" y="274286"/>
                    <a:pt x="27508" y="268254"/>
                    <a:pt x="16770" y="257516"/>
                  </a:cubicBezTo>
                  <a:cubicBezTo>
                    <a:pt x="6032" y="246778"/>
                    <a:pt x="0" y="232215"/>
                    <a:pt x="0" y="217030"/>
                  </a:cubicBezTo>
                  <a:lnTo>
                    <a:pt x="0" y="57256"/>
                  </a:lnTo>
                  <a:cubicBezTo>
                    <a:pt x="0" y="42071"/>
                    <a:pt x="6032" y="27508"/>
                    <a:pt x="16770" y="16770"/>
                  </a:cubicBezTo>
                  <a:cubicBezTo>
                    <a:pt x="27508" y="6032"/>
                    <a:pt x="42071" y="0"/>
                    <a:pt x="57256" y="0"/>
                  </a:cubicBezTo>
                  <a:close/>
                </a:path>
              </a:pathLst>
            </a:custGeom>
            <a:gradFill rotWithShape="true">
              <a:gsLst>
                <a:gs pos="0">
                  <a:srgbClr val="FFFFFF">
                    <a:alpha val="8400"/>
                  </a:srgbClr>
                </a:gs>
                <a:gs pos="25000">
                  <a:srgbClr val="FFFFFF">
                    <a:alpha val="24000"/>
                  </a:srgbClr>
                </a:gs>
                <a:gs pos="50000">
                  <a:srgbClr val="FFFFFF">
                    <a:alpha val="8000"/>
                  </a:srgbClr>
                </a:gs>
                <a:gs pos="75000">
                  <a:srgbClr val="FFFFFF">
                    <a:alpha val="24000"/>
                  </a:srgbClr>
                </a:gs>
                <a:gs pos="100000">
                  <a:srgbClr val="FFFFFF">
                    <a:alpha val="8000"/>
                  </a:srgbClr>
                </a:gs>
              </a:gsLst>
              <a:lin ang="2700000"/>
            </a:gradFill>
            <a:ln w="19050" cap="rnd">
              <a:solidFill>
                <a:srgbClr val="FFFFFF">
                  <a:alpha val="80000"/>
                </a:srgbClr>
              </a:solidFill>
              <a:prstDash val="solid"/>
              <a:round/>
            </a:ln>
          </p:spPr>
        </p:sp>
        <p:sp>
          <p:nvSpPr>
            <p:cNvPr name="TextBox 17" id="17"/>
            <p:cNvSpPr txBox="true"/>
            <p:nvPr/>
          </p:nvSpPr>
          <p:spPr>
            <a:xfrm>
              <a:off x="0" y="-38100"/>
              <a:ext cx="2207957" cy="312386"/>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15566" y="8216870"/>
            <a:ext cx="5077952" cy="1041430"/>
            <a:chOff x="0" y="0"/>
            <a:chExt cx="1337403" cy="274286"/>
          </a:xfrm>
        </p:grpSpPr>
        <p:sp>
          <p:nvSpPr>
            <p:cNvPr name="Freeform 19" id="19"/>
            <p:cNvSpPr/>
            <p:nvPr/>
          </p:nvSpPr>
          <p:spPr>
            <a:xfrm flipH="false" flipV="false" rot="0">
              <a:off x="0" y="0"/>
              <a:ext cx="1337403" cy="274286"/>
            </a:xfrm>
            <a:custGeom>
              <a:avLst/>
              <a:gdLst/>
              <a:ahLst/>
              <a:cxnLst/>
              <a:rect r="r" b="b" t="t" l="l"/>
              <a:pathLst>
                <a:path h="274286" w="1337403">
                  <a:moveTo>
                    <a:pt x="94526" y="0"/>
                  </a:moveTo>
                  <a:lnTo>
                    <a:pt x="1242877" y="0"/>
                  </a:lnTo>
                  <a:cubicBezTo>
                    <a:pt x="1295082" y="0"/>
                    <a:pt x="1337403" y="42321"/>
                    <a:pt x="1337403" y="94526"/>
                  </a:cubicBezTo>
                  <a:lnTo>
                    <a:pt x="1337403" y="179760"/>
                  </a:lnTo>
                  <a:cubicBezTo>
                    <a:pt x="1337403" y="204830"/>
                    <a:pt x="1327444" y="228873"/>
                    <a:pt x="1309717" y="246600"/>
                  </a:cubicBezTo>
                  <a:cubicBezTo>
                    <a:pt x="1291990" y="264327"/>
                    <a:pt x="1267947" y="274286"/>
                    <a:pt x="1242877" y="274286"/>
                  </a:cubicBezTo>
                  <a:lnTo>
                    <a:pt x="94526" y="274286"/>
                  </a:lnTo>
                  <a:cubicBezTo>
                    <a:pt x="42321" y="274286"/>
                    <a:pt x="0" y="231965"/>
                    <a:pt x="0" y="179760"/>
                  </a:cubicBezTo>
                  <a:lnTo>
                    <a:pt x="0" y="94526"/>
                  </a:lnTo>
                  <a:cubicBezTo>
                    <a:pt x="0" y="42321"/>
                    <a:pt x="42321" y="0"/>
                    <a:pt x="94526" y="0"/>
                  </a:cubicBezTo>
                  <a:close/>
                </a:path>
              </a:pathLst>
            </a:custGeom>
            <a:solidFill>
              <a:srgbClr val="FFFFFF"/>
            </a:solidFill>
            <a:ln w="19050" cap="rnd">
              <a:solidFill>
                <a:srgbClr val="320000"/>
              </a:solidFill>
              <a:prstDash val="solid"/>
              <a:round/>
            </a:ln>
          </p:spPr>
        </p:sp>
        <p:sp>
          <p:nvSpPr>
            <p:cNvPr name="TextBox 20" id="20"/>
            <p:cNvSpPr txBox="true"/>
            <p:nvPr/>
          </p:nvSpPr>
          <p:spPr>
            <a:xfrm>
              <a:off x="0" y="-38100"/>
              <a:ext cx="1337403" cy="312386"/>
            </a:xfrm>
            <a:prstGeom prst="rect">
              <a:avLst/>
            </a:prstGeom>
          </p:spPr>
          <p:txBody>
            <a:bodyPr anchor="ctr" rtlCol="false" tIns="50800" lIns="50800" bIns="50800" rIns="50800"/>
            <a:lstStyle/>
            <a:p>
              <a:pPr algn="ctr">
                <a:lnSpc>
                  <a:spcPts val="2659"/>
                </a:lnSpc>
                <a:spcBef>
                  <a:spcPct val="0"/>
                </a:spcBef>
              </a:pPr>
            </a:p>
          </p:txBody>
        </p:sp>
      </p:grpSp>
      <p:pic>
        <p:nvPicPr>
          <p:cNvPr name="Picture 21" id="21"/>
          <p:cNvPicPr>
            <a:picLocks noChangeAspect="true"/>
          </p:cNvPicPr>
          <p:nvPr/>
        </p:nvPicPr>
        <p:blipFill>
          <a:blip r:embed="rId6"/>
          <a:stretch>
            <a:fillRect/>
          </a:stretch>
        </p:blipFill>
        <p:spPr>
          <a:xfrm rot="0">
            <a:off x="6892709" y="8493617"/>
            <a:ext cx="448093" cy="456348"/>
          </a:xfrm>
          <a:prstGeom prst="rect">
            <a:avLst/>
          </a:prstGeom>
        </p:spPr>
      </p:pic>
      <p:sp>
        <p:nvSpPr>
          <p:cNvPr name="Freeform 22" id="22"/>
          <p:cNvSpPr/>
          <p:nvPr/>
        </p:nvSpPr>
        <p:spPr>
          <a:xfrm flipH="false" flipV="false" rot="0">
            <a:off x="9948069" y="8552977"/>
            <a:ext cx="383274" cy="383274"/>
          </a:xfrm>
          <a:custGeom>
            <a:avLst/>
            <a:gdLst/>
            <a:ahLst/>
            <a:cxnLst/>
            <a:rect r="r" b="b" t="t" l="l"/>
            <a:pathLst>
              <a:path h="383274" w="383274">
                <a:moveTo>
                  <a:pt x="0" y="0"/>
                </a:moveTo>
                <a:lnTo>
                  <a:pt x="383274" y="0"/>
                </a:lnTo>
                <a:lnTo>
                  <a:pt x="383274" y="383274"/>
                </a:lnTo>
                <a:lnTo>
                  <a:pt x="0" y="3832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1537072" y="3343400"/>
            <a:ext cx="10893095" cy="2993877"/>
          </a:xfrm>
          <a:prstGeom prst="rect">
            <a:avLst/>
          </a:prstGeom>
        </p:spPr>
        <p:txBody>
          <a:bodyPr anchor="t" rtlCol="false" tIns="0" lIns="0" bIns="0" rIns="0">
            <a:spAutoFit/>
          </a:bodyPr>
          <a:lstStyle/>
          <a:p>
            <a:pPr algn="l">
              <a:lnSpc>
                <a:spcPts val="3960"/>
              </a:lnSpc>
            </a:pPr>
            <a:r>
              <a:rPr lang="en-US" sz="3882" spc="-225">
                <a:solidFill>
                  <a:srgbClr val="320000"/>
                </a:solidFill>
                <a:latin typeface="Bricolage Grotesque Light"/>
                <a:ea typeface="Bricolage Grotesque Light"/>
                <a:cs typeface="Bricolage Grotesque Light"/>
                <a:sym typeface="Bricolage Grotesque Light"/>
              </a:rPr>
              <a:t>Disusun Oleh :</a:t>
            </a:r>
          </a:p>
          <a:p>
            <a:pPr algn="l" marL="838211" indent="-419106" lvl="1">
              <a:lnSpc>
                <a:spcPts val="3960"/>
              </a:lnSpc>
              <a:buAutoNum type="arabicPeriod" startAt="1"/>
            </a:pPr>
            <a:r>
              <a:rPr lang="en-US" sz="3882" spc="-225">
                <a:solidFill>
                  <a:srgbClr val="320000"/>
                </a:solidFill>
                <a:latin typeface="Bricolage Grotesque Light"/>
                <a:ea typeface="Bricolage Grotesque Light"/>
                <a:cs typeface="Bricolage Grotesque Light"/>
                <a:sym typeface="Bricolage Grotesque Light"/>
              </a:rPr>
              <a:t>Azmi Leoni Kamilah</a:t>
            </a:r>
          </a:p>
          <a:p>
            <a:pPr algn="l" marL="838211" indent="-419106" lvl="1">
              <a:lnSpc>
                <a:spcPts val="3960"/>
              </a:lnSpc>
              <a:buAutoNum type="arabicPeriod" startAt="1"/>
            </a:pPr>
            <a:r>
              <a:rPr lang="en-US" sz="3882" spc="-225">
                <a:solidFill>
                  <a:srgbClr val="320000"/>
                </a:solidFill>
                <a:latin typeface="Bricolage Grotesque Light"/>
                <a:ea typeface="Bricolage Grotesque Light"/>
                <a:cs typeface="Bricolage Grotesque Light"/>
                <a:sym typeface="Bricolage Grotesque Light"/>
              </a:rPr>
              <a:t> Jahra Anindya Irawan</a:t>
            </a:r>
          </a:p>
          <a:p>
            <a:pPr algn="l" marL="838211" indent="-419106" lvl="1">
              <a:lnSpc>
                <a:spcPts val="3960"/>
              </a:lnSpc>
              <a:buAutoNum type="arabicPeriod" startAt="1"/>
            </a:pPr>
            <a:r>
              <a:rPr lang="en-US" sz="3882" spc="-225">
                <a:solidFill>
                  <a:srgbClr val="320000"/>
                </a:solidFill>
                <a:latin typeface="Bricolage Grotesque Light"/>
                <a:ea typeface="Bricolage Grotesque Light"/>
                <a:cs typeface="Bricolage Grotesque Light"/>
                <a:sym typeface="Bricolage Grotesque Light"/>
              </a:rPr>
              <a:t> Lintang Purnama Harakita</a:t>
            </a:r>
          </a:p>
          <a:p>
            <a:pPr algn="l" marL="838211" indent="-419106" lvl="1">
              <a:lnSpc>
                <a:spcPts val="3960"/>
              </a:lnSpc>
              <a:buAutoNum type="arabicPeriod" startAt="1"/>
            </a:pPr>
            <a:r>
              <a:rPr lang="en-US" sz="3882" spc="-225">
                <a:solidFill>
                  <a:srgbClr val="320000"/>
                </a:solidFill>
                <a:latin typeface="Bricolage Grotesque Light"/>
                <a:ea typeface="Bricolage Grotesque Light"/>
                <a:cs typeface="Bricolage Grotesque Light"/>
                <a:sym typeface="Bricolage Grotesque Light"/>
              </a:rPr>
              <a:t> Nazlisa Hamidah</a:t>
            </a:r>
          </a:p>
          <a:p>
            <a:pPr algn="l" marL="838211" indent="-419106" lvl="1">
              <a:lnSpc>
                <a:spcPts val="3960"/>
              </a:lnSpc>
              <a:buAutoNum type="arabicPeriod" startAt="1"/>
            </a:pPr>
            <a:r>
              <a:rPr lang="en-US" sz="3882" spc="-225">
                <a:solidFill>
                  <a:srgbClr val="320000"/>
                </a:solidFill>
                <a:latin typeface="Bricolage Grotesque Light"/>
                <a:ea typeface="Bricolage Grotesque Light"/>
                <a:cs typeface="Bricolage Grotesque Light"/>
                <a:sym typeface="Bricolage Grotesque Light"/>
              </a:rPr>
              <a:t> Sisi Sophiana</a:t>
            </a:r>
          </a:p>
        </p:txBody>
      </p:sp>
      <p:sp>
        <p:nvSpPr>
          <p:cNvPr name="TextBox 24" id="24"/>
          <p:cNvSpPr txBox="true"/>
          <p:nvPr/>
        </p:nvSpPr>
        <p:spPr>
          <a:xfrm rot="0">
            <a:off x="1326848" y="8539192"/>
            <a:ext cx="3894213" cy="372744"/>
          </a:xfrm>
          <a:prstGeom prst="rect">
            <a:avLst/>
          </a:prstGeom>
        </p:spPr>
        <p:txBody>
          <a:bodyPr anchor="t" rtlCol="false" tIns="0" lIns="0" bIns="0" rIns="0">
            <a:spAutoFit/>
          </a:bodyPr>
          <a:lstStyle/>
          <a:p>
            <a:pPr algn="l">
              <a:lnSpc>
                <a:spcPts val="3080"/>
              </a:lnSpc>
              <a:spcBef>
                <a:spcPct val="0"/>
              </a:spcBef>
            </a:pPr>
            <a:r>
              <a:rPr lang="en-US" sz="2200" spc="-77">
                <a:solidFill>
                  <a:srgbClr val="320000"/>
                </a:solidFill>
                <a:latin typeface="Open Sans 1"/>
                <a:ea typeface="Open Sans 1"/>
                <a:cs typeface="Open Sans 1"/>
                <a:sym typeface="Open Sans 1"/>
              </a:rPr>
              <a:t>Kelompok 3  SI24F</a:t>
            </a:r>
          </a:p>
        </p:txBody>
      </p:sp>
      <p:sp>
        <p:nvSpPr>
          <p:cNvPr name="TextBox 25" id="25"/>
          <p:cNvSpPr txBox="true"/>
          <p:nvPr/>
        </p:nvSpPr>
        <p:spPr>
          <a:xfrm rot="0">
            <a:off x="7349812" y="8581737"/>
            <a:ext cx="1972567"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083110651114</a:t>
            </a:r>
          </a:p>
        </p:txBody>
      </p:sp>
      <p:sp>
        <p:nvSpPr>
          <p:cNvPr name="TextBox 26" id="26"/>
          <p:cNvSpPr txBox="true"/>
          <p:nvPr/>
        </p:nvSpPr>
        <p:spPr>
          <a:xfrm rot="0">
            <a:off x="10422779" y="8581737"/>
            <a:ext cx="2915598"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@4rzew</a:t>
            </a:r>
          </a:p>
        </p:txBody>
      </p:sp>
      <p:sp>
        <p:nvSpPr>
          <p:cNvPr name="TextBox 27" id="27"/>
          <p:cNvSpPr txBox="true"/>
          <p:nvPr/>
        </p:nvSpPr>
        <p:spPr>
          <a:xfrm rot="0">
            <a:off x="1102785" y="874681"/>
            <a:ext cx="7386911" cy="489606"/>
          </a:xfrm>
          <a:prstGeom prst="rect">
            <a:avLst/>
          </a:prstGeom>
        </p:spPr>
        <p:txBody>
          <a:bodyPr anchor="t" rtlCol="false" tIns="0" lIns="0" bIns="0" rIns="0">
            <a:spAutoFit/>
          </a:bodyPr>
          <a:lstStyle/>
          <a:p>
            <a:pPr algn="l">
              <a:lnSpc>
                <a:spcPts val="4014"/>
              </a:lnSpc>
            </a:pPr>
            <a:r>
              <a:rPr lang="en-US" sz="2867" spc="-126" b="true">
                <a:solidFill>
                  <a:srgbClr val="FFFFFF"/>
                </a:solidFill>
                <a:latin typeface="Open Sans 2 Bold"/>
                <a:ea typeface="Open Sans 2 Bold"/>
                <a:cs typeface="Open Sans 2 Bold"/>
                <a:sym typeface="Open Sans 2 Bold"/>
              </a:rPr>
              <a:t>ANALISIS DAN PERANCANGAN SISTEM</a:t>
            </a:r>
          </a:p>
        </p:txBody>
      </p:sp>
      <p:sp>
        <p:nvSpPr>
          <p:cNvPr name="TextBox 28" id="28"/>
          <p:cNvSpPr txBox="true"/>
          <p:nvPr/>
        </p:nvSpPr>
        <p:spPr>
          <a:xfrm rot="0">
            <a:off x="10378788" y="981075"/>
            <a:ext cx="2264569" cy="349250"/>
          </a:xfrm>
          <a:prstGeom prst="rect">
            <a:avLst/>
          </a:prstGeom>
        </p:spPr>
        <p:txBody>
          <a:bodyPr anchor="t" rtlCol="false" tIns="0" lIns="0" bIns="0" rIns="0">
            <a:spAutoFit/>
          </a:bodyPr>
          <a:lstStyle/>
          <a:p>
            <a:pPr algn="ctr">
              <a:lnSpc>
                <a:spcPts val="2800"/>
              </a:lnSpc>
            </a:pPr>
            <a:r>
              <a:rPr lang="en-US" sz="2000" spc="-88">
                <a:solidFill>
                  <a:srgbClr val="FFFFFF"/>
                </a:solidFill>
                <a:latin typeface="Open Sans 2"/>
                <a:ea typeface="Open Sans 2"/>
                <a:cs typeface="Open Sans 2"/>
                <a:sym typeface="Open Sans 2"/>
              </a:rPr>
              <a:t>Januari 2026</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1028700"/>
            <a:ext cx="5902038" cy="8497233"/>
            <a:chOff x="0" y="0"/>
            <a:chExt cx="914380" cy="1316444"/>
          </a:xfrm>
        </p:grpSpPr>
        <p:sp>
          <p:nvSpPr>
            <p:cNvPr name="Freeform 10" id="10"/>
            <p:cNvSpPr/>
            <p:nvPr/>
          </p:nvSpPr>
          <p:spPr>
            <a:xfrm flipH="false" flipV="false" rot="0">
              <a:off x="0" y="0"/>
              <a:ext cx="914380" cy="1316444"/>
            </a:xfrm>
            <a:custGeom>
              <a:avLst/>
              <a:gdLst/>
              <a:ahLst/>
              <a:cxnLst/>
              <a:rect r="r" b="b" t="t" l="l"/>
              <a:pathLst>
                <a:path h="1316444" w="914380">
                  <a:moveTo>
                    <a:pt x="59028" y="0"/>
                  </a:moveTo>
                  <a:lnTo>
                    <a:pt x="855352" y="0"/>
                  </a:lnTo>
                  <a:cubicBezTo>
                    <a:pt x="871007" y="0"/>
                    <a:pt x="886021" y="6219"/>
                    <a:pt x="897091" y="17289"/>
                  </a:cubicBezTo>
                  <a:cubicBezTo>
                    <a:pt x="908161" y="28359"/>
                    <a:pt x="914380" y="43373"/>
                    <a:pt x="914380" y="59028"/>
                  </a:cubicBezTo>
                  <a:lnTo>
                    <a:pt x="914380" y="1257415"/>
                  </a:lnTo>
                  <a:cubicBezTo>
                    <a:pt x="914380" y="1273071"/>
                    <a:pt x="908161" y="1288085"/>
                    <a:pt x="897091" y="1299155"/>
                  </a:cubicBezTo>
                  <a:cubicBezTo>
                    <a:pt x="886021" y="1310225"/>
                    <a:pt x="871007" y="1316444"/>
                    <a:pt x="855352" y="1316444"/>
                  </a:cubicBezTo>
                  <a:lnTo>
                    <a:pt x="59028" y="1316444"/>
                  </a:lnTo>
                  <a:cubicBezTo>
                    <a:pt x="43373" y="1316444"/>
                    <a:pt x="28359" y="1310225"/>
                    <a:pt x="17289" y="1299155"/>
                  </a:cubicBezTo>
                  <a:cubicBezTo>
                    <a:pt x="6219" y="1288085"/>
                    <a:pt x="0" y="1273071"/>
                    <a:pt x="0" y="1257415"/>
                  </a:cubicBezTo>
                  <a:lnTo>
                    <a:pt x="0" y="59028"/>
                  </a:lnTo>
                  <a:cubicBezTo>
                    <a:pt x="0" y="43373"/>
                    <a:pt x="6219" y="28359"/>
                    <a:pt x="17289" y="17289"/>
                  </a:cubicBezTo>
                  <a:cubicBezTo>
                    <a:pt x="28359" y="6219"/>
                    <a:pt x="43373" y="0"/>
                    <a:pt x="59028" y="0"/>
                  </a:cubicBezTo>
                  <a:close/>
                </a:path>
              </a:pathLst>
            </a:custGeom>
            <a:blipFill>
              <a:blip r:embed="rId4"/>
              <a:stretch>
                <a:fillRect l="0" t="-38842" r="0" b="-38842"/>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1" id="11"/>
          <p:cNvGrpSpPr/>
          <p:nvPr/>
        </p:nvGrpSpPr>
        <p:grpSpPr>
          <a:xfrm rot="0">
            <a:off x="7556254" y="3257984"/>
            <a:ext cx="11641737" cy="6267949"/>
            <a:chOff x="0" y="0"/>
            <a:chExt cx="4381981" cy="2359272"/>
          </a:xfrm>
        </p:grpSpPr>
        <p:sp>
          <p:nvSpPr>
            <p:cNvPr name="Freeform 12" id="12"/>
            <p:cNvSpPr/>
            <p:nvPr/>
          </p:nvSpPr>
          <p:spPr>
            <a:xfrm flipH="false" flipV="false" rot="0">
              <a:off x="0" y="0"/>
              <a:ext cx="4381981" cy="2359272"/>
            </a:xfrm>
            <a:custGeom>
              <a:avLst/>
              <a:gdLst/>
              <a:ahLst/>
              <a:cxnLst/>
              <a:rect r="r" b="b" t="t" l="l"/>
              <a:pathLst>
                <a:path h="2359272" w="4381981">
                  <a:moveTo>
                    <a:pt x="23275" y="0"/>
                  </a:moveTo>
                  <a:lnTo>
                    <a:pt x="4358706" y="0"/>
                  </a:lnTo>
                  <a:cubicBezTo>
                    <a:pt x="4371560" y="0"/>
                    <a:pt x="4381981" y="10421"/>
                    <a:pt x="4381981" y="23275"/>
                  </a:cubicBezTo>
                  <a:lnTo>
                    <a:pt x="4381981" y="2335997"/>
                  </a:lnTo>
                  <a:cubicBezTo>
                    <a:pt x="4381981" y="2342170"/>
                    <a:pt x="4379529" y="2348090"/>
                    <a:pt x="4375164" y="2352455"/>
                  </a:cubicBezTo>
                  <a:cubicBezTo>
                    <a:pt x="4370799" y="2356820"/>
                    <a:pt x="4364879" y="2359272"/>
                    <a:pt x="4358706" y="2359272"/>
                  </a:cubicBezTo>
                  <a:lnTo>
                    <a:pt x="23275" y="2359272"/>
                  </a:lnTo>
                  <a:cubicBezTo>
                    <a:pt x="17102" y="2359272"/>
                    <a:pt x="11182" y="2356820"/>
                    <a:pt x="6817" y="2352455"/>
                  </a:cubicBezTo>
                  <a:cubicBezTo>
                    <a:pt x="2452" y="2348090"/>
                    <a:pt x="0" y="2342170"/>
                    <a:pt x="0" y="2335997"/>
                  </a:cubicBezTo>
                  <a:lnTo>
                    <a:pt x="0" y="23275"/>
                  </a:lnTo>
                  <a:cubicBezTo>
                    <a:pt x="0" y="17102"/>
                    <a:pt x="2452" y="11182"/>
                    <a:pt x="6817" y="6817"/>
                  </a:cubicBezTo>
                  <a:cubicBezTo>
                    <a:pt x="11182" y="2452"/>
                    <a:pt x="17102" y="0"/>
                    <a:pt x="23275" y="0"/>
                  </a:cubicBezTo>
                  <a:close/>
                </a:path>
              </a:pathLst>
            </a:custGeom>
            <a:gradFill rotWithShape="true">
              <a:gsLst>
                <a:gs pos="0">
                  <a:srgbClr val="FFFFFF">
                    <a:alpha val="10500"/>
                  </a:srgbClr>
                </a:gs>
                <a:gs pos="25000">
                  <a:srgbClr val="FFFFFF">
                    <a:alpha val="20000"/>
                  </a:srgbClr>
                </a:gs>
                <a:gs pos="50000">
                  <a:srgbClr val="FFFFFF">
                    <a:alpha val="10000"/>
                  </a:srgbClr>
                </a:gs>
                <a:gs pos="75000">
                  <a:srgbClr val="FFFFFF">
                    <a:alpha val="20000"/>
                  </a:srgbClr>
                </a:gs>
                <a:gs pos="100000">
                  <a:srgbClr val="FFFFFF">
                    <a:alpha val="10000"/>
                  </a:srgbClr>
                </a:gs>
              </a:gsLst>
              <a:lin ang="2700000"/>
            </a:gra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3" id="13"/>
            <p:cNvSpPr txBox="true"/>
            <p:nvPr/>
          </p:nvSpPr>
          <p:spPr>
            <a:xfrm>
              <a:off x="0" y="76200"/>
              <a:ext cx="4381981" cy="2283072"/>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4" id="14"/>
          <p:cNvSpPr txBox="true"/>
          <p:nvPr/>
        </p:nvSpPr>
        <p:spPr>
          <a:xfrm rot="0">
            <a:off x="7718179" y="1645840"/>
            <a:ext cx="9760631" cy="1191681"/>
          </a:xfrm>
          <a:prstGeom prst="rect">
            <a:avLst/>
          </a:prstGeom>
        </p:spPr>
        <p:txBody>
          <a:bodyPr anchor="t" rtlCol="false" tIns="0" lIns="0" bIns="0" rIns="0">
            <a:spAutoFit/>
          </a:bodyPr>
          <a:lstStyle/>
          <a:p>
            <a:pPr algn="just">
              <a:lnSpc>
                <a:spcPts val="8311"/>
              </a:lnSpc>
            </a:pPr>
            <a:r>
              <a:rPr lang="en-US" b="true" sz="10389" spc="-602">
                <a:solidFill>
                  <a:srgbClr val="FFFFFF"/>
                </a:solidFill>
                <a:latin typeface="Bricolage Grotesque Bold"/>
                <a:ea typeface="Bricolage Grotesque Bold"/>
                <a:cs typeface="Bricolage Grotesque Bold"/>
                <a:sym typeface="Bricolage Grotesque Bold"/>
              </a:rPr>
              <a:t>Latar Belakang</a:t>
            </a:r>
          </a:p>
        </p:txBody>
      </p:sp>
      <p:sp>
        <p:nvSpPr>
          <p:cNvPr name="TextBox 15" id="15"/>
          <p:cNvSpPr txBox="true"/>
          <p:nvPr/>
        </p:nvSpPr>
        <p:spPr>
          <a:xfrm rot="0">
            <a:off x="7987039" y="3583897"/>
            <a:ext cx="9841305" cy="5606598"/>
          </a:xfrm>
          <a:prstGeom prst="rect">
            <a:avLst/>
          </a:prstGeom>
        </p:spPr>
        <p:txBody>
          <a:bodyPr anchor="t" rtlCol="false" tIns="0" lIns="0" bIns="0" rIns="0">
            <a:spAutoFit/>
          </a:bodyPr>
          <a:lstStyle/>
          <a:p>
            <a:pPr algn="just" marL="0" indent="0" lvl="0">
              <a:lnSpc>
                <a:spcPts val="4463"/>
              </a:lnSpc>
              <a:spcBef>
                <a:spcPct val="0"/>
              </a:spcBef>
            </a:pPr>
            <a:r>
              <a:rPr lang="en-US" sz="3571" spc="-107">
                <a:solidFill>
                  <a:srgbClr val="FFFFFF"/>
                </a:solidFill>
                <a:latin typeface="Open Sans 2"/>
                <a:ea typeface="Open Sans 2"/>
                <a:cs typeface="Open Sans 2"/>
                <a:sym typeface="Open Sans 2"/>
              </a:rPr>
              <a:t>UMKM ARZEW B</a:t>
            </a:r>
            <a:r>
              <a:rPr lang="en-US" sz="3571" spc="-107" strike="noStrike" u="none">
                <a:solidFill>
                  <a:srgbClr val="FFFFFF"/>
                </a:solidFill>
                <a:latin typeface="Open Sans 2"/>
                <a:ea typeface="Open Sans 2"/>
                <a:cs typeface="Open Sans 2"/>
                <a:sym typeface="Open Sans 2"/>
              </a:rPr>
              <a:t>eads Jewelry merupakan usaha kreatif di bidang aksesoris handmade berbahan beads. Saat ini, proses pemesanan masih dilakukan melalui Instagram Direct Message (DM), sehingga pencatatan pesanan, pengelolaan stok, dan laporan penjualan belum terstruktur dengan baik.</a:t>
            </a:r>
          </a:p>
          <a:p>
            <a:pPr algn="just" marL="0" indent="0" lvl="0">
              <a:lnSpc>
                <a:spcPts val="4463"/>
              </a:lnSpc>
              <a:spcBef>
                <a:spcPct val="0"/>
              </a:spcBef>
            </a:pPr>
            <a:r>
              <a:rPr lang="en-US" sz="3571" spc="-107" strike="noStrike" u="none">
                <a:solidFill>
                  <a:srgbClr val="FFFFFF"/>
                </a:solidFill>
                <a:latin typeface="Open Sans 2"/>
                <a:ea typeface="Open Sans 2"/>
                <a:cs typeface="Open Sans 2"/>
                <a:sym typeface="Open Sans 2"/>
              </a:rPr>
              <a:t>Kondisi tersebut </a:t>
            </a:r>
            <a:r>
              <a:rPr lang="en-US" sz="3571" spc="-107" strike="noStrike" u="none">
                <a:solidFill>
                  <a:srgbClr val="FFFFFF"/>
                </a:solidFill>
                <a:latin typeface="Open Sans 2"/>
                <a:ea typeface="Open Sans 2"/>
                <a:cs typeface="Open Sans 2"/>
                <a:sym typeface="Open Sans 2"/>
              </a:rPr>
              <a:t>menimb</a:t>
            </a:r>
            <a:r>
              <a:rPr lang="en-US" sz="3571" spc="-107" strike="noStrike" u="none">
                <a:solidFill>
                  <a:srgbClr val="FFFFFF"/>
                </a:solidFill>
                <a:latin typeface="Open Sans 2"/>
                <a:ea typeface="Open Sans 2"/>
                <a:cs typeface="Open Sans 2"/>
                <a:sym typeface="Open Sans 2"/>
              </a:rPr>
              <a:t>u</a:t>
            </a:r>
            <a:r>
              <a:rPr lang="en-US" sz="3571" spc="-107" strike="noStrike" u="none">
                <a:solidFill>
                  <a:srgbClr val="FFFFFF"/>
                </a:solidFill>
                <a:latin typeface="Open Sans 2"/>
                <a:ea typeface="Open Sans 2"/>
                <a:cs typeface="Open Sans 2"/>
                <a:sym typeface="Open Sans 2"/>
              </a:rPr>
              <a:t>lkan r</a:t>
            </a:r>
            <a:r>
              <a:rPr lang="en-US" sz="3571" spc="-107" strike="noStrike" u="none">
                <a:solidFill>
                  <a:srgbClr val="FFFFFF"/>
                </a:solidFill>
                <a:latin typeface="Open Sans 2"/>
                <a:ea typeface="Open Sans 2"/>
                <a:cs typeface="Open Sans 2"/>
                <a:sym typeface="Open Sans 2"/>
              </a:rPr>
              <a:t>is</a:t>
            </a:r>
            <a:r>
              <a:rPr lang="en-US" sz="3571" spc="-107" strike="noStrike" u="none">
                <a:solidFill>
                  <a:srgbClr val="FFFFFF"/>
                </a:solidFill>
                <a:latin typeface="Open Sans 2"/>
                <a:ea typeface="Open Sans 2"/>
                <a:cs typeface="Open Sans 2"/>
                <a:sym typeface="Open Sans 2"/>
              </a:rPr>
              <a:t>iko</a:t>
            </a:r>
            <a:r>
              <a:rPr lang="en-US" sz="3571" spc="-107" strike="noStrike" u="none">
                <a:solidFill>
                  <a:srgbClr val="FFFFFF"/>
                </a:solidFill>
                <a:latin typeface="Open Sans 2"/>
                <a:ea typeface="Open Sans 2"/>
                <a:cs typeface="Open Sans 2"/>
                <a:sym typeface="Open Sans 2"/>
              </a:rPr>
              <a:t> </a:t>
            </a:r>
            <a:r>
              <a:rPr lang="en-US" sz="3571" spc="-107" strike="noStrike" u="none">
                <a:solidFill>
                  <a:srgbClr val="FFFFFF"/>
                </a:solidFill>
                <a:latin typeface="Open Sans 2"/>
                <a:ea typeface="Open Sans 2"/>
                <a:cs typeface="Open Sans 2"/>
                <a:sym typeface="Open Sans 2"/>
              </a:rPr>
              <a:t>kes</a:t>
            </a:r>
            <a:r>
              <a:rPr lang="en-US" sz="3571" spc="-107" strike="noStrike" u="none">
                <a:solidFill>
                  <a:srgbClr val="FFFFFF"/>
                </a:solidFill>
                <a:latin typeface="Open Sans 2"/>
                <a:ea typeface="Open Sans 2"/>
                <a:cs typeface="Open Sans 2"/>
                <a:sym typeface="Open Sans 2"/>
              </a:rPr>
              <a:t>a</a:t>
            </a:r>
            <a:r>
              <a:rPr lang="en-US" sz="3571" spc="-107" strike="noStrike" u="none">
                <a:solidFill>
                  <a:srgbClr val="FFFFFF"/>
                </a:solidFill>
                <a:latin typeface="Open Sans 2"/>
                <a:ea typeface="Open Sans 2"/>
                <a:cs typeface="Open Sans 2"/>
                <a:sym typeface="Open Sans 2"/>
              </a:rPr>
              <a:t>lahan da</a:t>
            </a:r>
            <a:r>
              <a:rPr lang="en-US" sz="3571" spc="-107" strike="noStrike" u="none">
                <a:solidFill>
                  <a:srgbClr val="FFFFFF"/>
                </a:solidFill>
                <a:latin typeface="Open Sans 2"/>
                <a:ea typeface="Open Sans 2"/>
                <a:cs typeface="Open Sans 2"/>
                <a:sym typeface="Open Sans 2"/>
              </a:rPr>
              <a:t>t</a:t>
            </a:r>
            <a:r>
              <a:rPr lang="en-US" sz="3571" spc="-107" strike="noStrike" u="none">
                <a:solidFill>
                  <a:srgbClr val="FFFFFF"/>
                </a:solidFill>
                <a:latin typeface="Open Sans 2"/>
                <a:ea typeface="Open Sans 2"/>
                <a:cs typeface="Open Sans 2"/>
                <a:sym typeface="Open Sans 2"/>
              </a:rPr>
              <a:t>a,</a:t>
            </a:r>
            <a:r>
              <a:rPr lang="en-US" sz="3571" spc="-107" strike="noStrike" u="none">
                <a:solidFill>
                  <a:srgbClr val="FFFFFF"/>
                </a:solidFill>
                <a:latin typeface="Open Sans 2"/>
                <a:ea typeface="Open Sans 2"/>
                <a:cs typeface="Open Sans 2"/>
                <a:sym typeface="Open Sans 2"/>
              </a:rPr>
              <a:t> </a:t>
            </a:r>
            <a:r>
              <a:rPr lang="en-US" sz="3571" spc="-107" strike="noStrike" u="none">
                <a:solidFill>
                  <a:srgbClr val="FFFFFF"/>
                </a:solidFill>
                <a:latin typeface="Open Sans 2"/>
                <a:ea typeface="Open Sans 2"/>
                <a:cs typeface="Open Sans 2"/>
                <a:sym typeface="Open Sans 2"/>
              </a:rPr>
              <a:t>k</a:t>
            </a:r>
            <a:r>
              <a:rPr lang="en-US" sz="3571" spc="-107" strike="noStrike" u="none">
                <a:solidFill>
                  <a:srgbClr val="FFFFFF"/>
                </a:solidFill>
                <a:latin typeface="Open Sans 2"/>
                <a:ea typeface="Open Sans 2"/>
                <a:cs typeface="Open Sans 2"/>
                <a:sym typeface="Open Sans 2"/>
              </a:rPr>
              <a:t>e</a:t>
            </a:r>
            <a:r>
              <a:rPr lang="en-US" sz="3571" spc="-107" strike="noStrike" u="none">
                <a:solidFill>
                  <a:srgbClr val="FFFFFF"/>
                </a:solidFill>
                <a:latin typeface="Open Sans 2"/>
                <a:ea typeface="Open Sans 2"/>
                <a:cs typeface="Open Sans 2"/>
                <a:sym typeface="Open Sans 2"/>
              </a:rPr>
              <a:t>te</a:t>
            </a:r>
            <a:r>
              <a:rPr lang="en-US" sz="3571" spc="-107" strike="noStrike" u="none">
                <a:solidFill>
                  <a:srgbClr val="FFFFFF"/>
                </a:solidFill>
                <a:latin typeface="Open Sans 2"/>
                <a:ea typeface="Open Sans 2"/>
                <a:cs typeface="Open Sans 2"/>
                <a:sym typeface="Open Sans 2"/>
              </a:rPr>
              <a:t>r</a:t>
            </a:r>
            <a:r>
              <a:rPr lang="en-US" sz="3571" spc="-107" strike="noStrike" u="none">
                <a:solidFill>
                  <a:srgbClr val="FFFFFF"/>
                </a:solidFill>
                <a:latin typeface="Open Sans 2"/>
                <a:ea typeface="Open Sans 2"/>
                <a:cs typeface="Open Sans 2"/>
                <a:sym typeface="Open Sans 2"/>
              </a:rPr>
              <a:t>lambata</a:t>
            </a:r>
            <a:r>
              <a:rPr lang="en-US" sz="3571" spc="-107" strike="noStrike" u="none">
                <a:solidFill>
                  <a:srgbClr val="FFFFFF"/>
                </a:solidFill>
                <a:latin typeface="Open Sans 2"/>
                <a:ea typeface="Open Sans 2"/>
                <a:cs typeface="Open Sans 2"/>
                <a:sym typeface="Open Sans 2"/>
              </a:rPr>
              <a:t>n pe</a:t>
            </a:r>
            <a:r>
              <a:rPr lang="en-US" sz="3571" spc="-107" strike="noStrike" u="none">
                <a:solidFill>
                  <a:srgbClr val="FFFFFF"/>
                </a:solidFill>
                <a:latin typeface="Open Sans 2"/>
                <a:ea typeface="Open Sans 2"/>
                <a:cs typeface="Open Sans 2"/>
                <a:sym typeface="Open Sans 2"/>
              </a:rPr>
              <a:t>sa</a:t>
            </a:r>
            <a:r>
              <a:rPr lang="en-US" sz="3571" spc="-107" strike="noStrike" u="none">
                <a:solidFill>
                  <a:srgbClr val="FFFFFF"/>
                </a:solidFill>
                <a:latin typeface="Open Sans 2"/>
                <a:ea typeface="Open Sans 2"/>
                <a:cs typeface="Open Sans 2"/>
                <a:sym typeface="Open Sans 2"/>
              </a:rPr>
              <a:t>n</a:t>
            </a:r>
            <a:r>
              <a:rPr lang="en-US" sz="3571" spc="-107" strike="noStrike" u="none">
                <a:solidFill>
                  <a:srgbClr val="FFFFFF"/>
                </a:solidFill>
                <a:latin typeface="Open Sans 2"/>
                <a:ea typeface="Open Sans 2"/>
                <a:cs typeface="Open Sans 2"/>
                <a:sym typeface="Open Sans 2"/>
              </a:rPr>
              <a:t>an, </a:t>
            </a:r>
            <a:r>
              <a:rPr lang="en-US" sz="3571" spc="-107" strike="noStrike" u="none">
                <a:solidFill>
                  <a:srgbClr val="FFFFFF"/>
                </a:solidFill>
                <a:latin typeface="Open Sans 2"/>
                <a:ea typeface="Open Sans 2"/>
                <a:cs typeface="Open Sans 2"/>
                <a:sym typeface="Open Sans 2"/>
              </a:rPr>
              <a:t>d</a:t>
            </a:r>
            <a:r>
              <a:rPr lang="en-US" sz="3571" spc="-107" strike="noStrike" u="none">
                <a:solidFill>
                  <a:srgbClr val="FFFFFF"/>
                </a:solidFill>
                <a:latin typeface="Open Sans 2"/>
                <a:ea typeface="Open Sans 2"/>
                <a:cs typeface="Open Sans 2"/>
                <a:sym typeface="Open Sans 2"/>
              </a:rPr>
              <a:t>an k</a:t>
            </a:r>
            <a:r>
              <a:rPr lang="en-US" sz="3571" spc="-107" strike="noStrike" u="none">
                <a:solidFill>
                  <a:srgbClr val="FFFFFF"/>
                </a:solidFill>
                <a:latin typeface="Open Sans 2"/>
                <a:ea typeface="Open Sans 2"/>
                <a:cs typeface="Open Sans 2"/>
                <a:sym typeface="Open Sans 2"/>
              </a:rPr>
              <a:t>e</a:t>
            </a:r>
            <a:r>
              <a:rPr lang="en-US" sz="3571" spc="-107" strike="noStrike" u="none">
                <a:solidFill>
                  <a:srgbClr val="FFFFFF"/>
                </a:solidFill>
                <a:latin typeface="Open Sans 2"/>
                <a:ea typeface="Open Sans 2"/>
                <a:cs typeface="Open Sans 2"/>
                <a:sym typeface="Open Sans 2"/>
              </a:rPr>
              <a:t>sul</a:t>
            </a:r>
            <a:r>
              <a:rPr lang="en-US" sz="3571" spc="-107" strike="noStrike" u="none">
                <a:solidFill>
                  <a:srgbClr val="FFFFFF"/>
                </a:solidFill>
                <a:latin typeface="Open Sans 2"/>
                <a:ea typeface="Open Sans 2"/>
                <a:cs typeface="Open Sans 2"/>
                <a:sym typeface="Open Sans 2"/>
              </a:rPr>
              <a:t>it</a:t>
            </a:r>
            <a:r>
              <a:rPr lang="en-US" sz="3571" spc="-107" strike="noStrike" u="none">
                <a:solidFill>
                  <a:srgbClr val="FFFFFF"/>
                </a:solidFill>
                <a:latin typeface="Open Sans 2"/>
                <a:ea typeface="Open Sans 2"/>
                <a:cs typeface="Open Sans 2"/>
                <a:sym typeface="Open Sans 2"/>
              </a:rPr>
              <a:t>a</a:t>
            </a:r>
            <a:r>
              <a:rPr lang="en-US" sz="3571" spc="-107" strike="noStrike" u="none">
                <a:solidFill>
                  <a:srgbClr val="FFFFFF"/>
                </a:solidFill>
                <a:latin typeface="Open Sans 2"/>
                <a:ea typeface="Open Sans 2"/>
                <a:cs typeface="Open Sans 2"/>
                <a:sym typeface="Open Sans 2"/>
              </a:rPr>
              <a:t>n </a:t>
            </a:r>
            <a:r>
              <a:rPr lang="en-US" sz="3571" spc="-107" strike="noStrike" u="none">
                <a:solidFill>
                  <a:srgbClr val="FFFFFF"/>
                </a:solidFill>
                <a:latin typeface="Open Sans 2"/>
                <a:ea typeface="Open Sans 2"/>
                <a:cs typeface="Open Sans 2"/>
                <a:sym typeface="Open Sans 2"/>
              </a:rPr>
              <a:t>da</a:t>
            </a:r>
            <a:r>
              <a:rPr lang="en-US" sz="3571" spc="-107" strike="noStrike" u="none">
                <a:solidFill>
                  <a:srgbClr val="FFFFFF"/>
                </a:solidFill>
                <a:latin typeface="Open Sans 2"/>
                <a:ea typeface="Open Sans 2"/>
                <a:cs typeface="Open Sans 2"/>
                <a:sym typeface="Open Sans 2"/>
              </a:rPr>
              <a:t>la</a:t>
            </a:r>
            <a:r>
              <a:rPr lang="en-US" sz="3571" spc="-107" strike="noStrike" u="none">
                <a:solidFill>
                  <a:srgbClr val="FFFFFF"/>
                </a:solidFill>
                <a:latin typeface="Open Sans 2"/>
                <a:ea typeface="Open Sans 2"/>
                <a:cs typeface="Open Sans 2"/>
                <a:sym typeface="Open Sans 2"/>
              </a:rPr>
              <a:t>m</a:t>
            </a:r>
            <a:r>
              <a:rPr lang="en-US" sz="3571" spc="-107" strike="noStrike" u="none">
                <a:solidFill>
                  <a:srgbClr val="FFFFFF"/>
                </a:solidFill>
                <a:latin typeface="Open Sans 2"/>
                <a:ea typeface="Open Sans 2"/>
                <a:cs typeface="Open Sans 2"/>
                <a:sym typeface="Open Sans 2"/>
              </a:rPr>
              <a:t> </a:t>
            </a:r>
            <a:r>
              <a:rPr lang="en-US" sz="3571" spc="-107" strike="noStrike" u="none">
                <a:solidFill>
                  <a:srgbClr val="FFFFFF"/>
                </a:solidFill>
                <a:latin typeface="Open Sans 2"/>
                <a:ea typeface="Open Sans 2"/>
                <a:cs typeface="Open Sans 2"/>
                <a:sym typeface="Open Sans 2"/>
              </a:rPr>
              <a:t>p</a:t>
            </a:r>
            <a:r>
              <a:rPr lang="en-US" sz="3571" spc="-107" strike="noStrike" u="none">
                <a:solidFill>
                  <a:srgbClr val="FFFFFF"/>
                </a:solidFill>
                <a:latin typeface="Open Sans 2"/>
                <a:ea typeface="Open Sans 2"/>
                <a:cs typeface="Open Sans 2"/>
                <a:sym typeface="Open Sans 2"/>
              </a:rPr>
              <a:t>e</a:t>
            </a:r>
            <a:r>
              <a:rPr lang="en-US" sz="3571" spc="-107" strike="noStrike" u="none">
                <a:solidFill>
                  <a:srgbClr val="FFFFFF"/>
                </a:solidFill>
                <a:latin typeface="Open Sans 2"/>
                <a:ea typeface="Open Sans 2"/>
                <a:cs typeface="Open Sans 2"/>
                <a:sym typeface="Open Sans 2"/>
              </a:rPr>
              <a:t>ngamb</a:t>
            </a:r>
            <a:r>
              <a:rPr lang="en-US" sz="3571" spc="-107" strike="noStrike" u="none">
                <a:solidFill>
                  <a:srgbClr val="FFFFFF"/>
                </a:solidFill>
                <a:latin typeface="Open Sans 2"/>
                <a:ea typeface="Open Sans 2"/>
                <a:cs typeface="Open Sans 2"/>
                <a:sym typeface="Open Sans 2"/>
              </a:rPr>
              <a:t>i</a:t>
            </a:r>
            <a:r>
              <a:rPr lang="en-US" sz="3571" spc="-107" strike="noStrike" u="none">
                <a:solidFill>
                  <a:srgbClr val="FFFFFF"/>
                </a:solidFill>
                <a:latin typeface="Open Sans 2"/>
                <a:ea typeface="Open Sans 2"/>
                <a:cs typeface="Open Sans 2"/>
                <a:sym typeface="Open Sans 2"/>
              </a:rPr>
              <a:t>lan</a:t>
            </a:r>
            <a:r>
              <a:rPr lang="en-US" sz="3571" spc="-107" strike="noStrike" u="none">
                <a:solidFill>
                  <a:srgbClr val="FFFFFF"/>
                </a:solidFill>
                <a:latin typeface="Open Sans 2"/>
                <a:ea typeface="Open Sans 2"/>
                <a:cs typeface="Open Sans 2"/>
                <a:sym typeface="Open Sans 2"/>
              </a:rPr>
              <a:t> </a:t>
            </a:r>
            <a:r>
              <a:rPr lang="en-US" sz="3571" spc="-107" strike="noStrike" u="none">
                <a:solidFill>
                  <a:srgbClr val="FFFFFF"/>
                </a:solidFill>
                <a:latin typeface="Open Sans 2"/>
                <a:ea typeface="Open Sans 2"/>
                <a:cs typeface="Open Sans 2"/>
                <a:sym typeface="Open Sans 2"/>
              </a:rPr>
              <a:t>k</a:t>
            </a:r>
            <a:r>
              <a:rPr lang="en-US" sz="3571" spc="-107" strike="noStrike" u="none">
                <a:solidFill>
                  <a:srgbClr val="FFFFFF"/>
                </a:solidFill>
                <a:latin typeface="Open Sans 2"/>
                <a:ea typeface="Open Sans 2"/>
                <a:cs typeface="Open Sans 2"/>
                <a:sym typeface="Open Sans 2"/>
              </a:rPr>
              <a:t>e</a:t>
            </a:r>
            <a:r>
              <a:rPr lang="en-US" sz="3571" spc="-107" strike="noStrike" u="none">
                <a:solidFill>
                  <a:srgbClr val="FFFFFF"/>
                </a:solidFill>
                <a:latin typeface="Open Sans 2"/>
                <a:ea typeface="Open Sans 2"/>
                <a:cs typeface="Open Sans 2"/>
                <a:sym typeface="Open Sans 2"/>
              </a:rPr>
              <a:t>putu</a:t>
            </a:r>
            <a:r>
              <a:rPr lang="en-US" sz="3571" spc="-107" strike="noStrike" u="none">
                <a:solidFill>
                  <a:srgbClr val="FFFFFF"/>
                </a:solidFill>
                <a:latin typeface="Open Sans 2"/>
                <a:ea typeface="Open Sans 2"/>
                <a:cs typeface="Open Sans 2"/>
                <a:sym typeface="Open Sans 2"/>
              </a:rPr>
              <a:t>s</a:t>
            </a:r>
            <a:r>
              <a:rPr lang="en-US" sz="3571" spc="-107" strike="noStrike" u="none">
                <a:solidFill>
                  <a:srgbClr val="FFFFFF"/>
                </a:solidFill>
                <a:latin typeface="Open Sans 2"/>
                <a:ea typeface="Open Sans 2"/>
                <a:cs typeface="Open Sans 2"/>
                <a:sym typeface="Open Sans 2"/>
              </a:rPr>
              <a:t>an</a:t>
            </a:r>
            <a:r>
              <a:rPr lang="en-US" sz="3571" spc="-107" strike="noStrike" u="none">
                <a:solidFill>
                  <a:srgbClr val="FFFFFF"/>
                </a:solidFill>
                <a:latin typeface="Open Sans 2"/>
                <a:ea typeface="Open Sans 2"/>
                <a:cs typeface="Open Sans 2"/>
                <a:sym typeface="Open Sans 2"/>
              </a:rPr>
              <a:t> u</a:t>
            </a:r>
            <a:r>
              <a:rPr lang="en-US" sz="3571" spc="-107" strike="noStrike" u="none">
                <a:solidFill>
                  <a:srgbClr val="FFFFFF"/>
                </a:solidFill>
                <a:latin typeface="Open Sans 2"/>
                <a:ea typeface="Open Sans 2"/>
                <a:cs typeface="Open Sans 2"/>
                <a:sym typeface="Open Sans 2"/>
              </a:rPr>
              <a:t>saha</a:t>
            </a:r>
            <a:r>
              <a:rPr lang="en-US" sz="3571" spc="-107" strike="noStrike" u="none">
                <a:solidFill>
                  <a:srgbClr val="FFFFFF"/>
                </a:solidFill>
                <a:latin typeface="Open Sans 2"/>
                <a:ea typeface="Open Sans 2"/>
                <a:cs typeface="Open Sans 2"/>
                <a:sym typeface="Open Sans 2"/>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264962" y="2231027"/>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82534" y="3558000"/>
            <a:ext cx="6057872" cy="575682"/>
          </a:xfrm>
          <a:custGeom>
            <a:avLst/>
            <a:gdLst/>
            <a:ahLst/>
            <a:cxnLst/>
            <a:rect r="r" b="b" t="t" l="l"/>
            <a:pathLst>
              <a:path h="575682" w="6057872">
                <a:moveTo>
                  <a:pt x="0" y="0"/>
                </a:moveTo>
                <a:lnTo>
                  <a:pt x="6057872" y="0"/>
                </a:lnTo>
                <a:lnTo>
                  <a:pt x="6057872" y="575681"/>
                </a:lnTo>
                <a:lnTo>
                  <a:pt x="0" y="575681"/>
                </a:lnTo>
                <a:lnTo>
                  <a:pt x="0" y="0"/>
                </a:lnTo>
                <a:close/>
              </a:path>
            </a:pathLst>
          </a:custGeom>
          <a:blipFill>
            <a:blip r:embed="rId2"/>
            <a:stretch>
              <a:fillRect l="0" t="-160821" r="0" b="-16601"/>
            </a:stretch>
          </a:blipFill>
        </p:spPr>
      </p:sp>
      <p:sp>
        <p:nvSpPr>
          <p:cNvPr name="Freeform 8" id="8"/>
          <p:cNvSpPr/>
          <p:nvPr/>
        </p:nvSpPr>
        <p:spPr>
          <a:xfrm flipH="false" flipV="false" rot="0">
            <a:off x="82534" y="9525933"/>
            <a:ext cx="6057872" cy="575682"/>
          </a:xfrm>
          <a:custGeom>
            <a:avLst/>
            <a:gdLst/>
            <a:ahLst/>
            <a:cxnLst/>
            <a:rect r="r" b="b" t="t" l="l"/>
            <a:pathLst>
              <a:path h="575682" w="6057872">
                <a:moveTo>
                  <a:pt x="0" y="0"/>
                </a:moveTo>
                <a:lnTo>
                  <a:pt x="6057872" y="0"/>
                </a:lnTo>
                <a:lnTo>
                  <a:pt x="6057872" y="575682"/>
                </a:lnTo>
                <a:lnTo>
                  <a:pt x="0" y="575682"/>
                </a:lnTo>
                <a:lnTo>
                  <a:pt x="0" y="0"/>
                </a:lnTo>
                <a:close/>
              </a:path>
            </a:pathLst>
          </a:custGeom>
          <a:blipFill>
            <a:blip r:embed="rId2"/>
            <a:stretch>
              <a:fillRect l="0" t="-160821" r="0" b="-16601"/>
            </a:stretch>
          </a:blipFill>
        </p:spPr>
      </p:sp>
      <p:sp>
        <p:nvSpPr>
          <p:cNvPr name="Freeform 9" id="9"/>
          <p:cNvSpPr/>
          <p:nvPr/>
        </p:nvSpPr>
        <p:spPr>
          <a:xfrm flipH="false" flipV="false" rot="0">
            <a:off x="82534" y="6532627"/>
            <a:ext cx="6057872" cy="575682"/>
          </a:xfrm>
          <a:custGeom>
            <a:avLst/>
            <a:gdLst/>
            <a:ahLst/>
            <a:cxnLst/>
            <a:rect r="r" b="b" t="t" l="l"/>
            <a:pathLst>
              <a:path h="575682" w="6057872">
                <a:moveTo>
                  <a:pt x="0" y="0"/>
                </a:moveTo>
                <a:lnTo>
                  <a:pt x="6057872" y="0"/>
                </a:lnTo>
                <a:lnTo>
                  <a:pt x="6057872" y="575682"/>
                </a:lnTo>
                <a:lnTo>
                  <a:pt x="0" y="575682"/>
                </a:lnTo>
                <a:lnTo>
                  <a:pt x="0" y="0"/>
                </a:lnTo>
                <a:close/>
              </a:path>
            </a:pathLst>
          </a:custGeom>
          <a:blipFill>
            <a:blip r:embed="rId2"/>
            <a:stretch>
              <a:fillRect l="0" t="-160821" r="0" b="-16601"/>
            </a:stretch>
          </a:blipFill>
        </p:spPr>
      </p:sp>
      <p:sp>
        <p:nvSpPr>
          <p:cNvPr name="Freeform 10" id="10"/>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3">
              <a:alphaModFix amt="50000"/>
              <a:extLst>
                <a:ext uri="{96DAC541-7B7A-43D3-8B79-37D633B846F1}">
                  <asvg:svgBlip xmlns:asvg="http://schemas.microsoft.com/office/drawing/2016/SVG/main" r:embed="rId4"/>
                </a:ext>
              </a:extLst>
            </a:blip>
            <a:stretch>
              <a:fillRect l="0" t="0" r="0" b="0"/>
            </a:stretch>
          </a:blipFill>
        </p:spPr>
      </p:sp>
      <p:grpSp>
        <p:nvGrpSpPr>
          <p:cNvPr name="Group 12" id="12"/>
          <p:cNvGrpSpPr/>
          <p:nvPr/>
        </p:nvGrpSpPr>
        <p:grpSpPr>
          <a:xfrm rot="0">
            <a:off x="1028700" y="1028700"/>
            <a:ext cx="4001514" cy="8497233"/>
            <a:chOff x="0" y="0"/>
            <a:chExt cx="619939" cy="1316444"/>
          </a:xfrm>
        </p:grpSpPr>
        <p:sp>
          <p:nvSpPr>
            <p:cNvPr name="Freeform 13" id="13"/>
            <p:cNvSpPr/>
            <p:nvPr/>
          </p:nvSpPr>
          <p:spPr>
            <a:xfrm flipH="false" flipV="false" rot="0">
              <a:off x="0" y="0"/>
              <a:ext cx="619939" cy="1316444"/>
            </a:xfrm>
            <a:custGeom>
              <a:avLst/>
              <a:gdLst/>
              <a:ahLst/>
              <a:cxnLst/>
              <a:rect r="r" b="b" t="t" l="l"/>
              <a:pathLst>
                <a:path h="1316444" w="619939">
                  <a:moveTo>
                    <a:pt x="87064" y="0"/>
                  </a:moveTo>
                  <a:lnTo>
                    <a:pt x="532876" y="0"/>
                  </a:lnTo>
                  <a:cubicBezTo>
                    <a:pt x="580960" y="0"/>
                    <a:pt x="619939" y="38980"/>
                    <a:pt x="619939" y="87064"/>
                  </a:cubicBezTo>
                  <a:lnTo>
                    <a:pt x="619939" y="1229380"/>
                  </a:lnTo>
                  <a:cubicBezTo>
                    <a:pt x="619939" y="1277464"/>
                    <a:pt x="580960" y="1316444"/>
                    <a:pt x="532876" y="1316444"/>
                  </a:cubicBezTo>
                  <a:lnTo>
                    <a:pt x="87064" y="1316444"/>
                  </a:lnTo>
                  <a:cubicBezTo>
                    <a:pt x="38980" y="1316444"/>
                    <a:pt x="0" y="1277464"/>
                    <a:pt x="0" y="1229380"/>
                  </a:cubicBezTo>
                  <a:lnTo>
                    <a:pt x="0" y="87064"/>
                  </a:lnTo>
                  <a:cubicBezTo>
                    <a:pt x="0" y="38980"/>
                    <a:pt x="38980" y="0"/>
                    <a:pt x="87064" y="0"/>
                  </a:cubicBezTo>
                  <a:close/>
                </a:path>
              </a:pathLst>
            </a:custGeom>
            <a:blipFill>
              <a:blip r:embed="rId5"/>
              <a:stretch>
                <a:fillRect l="-9255" t="0" r="-9255" b="0"/>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4" id="14"/>
          <p:cNvSpPr txBox="true"/>
          <p:nvPr/>
        </p:nvSpPr>
        <p:spPr>
          <a:xfrm rot="0">
            <a:off x="6930738" y="3293745"/>
            <a:ext cx="9964110" cy="5964555"/>
          </a:xfrm>
          <a:prstGeom prst="rect">
            <a:avLst/>
          </a:prstGeom>
        </p:spPr>
        <p:txBody>
          <a:bodyPr anchor="t" rtlCol="false" tIns="0" lIns="0" bIns="0" rIns="0">
            <a:spAutoFit/>
          </a:bodyPr>
          <a:lstStyle/>
          <a:p>
            <a:pPr algn="l" marL="0" indent="0" lvl="0">
              <a:lnSpc>
                <a:spcPts val="4624"/>
              </a:lnSpc>
              <a:spcBef>
                <a:spcPct val="0"/>
              </a:spcBef>
            </a:pPr>
            <a:r>
              <a:rPr lang="en-US" sz="3699" spc="-110">
                <a:solidFill>
                  <a:srgbClr val="FFFFFF"/>
                </a:solidFill>
                <a:latin typeface="Open Sans 2"/>
                <a:ea typeface="Open Sans 2"/>
                <a:cs typeface="Open Sans 2"/>
                <a:sym typeface="Open Sans 2"/>
              </a:rPr>
              <a:t>Tujuan peng</a:t>
            </a:r>
            <a:r>
              <a:rPr lang="en-US" sz="3699" spc="-110" strike="noStrike" u="none">
                <a:solidFill>
                  <a:srgbClr val="FFFFFF"/>
                </a:solidFill>
                <a:latin typeface="Open Sans 2"/>
                <a:ea typeface="Open Sans 2"/>
                <a:cs typeface="Open Sans 2"/>
                <a:sym typeface="Open Sans 2"/>
              </a:rPr>
              <a:t>em</a:t>
            </a:r>
            <a:r>
              <a:rPr lang="en-US" sz="3699" spc="-110" strike="noStrike" u="none">
                <a:solidFill>
                  <a:srgbClr val="FFFFFF"/>
                </a:solidFill>
                <a:latin typeface="Open Sans 2"/>
                <a:ea typeface="Open Sans 2"/>
                <a:cs typeface="Open Sans 2"/>
                <a:sym typeface="Open Sans 2"/>
              </a:rPr>
              <a:t>bangan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s</a:t>
            </a:r>
            <a:r>
              <a:rPr lang="en-US" sz="3699" spc="-110" strike="noStrike" u="none">
                <a:solidFill>
                  <a:srgbClr val="FFFFFF"/>
                </a:solidFill>
                <a:latin typeface="Open Sans 2"/>
                <a:ea typeface="Open Sans 2"/>
                <a:cs typeface="Open Sans 2"/>
                <a:sym typeface="Open Sans 2"/>
              </a:rPr>
              <a:t>is</a:t>
            </a:r>
            <a:r>
              <a:rPr lang="en-US" sz="3699" spc="-110" strike="noStrike" u="none">
                <a:solidFill>
                  <a:srgbClr val="FFFFFF"/>
                </a:solidFill>
                <a:latin typeface="Open Sans 2"/>
                <a:ea typeface="Open Sans 2"/>
                <a:cs typeface="Open Sans 2"/>
                <a:sym typeface="Open Sans 2"/>
              </a:rPr>
              <a:t>te</a:t>
            </a:r>
            <a:r>
              <a:rPr lang="en-US" sz="3699" spc="-110" strike="noStrike" u="none">
                <a:solidFill>
                  <a:srgbClr val="FFFFFF"/>
                </a:solidFill>
                <a:latin typeface="Open Sans 2"/>
                <a:ea typeface="Open Sans 2"/>
                <a:cs typeface="Open Sans 2"/>
                <a:sym typeface="Open Sans 2"/>
              </a:rPr>
              <a:t>m </a:t>
            </a:r>
            <a:r>
              <a:rPr lang="en-US" sz="3699" spc="-110" strike="noStrike" u="none">
                <a:solidFill>
                  <a:srgbClr val="FFFFFF"/>
                </a:solidFill>
                <a:latin typeface="Open Sans 2"/>
                <a:ea typeface="Open Sans 2"/>
                <a:cs typeface="Open Sans 2"/>
                <a:sym typeface="Open Sans 2"/>
              </a:rPr>
              <a:t>ini a</a:t>
            </a:r>
            <a:r>
              <a:rPr lang="en-US" sz="3699" spc="-110" strike="noStrike" u="none">
                <a:solidFill>
                  <a:srgbClr val="FFFFFF"/>
                </a:solidFill>
                <a:latin typeface="Open Sans 2"/>
                <a:ea typeface="Open Sans 2"/>
                <a:cs typeface="Open Sans 2"/>
                <a:sym typeface="Open Sans 2"/>
              </a:rPr>
              <a:t>d</a:t>
            </a:r>
            <a:r>
              <a:rPr lang="en-US" sz="3699" spc="-110" strike="noStrike" u="none">
                <a:solidFill>
                  <a:srgbClr val="FFFFFF"/>
                </a:solidFill>
                <a:latin typeface="Open Sans 2"/>
                <a:ea typeface="Open Sans 2"/>
                <a:cs typeface="Open Sans 2"/>
                <a:sym typeface="Open Sans 2"/>
              </a:rPr>
              <a:t>a</a:t>
            </a:r>
            <a:r>
              <a:rPr lang="en-US" sz="3699" spc="-110" strike="noStrike" u="none">
                <a:solidFill>
                  <a:srgbClr val="FFFFFF"/>
                </a:solidFill>
                <a:latin typeface="Open Sans 2"/>
                <a:ea typeface="Open Sans 2"/>
                <a:cs typeface="Open Sans 2"/>
                <a:sym typeface="Open Sans 2"/>
              </a:rPr>
              <a:t>l</a:t>
            </a:r>
            <a:r>
              <a:rPr lang="en-US" sz="3699" spc="-110" strike="noStrike" u="none">
                <a:solidFill>
                  <a:srgbClr val="FFFFFF"/>
                </a:solidFill>
                <a:latin typeface="Open Sans 2"/>
                <a:ea typeface="Open Sans 2"/>
                <a:cs typeface="Open Sans 2"/>
                <a:sym typeface="Open Sans 2"/>
              </a:rPr>
              <a:t>ah untuk:</a:t>
            </a:r>
          </a:p>
          <a:p>
            <a:pPr algn="l" marL="798820" indent="-399410" lvl="1">
              <a:lnSpc>
                <a:spcPts val="4624"/>
              </a:lnSpc>
              <a:spcBef>
                <a:spcPct val="0"/>
              </a:spcBef>
              <a:buFont typeface="Arial"/>
              <a:buChar char="•"/>
            </a:pPr>
            <a:r>
              <a:rPr lang="en-US" sz="3699" spc="-110" strike="noStrike" u="none">
                <a:solidFill>
                  <a:srgbClr val="FFFFFF"/>
                </a:solidFill>
                <a:latin typeface="Open Sans 2"/>
                <a:ea typeface="Open Sans 2"/>
                <a:cs typeface="Open Sans 2"/>
                <a:sym typeface="Open Sans 2"/>
              </a:rPr>
              <a:t>Menyediakan</a:t>
            </a:r>
            <a:r>
              <a:rPr lang="en-US" sz="3699" spc="-110" strike="noStrike" u="none">
                <a:solidFill>
                  <a:srgbClr val="FFFFFF"/>
                </a:solidFill>
                <a:latin typeface="Open Sans 2"/>
                <a:ea typeface="Open Sans 2"/>
                <a:cs typeface="Open Sans 2"/>
                <a:sym typeface="Open Sans 2"/>
              </a:rPr>
              <a:t> si</a:t>
            </a:r>
            <a:r>
              <a:rPr lang="en-US" sz="3699" spc="-110" strike="noStrike" u="none">
                <a:solidFill>
                  <a:srgbClr val="FFFFFF"/>
                </a:solidFill>
                <a:latin typeface="Open Sans 2"/>
                <a:ea typeface="Open Sans 2"/>
                <a:cs typeface="Open Sans 2"/>
                <a:sym typeface="Open Sans 2"/>
              </a:rPr>
              <a:t>s</a:t>
            </a:r>
            <a:r>
              <a:rPr lang="en-US" sz="3699" spc="-110" strike="noStrike" u="none">
                <a:solidFill>
                  <a:srgbClr val="FFFFFF"/>
                </a:solidFill>
                <a:latin typeface="Open Sans 2"/>
                <a:ea typeface="Open Sans 2"/>
                <a:cs typeface="Open Sans 2"/>
                <a:sym typeface="Open Sans 2"/>
              </a:rPr>
              <a:t>t</a:t>
            </a:r>
            <a:r>
              <a:rPr lang="en-US" sz="3699" spc="-110" strike="noStrike" u="none">
                <a:solidFill>
                  <a:srgbClr val="FFFFFF"/>
                </a:solidFill>
                <a:latin typeface="Open Sans 2"/>
                <a:ea typeface="Open Sans 2"/>
                <a:cs typeface="Open Sans 2"/>
                <a:sym typeface="Open Sans 2"/>
              </a:rPr>
              <a:t>em</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pe</a:t>
            </a:r>
            <a:r>
              <a:rPr lang="en-US" sz="3699" spc="-110" strike="noStrike" u="none">
                <a:solidFill>
                  <a:srgbClr val="FFFFFF"/>
                </a:solidFill>
                <a:latin typeface="Open Sans 2"/>
                <a:ea typeface="Open Sans 2"/>
                <a:cs typeface="Open Sans 2"/>
                <a:sym typeface="Open Sans 2"/>
              </a:rPr>
              <a:t>me</a:t>
            </a:r>
            <a:r>
              <a:rPr lang="en-US" sz="3699" spc="-110" strike="noStrike" u="none">
                <a:solidFill>
                  <a:srgbClr val="FFFFFF"/>
                </a:solidFill>
                <a:latin typeface="Open Sans 2"/>
                <a:ea typeface="Open Sans 2"/>
                <a:cs typeface="Open Sans 2"/>
                <a:sym typeface="Open Sans 2"/>
              </a:rPr>
              <a:t>sanan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pr</a:t>
            </a:r>
            <a:r>
              <a:rPr lang="en-US" sz="3699" spc="-110" strike="noStrike" u="none">
                <a:solidFill>
                  <a:srgbClr val="FFFFFF"/>
                </a:solidFill>
                <a:latin typeface="Open Sans 2"/>
                <a:ea typeface="Open Sans 2"/>
                <a:cs typeface="Open Sans 2"/>
                <a:sym typeface="Open Sans 2"/>
              </a:rPr>
              <a:t>o</a:t>
            </a:r>
            <a:r>
              <a:rPr lang="en-US" sz="3699" spc="-110" strike="noStrike" u="none">
                <a:solidFill>
                  <a:srgbClr val="FFFFFF"/>
                </a:solidFill>
                <a:latin typeface="Open Sans 2"/>
                <a:ea typeface="Open Sans 2"/>
                <a:cs typeface="Open Sans 2"/>
                <a:sym typeface="Open Sans 2"/>
              </a:rPr>
              <a:t>d</a:t>
            </a:r>
            <a:r>
              <a:rPr lang="en-US" sz="3699" spc="-110" strike="noStrike" u="none">
                <a:solidFill>
                  <a:srgbClr val="FFFFFF"/>
                </a:solidFill>
                <a:latin typeface="Open Sans 2"/>
                <a:ea typeface="Open Sans 2"/>
                <a:cs typeface="Open Sans 2"/>
                <a:sym typeface="Open Sans 2"/>
              </a:rPr>
              <a:t>u</a:t>
            </a:r>
            <a:r>
              <a:rPr lang="en-US" sz="3699" spc="-110" strike="noStrike" u="none">
                <a:solidFill>
                  <a:srgbClr val="FFFFFF"/>
                </a:solidFill>
                <a:latin typeface="Open Sans 2"/>
                <a:ea typeface="Open Sans 2"/>
                <a:cs typeface="Open Sans 2"/>
                <a:sym typeface="Open Sans 2"/>
              </a:rPr>
              <a:t>k</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be</a:t>
            </a:r>
            <a:r>
              <a:rPr lang="en-US" sz="3699" spc="-110" strike="noStrike" u="none">
                <a:solidFill>
                  <a:srgbClr val="FFFFFF"/>
                </a:solidFill>
                <a:latin typeface="Open Sans 2"/>
                <a:ea typeface="Open Sans 2"/>
                <a:cs typeface="Open Sans 2"/>
                <a:sym typeface="Open Sans 2"/>
              </a:rPr>
              <a:t>ads </a:t>
            </a:r>
            <a:r>
              <a:rPr lang="en-US" sz="3699" spc="-110" strike="noStrike" u="none">
                <a:solidFill>
                  <a:srgbClr val="FFFFFF"/>
                </a:solidFill>
                <a:latin typeface="Open Sans 2"/>
                <a:ea typeface="Open Sans 2"/>
                <a:cs typeface="Open Sans 2"/>
                <a:sym typeface="Open Sans 2"/>
              </a:rPr>
              <a:t>jew</a:t>
            </a:r>
            <a:r>
              <a:rPr lang="en-US" sz="3699" spc="-110" strike="noStrike" u="none">
                <a:solidFill>
                  <a:srgbClr val="FFFFFF"/>
                </a:solidFill>
                <a:latin typeface="Open Sans 2"/>
                <a:ea typeface="Open Sans 2"/>
                <a:cs typeface="Open Sans 2"/>
                <a:sym typeface="Open Sans 2"/>
              </a:rPr>
              <a:t>el</a:t>
            </a:r>
            <a:r>
              <a:rPr lang="en-US" sz="3699" spc="-110" strike="noStrike" u="none">
                <a:solidFill>
                  <a:srgbClr val="FFFFFF"/>
                </a:solidFill>
                <a:latin typeface="Open Sans 2"/>
                <a:ea typeface="Open Sans 2"/>
                <a:cs typeface="Open Sans 2"/>
                <a:sym typeface="Open Sans 2"/>
              </a:rPr>
              <a:t>ry</a:t>
            </a:r>
            <a:r>
              <a:rPr lang="en-US" sz="3699" spc="-110" strike="noStrike" u="none">
                <a:solidFill>
                  <a:srgbClr val="FFFFFF"/>
                </a:solidFill>
                <a:latin typeface="Open Sans 2"/>
                <a:ea typeface="Open Sans 2"/>
                <a:cs typeface="Open Sans 2"/>
                <a:sym typeface="Open Sans 2"/>
              </a:rPr>
              <a:t> se</a:t>
            </a:r>
            <a:r>
              <a:rPr lang="en-US" sz="3699" spc="-110" strike="noStrike" u="none">
                <a:solidFill>
                  <a:srgbClr val="FFFFFF"/>
                </a:solidFill>
                <a:latin typeface="Open Sans 2"/>
                <a:ea typeface="Open Sans 2"/>
                <a:cs typeface="Open Sans 2"/>
                <a:sym typeface="Open Sans 2"/>
              </a:rPr>
              <a:t>cara</a:t>
            </a:r>
            <a:r>
              <a:rPr lang="en-US" sz="3699" spc="-110" strike="noStrike" u="none">
                <a:solidFill>
                  <a:srgbClr val="FFFFFF"/>
                </a:solidFill>
                <a:latin typeface="Open Sans 2"/>
                <a:ea typeface="Open Sans 2"/>
                <a:cs typeface="Open Sans 2"/>
                <a:sym typeface="Open Sans 2"/>
              </a:rPr>
              <a:t> o</a:t>
            </a:r>
            <a:r>
              <a:rPr lang="en-US" sz="3699" spc="-110" strike="noStrike" u="none">
                <a:solidFill>
                  <a:srgbClr val="FFFFFF"/>
                </a:solidFill>
                <a:latin typeface="Open Sans 2"/>
                <a:ea typeface="Open Sans 2"/>
                <a:cs typeface="Open Sans 2"/>
                <a:sym typeface="Open Sans 2"/>
              </a:rPr>
              <a:t>nline</a:t>
            </a:r>
            <a:r>
              <a:rPr lang="en-US" sz="3699" spc="-110" strike="noStrike" u="none">
                <a:solidFill>
                  <a:srgbClr val="FFFFFF"/>
                </a:solidFill>
                <a:latin typeface="Open Sans 2"/>
                <a:ea typeface="Open Sans 2"/>
                <a:cs typeface="Open Sans 2"/>
                <a:sym typeface="Open Sans 2"/>
              </a:rPr>
              <a:t> d</a:t>
            </a:r>
            <a:r>
              <a:rPr lang="en-US" sz="3699" spc="-110" strike="noStrike" u="none">
                <a:solidFill>
                  <a:srgbClr val="FFFFFF"/>
                </a:solidFill>
                <a:latin typeface="Open Sans 2"/>
                <a:ea typeface="Open Sans 2"/>
                <a:cs typeface="Open Sans 2"/>
                <a:sym typeface="Open Sans 2"/>
              </a:rPr>
              <a:t>an</a:t>
            </a:r>
            <a:r>
              <a:rPr lang="en-US" sz="3699" spc="-110" strike="noStrike" u="none">
                <a:solidFill>
                  <a:srgbClr val="FFFFFF"/>
                </a:solidFill>
                <a:latin typeface="Open Sans 2"/>
                <a:ea typeface="Open Sans 2"/>
                <a:cs typeface="Open Sans 2"/>
                <a:sym typeface="Open Sans 2"/>
              </a:rPr>
              <a:t> ter</a:t>
            </a:r>
            <a:r>
              <a:rPr lang="en-US" sz="3699" spc="-110" strike="noStrike" u="none">
                <a:solidFill>
                  <a:srgbClr val="FFFFFF"/>
                </a:solidFill>
                <a:latin typeface="Open Sans 2"/>
                <a:ea typeface="Open Sans 2"/>
                <a:cs typeface="Open Sans 2"/>
                <a:sym typeface="Open Sans 2"/>
              </a:rPr>
              <a:t>s</a:t>
            </a:r>
            <a:r>
              <a:rPr lang="en-US" sz="3699" spc="-110" strike="noStrike" u="none">
                <a:solidFill>
                  <a:srgbClr val="FFFFFF"/>
                </a:solidFill>
                <a:latin typeface="Open Sans 2"/>
                <a:ea typeface="Open Sans 2"/>
                <a:cs typeface="Open Sans 2"/>
                <a:sym typeface="Open Sans 2"/>
              </a:rPr>
              <a:t>t</a:t>
            </a:r>
            <a:r>
              <a:rPr lang="en-US" sz="3699" spc="-110" strike="noStrike" u="none">
                <a:solidFill>
                  <a:srgbClr val="FFFFFF"/>
                </a:solidFill>
                <a:latin typeface="Open Sans 2"/>
                <a:ea typeface="Open Sans 2"/>
                <a:cs typeface="Open Sans 2"/>
                <a:sym typeface="Open Sans 2"/>
              </a:rPr>
              <a:t>r</a:t>
            </a:r>
            <a:r>
              <a:rPr lang="en-US" sz="3699" spc="-110" strike="noStrike" u="none">
                <a:solidFill>
                  <a:srgbClr val="FFFFFF"/>
                </a:solidFill>
                <a:latin typeface="Open Sans 2"/>
                <a:ea typeface="Open Sans 2"/>
                <a:cs typeface="Open Sans 2"/>
                <a:sym typeface="Open Sans 2"/>
              </a:rPr>
              <a:t>u</a:t>
            </a:r>
            <a:r>
              <a:rPr lang="en-US" sz="3699" spc="-110" strike="noStrike" u="none">
                <a:solidFill>
                  <a:srgbClr val="FFFFFF"/>
                </a:solidFill>
                <a:latin typeface="Open Sans 2"/>
                <a:ea typeface="Open Sans 2"/>
                <a:cs typeface="Open Sans 2"/>
                <a:sym typeface="Open Sans 2"/>
              </a:rPr>
              <a:t>k</a:t>
            </a:r>
            <a:r>
              <a:rPr lang="en-US" sz="3699" spc="-110" strike="noStrike" u="none">
                <a:solidFill>
                  <a:srgbClr val="FFFFFF"/>
                </a:solidFill>
                <a:latin typeface="Open Sans 2"/>
                <a:ea typeface="Open Sans 2"/>
                <a:cs typeface="Open Sans 2"/>
                <a:sym typeface="Open Sans 2"/>
              </a:rPr>
              <a:t>t</a:t>
            </a:r>
            <a:r>
              <a:rPr lang="en-US" sz="3699" spc="-110" strike="noStrike" u="none">
                <a:solidFill>
                  <a:srgbClr val="FFFFFF"/>
                </a:solidFill>
                <a:latin typeface="Open Sans 2"/>
                <a:ea typeface="Open Sans 2"/>
                <a:cs typeface="Open Sans 2"/>
                <a:sym typeface="Open Sans 2"/>
              </a:rPr>
              <a:t>u</a:t>
            </a:r>
            <a:r>
              <a:rPr lang="en-US" sz="3699" spc="-110" strike="noStrike" u="none">
                <a:solidFill>
                  <a:srgbClr val="FFFFFF"/>
                </a:solidFill>
                <a:latin typeface="Open Sans 2"/>
                <a:ea typeface="Open Sans 2"/>
                <a:cs typeface="Open Sans 2"/>
                <a:sym typeface="Open Sans 2"/>
              </a:rPr>
              <a:t>r</a:t>
            </a:r>
          </a:p>
          <a:p>
            <a:pPr algn="l" marL="798820" indent="-399410" lvl="1">
              <a:lnSpc>
                <a:spcPts val="4624"/>
              </a:lnSpc>
              <a:spcBef>
                <a:spcPct val="0"/>
              </a:spcBef>
              <a:buFont typeface="Arial"/>
              <a:buChar char="•"/>
            </a:pPr>
            <a:r>
              <a:rPr lang="en-US" sz="3699" spc="-110" strike="noStrike" u="none">
                <a:solidFill>
                  <a:srgbClr val="FFFFFF"/>
                </a:solidFill>
                <a:latin typeface="Open Sans 2"/>
                <a:ea typeface="Open Sans 2"/>
                <a:cs typeface="Open Sans 2"/>
                <a:sym typeface="Open Sans 2"/>
              </a:rPr>
              <a:t>M</a:t>
            </a:r>
            <a:r>
              <a:rPr lang="en-US" sz="3699" spc="-110" strike="noStrike" u="none">
                <a:solidFill>
                  <a:srgbClr val="FFFFFF"/>
                </a:solidFill>
                <a:latin typeface="Open Sans 2"/>
                <a:ea typeface="Open Sans 2"/>
                <a:cs typeface="Open Sans 2"/>
                <a:sym typeface="Open Sans 2"/>
              </a:rPr>
              <a:t>e</a:t>
            </a:r>
            <a:r>
              <a:rPr lang="en-US" sz="3699" spc="-110" strike="noStrike" u="none">
                <a:solidFill>
                  <a:srgbClr val="FFFFFF"/>
                </a:solidFill>
                <a:latin typeface="Open Sans 2"/>
                <a:ea typeface="Open Sans 2"/>
                <a:cs typeface="Open Sans 2"/>
                <a:sym typeface="Open Sans 2"/>
              </a:rPr>
              <a:t>mudahkan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p</a:t>
            </a:r>
            <a:r>
              <a:rPr lang="en-US" sz="3699" spc="-110" strike="noStrike" u="none">
                <a:solidFill>
                  <a:srgbClr val="FFFFFF"/>
                </a:solidFill>
                <a:latin typeface="Open Sans 2"/>
                <a:ea typeface="Open Sans 2"/>
                <a:cs typeface="Open Sans 2"/>
                <a:sym typeface="Open Sans 2"/>
              </a:rPr>
              <a:t>e</a:t>
            </a:r>
            <a:r>
              <a:rPr lang="en-US" sz="3699" spc="-110" strike="noStrike" u="none">
                <a:solidFill>
                  <a:srgbClr val="FFFFFF"/>
                </a:solidFill>
                <a:latin typeface="Open Sans 2"/>
                <a:ea typeface="Open Sans 2"/>
                <a:cs typeface="Open Sans 2"/>
                <a:sym typeface="Open Sans 2"/>
              </a:rPr>
              <a:t>ngel</a:t>
            </a:r>
            <a:r>
              <a:rPr lang="en-US" sz="3699" spc="-110" strike="noStrike" u="none">
                <a:solidFill>
                  <a:srgbClr val="FFFFFF"/>
                </a:solidFill>
                <a:latin typeface="Open Sans 2"/>
                <a:ea typeface="Open Sans 2"/>
                <a:cs typeface="Open Sans 2"/>
                <a:sym typeface="Open Sans 2"/>
              </a:rPr>
              <a:t>ol</a:t>
            </a:r>
            <a:r>
              <a:rPr lang="en-US" sz="3699" spc="-110" strike="noStrike" u="none">
                <a:solidFill>
                  <a:srgbClr val="FFFFFF"/>
                </a:solidFill>
                <a:latin typeface="Open Sans 2"/>
                <a:ea typeface="Open Sans 2"/>
                <a:cs typeface="Open Sans 2"/>
                <a:sym typeface="Open Sans 2"/>
              </a:rPr>
              <a:t>aan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d</a:t>
            </a:r>
            <a:r>
              <a:rPr lang="en-US" sz="3699" spc="-110" strike="noStrike" u="none">
                <a:solidFill>
                  <a:srgbClr val="FFFFFF"/>
                </a:solidFill>
                <a:latin typeface="Open Sans 2"/>
                <a:ea typeface="Open Sans 2"/>
                <a:cs typeface="Open Sans 2"/>
                <a:sym typeface="Open Sans 2"/>
              </a:rPr>
              <a:t>a</a:t>
            </a:r>
            <a:r>
              <a:rPr lang="en-US" sz="3699" spc="-110" strike="noStrike" u="none">
                <a:solidFill>
                  <a:srgbClr val="FFFFFF"/>
                </a:solidFill>
                <a:latin typeface="Open Sans 2"/>
                <a:ea typeface="Open Sans 2"/>
                <a:cs typeface="Open Sans 2"/>
                <a:sym typeface="Open Sans 2"/>
              </a:rPr>
              <a:t>t</a:t>
            </a:r>
            <a:r>
              <a:rPr lang="en-US" sz="3699" spc="-110" strike="noStrike" u="none">
                <a:solidFill>
                  <a:srgbClr val="FFFFFF"/>
                </a:solidFill>
                <a:latin typeface="Open Sans 2"/>
                <a:ea typeface="Open Sans 2"/>
                <a:cs typeface="Open Sans 2"/>
                <a:sym typeface="Open Sans 2"/>
              </a:rPr>
              <a:t>a </a:t>
            </a:r>
            <a:r>
              <a:rPr lang="en-US" sz="3699" spc="-110" strike="noStrike" u="none">
                <a:solidFill>
                  <a:srgbClr val="FFFFFF"/>
                </a:solidFill>
                <a:latin typeface="Open Sans 2"/>
                <a:ea typeface="Open Sans 2"/>
                <a:cs typeface="Open Sans 2"/>
                <a:sym typeface="Open Sans 2"/>
              </a:rPr>
              <a:t>prod</a:t>
            </a:r>
            <a:r>
              <a:rPr lang="en-US" sz="3699" spc="-110" strike="noStrike" u="none">
                <a:solidFill>
                  <a:srgbClr val="FFFFFF"/>
                </a:solidFill>
                <a:latin typeface="Open Sans 2"/>
                <a:ea typeface="Open Sans 2"/>
                <a:cs typeface="Open Sans 2"/>
                <a:sym typeface="Open Sans 2"/>
              </a:rPr>
              <a:t>u</a:t>
            </a:r>
            <a:r>
              <a:rPr lang="en-US" sz="3699" spc="-110" strike="noStrike" u="none">
                <a:solidFill>
                  <a:srgbClr val="FFFFFF"/>
                </a:solidFill>
                <a:latin typeface="Open Sans 2"/>
                <a:ea typeface="Open Sans 2"/>
                <a:cs typeface="Open Sans 2"/>
                <a:sym typeface="Open Sans 2"/>
              </a:rPr>
              <a:t>k,</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s</a:t>
            </a:r>
            <a:r>
              <a:rPr lang="en-US" sz="3699" spc="-110" strike="noStrike" u="none">
                <a:solidFill>
                  <a:srgbClr val="FFFFFF"/>
                </a:solidFill>
                <a:latin typeface="Open Sans 2"/>
                <a:ea typeface="Open Sans 2"/>
                <a:cs typeface="Open Sans 2"/>
                <a:sym typeface="Open Sans 2"/>
              </a:rPr>
              <a:t>t</a:t>
            </a:r>
            <a:r>
              <a:rPr lang="en-US" sz="3699" spc="-110" strike="noStrike" u="none">
                <a:solidFill>
                  <a:srgbClr val="FFFFFF"/>
                </a:solidFill>
                <a:latin typeface="Open Sans 2"/>
                <a:ea typeface="Open Sans 2"/>
                <a:cs typeface="Open Sans 2"/>
                <a:sym typeface="Open Sans 2"/>
              </a:rPr>
              <a:t>ok,</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d</a:t>
            </a:r>
            <a:r>
              <a:rPr lang="en-US" sz="3699" spc="-110" strike="noStrike" u="none">
                <a:solidFill>
                  <a:srgbClr val="FFFFFF"/>
                </a:solidFill>
                <a:latin typeface="Open Sans 2"/>
                <a:ea typeface="Open Sans 2"/>
                <a:cs typeface="Open Sans 2"/>
                <a:sym typeface="Open Sans 2"/>
              </a:rPr>
              <a:t>an </a:t>
            </a:r>
            <a:r>
              <a:rPr lang="en-US" sz="3699" spc="-110" strike="noStrike" u="none">
                <a:solidFill>
                  <a:srgbClr val="FFFFFF"/>
                </a:solidFill>
                <a:latin typeface="Open Sans 2"/>
                <a:ea typeface="Open Sans 2"/>
                <a:cs typeface="Open Sans 2"/>
                <a:sym typeface="Open Sans 2"/>
              </a:rPr>
              <a:t>p</a:t>
            </a:r>
            <a:r>
              <a:rPr lang="en-US" sz="3699" spc="-110" strike="noStrike" u="none">
                <a:solidFill>
                  <a:srgbClr val="FFFFFF"/>
                </a:solidFill>
                <a:latin typeface="Open Sans 2"/>
                <a:ea typeface="Open Sans 2"/>
                <a:cs typeface="Open Sans 2"/>
                <a:sym typeface="Open Sans 2"/>
              </a:rPr>
              <a:t>e</a:t>
            </a:r>
            <a:r>
              <a:rPr lang="en-US" sz="3699" spc="-110" strike="noStrike" u="none">
                <a:solidFill>
                  <a:srgbClr val="FFFFFF"/>
                </a:solidFill>
                <a:latin typeface="Open Sans 2"/>
                <a:ea typeface="Open Sans 2"/>
                <a:cs typeface="Open Sans 2"/>
                <a:sym typeface="Open Sans 2"/>
              </a:rPr>
              <a:t>sa</a:t>
            </a:r>
            <a:r>
              <a:rPr lang="en-US" sz="3699" spc="-110" strike="noStrike" u="none">
                <a:solidFill>
                  <a:srgbClr val="FFFFFF"/>
                </a:solidFill>
                <a:latin typeface="Open Sans 2"/>
                <a:ea typeface="Open Sans 2"/>
                <a:cs typeface="Open Sans 2"/>
                <a:sym typeface="Open Sans 2"/>
              </a:rPr>
              <a:t>na</a:t>
            </a:r>
            <a:r>
              <a:rPr lang="en-US" sz="3699" spc="-110" strike="noStrike" u="none">
                <a:solidFill>
                  <a:srgbClr val="FFFFFF"/>
                </a:solidFill>
                <a:latin typeface="Open Sans 2"/>
                <a:ea typeface="Open Sans 2"/>
                <a:cs typeface="Open Sans 2"/>
                <a:sym typeface="Open Sans 2"/>
              </a:rPr>
              <a:t>n</a:t>
            </a:r>
          </a:p>
          <a:p>
            <a:pPr algn="l" marL="798820" indent="-399410" lvl="1">
              <a:lnSpc>
                <a:spcPts val="4624"/>
              </a:lnSpc>
              <a:spcBef>
                <a:spcPct val="0"/>
              </a:spcBef>
              <a:buFont typeface="Arial"/>
              <a:buChar char="•"/>
            </a:pPr>
            <a:r>
              <a:rPr lang="en-US" sz="3699" spc="-110" strike="noStrike" u="none">
                <a:solidFill>
                  <a:srgbClr val="FFFFFF"/>
                </a:solidFill>
                <a:latin typeface="Open Sans 2"/>
                <a:ea typeface="Open Sans 2"/>
                <a:cs typeface="Open Sans 2"/>
                <a:sym typeface="Open Sans 2"/>
              </a:rPr>
              <a:t>Me</a:t>
            </a:r>
            <a:r>
              <a:rPr lang="en-US" sz="3699" spc="-110" strike="noStrike" u="none">
                <a:solidFill>
                  <a:srgbClr val="FFFFFF"/>
                </a:solidFill>
                <a:latin typeface="Open Sans 2"/>
                <a:ea typeface="Open Sans 2"/>
                <a:cs typeface="Open Sans 2"/>
                <a:sym typeface="Open Sans 2"/>
              </a:rPr>
              <a:t>m</a:t>
            </a:r>
            <a:r>
              <a:rPr lang="en-US" sz="3699" spc="-110" strike="noStrike" u="none">
                <a:solidFill>
                  <a:srgbClr val="FFFFFF"/>
                </a:solidFill>
                <a:latin typeface="Open Sans 2"/>
                <a:ea typeface="Open Sans 2"/>
                <a:cs typeface="Open Sans 2"/>
                <a:sym typeface="Open Sans 2"/>
              </a:rPr>
              <a:t>ba</a:t>
            </a:r>
            <a:r>
              <a:rPr lang="en-US" sz="3699" spc="-110" strike="noStrike" u="none">
                <a:solidFill>
                  <a:srgbClr val="FFFFFF"/>
                </a:solidFill>
                <a:latin typeface="Open Sans 2"/>
                <a:ea typeface="Open Sans 2"/>
                <a:cs typeface="Open Sans 2"/>
                <a:sym typeface="Open Sans 2"/>
              </a:rPr>
              <a:t>ntu </a:t>
            </a:r>
            <a:r>
              <a:rPr lang="en-US" sz="3699" spc="-110" strike="noStrike" u="none">
                <a:solidFill>
                  <a:srgbClr val="FFFFFF"/>
                </a:solidFill>
                <a:latin typeface="Open Sans 2"/>
                <a:ea typeface="Open Sans 2"/>
                <a:cs typeface="Open Sans 2"/>
                <a:sym typeface="Open Sans 2"/>
              </a:rPr>
              <a:t>p</a:t>
            </a:r>
            <a:r>
              <a:rPr lang="en-US" sz="3699" spc="-110" strike="noStrike" u="none">
                <a:solidFill>
                  <a:srgbClr val="FFFFFF"/>
                </a:solidFill>
                <a:latin typeface="Open Sans 2"/>
                <a:ea typeface="Open Sans 2"/>
                <a:cs typeface="Open Sans 2"/>
                <a:sym typeface="Open Sans 2"/>
              </a:rPr>
              <a:t>e</a:t>
            </a:r>
            <a:r>
              <a:rPr lang="en-US" sz="3699" spc="-110" strike="noStrike" u="none">
                <a:solidFill>
                  <a:srgbClr val="FFFFFF"/>
                </a:solidFill>
                <a:latin typeface="Open Sans 2"/>
                <a:ea typeface="Open Sans 2"/>
                <a:cs typeface="Open Sans 2"/>
                <a:sym typeface="Open Sans 2"/>
              </a:rPr>
              <a:t>n</a:t>
            </a:r>
            <a:r>
              <a:rPr lang="en-US" sz="3699" spc="-110" strike="noStrike" u="none">
                <a:solidFill>
                  <a:srgbClr val="FFFFFF"/>
                </a:solidFill>
                <a:latin typeface="Open Sans 2"/>
                <a:ea typeface="Open Sans 2"/>
                <a:cs typeface="Open Sans 2"/>
                <a:sym typeface="Open Sans 2"/>
              </a:rPr>
              <a:t>c</a:t>
            </a:r>
            <a:r>
              <a:rPr lang="en-US" sz="3699" spc="-110" strike="noStrike" u="none">
                <a:solidFill>
                  <a:srgbClr val="FFFFFF"/>
                </a:solidFill>
                <a:latin typeface="Open Sans 2"/>
                <a:ea typeface="Open Sans 2"/>
                <a:cs typeface="Open Sans 2"/>
                <a:sym typeface="Open Sans 2"/>
              </a:rPr>
              <a:t>a</a:t>
            </a:r>
            <a:r>
              <a:rPr lang="en-US" sz="3699" spc="-110" strike="noStrike" u="none">
                <a:solidFill>
                  <a:srgbClr val="FFFFFF"/>
                </a:solidFill>
                <a:latin typeface="Open Sans 2"/>
                <a:ea typeface="Open Sans 2"/>
                <a:cs typeface="Open Sans 2"/>
                <a:sym typeface="Open Sans 2"/>
              </a:rPr>
              <a:t>tat</a:t>
            </a:r>
            <a:r>
              <a:rPr lang="en-US" sz="3699" spc="-110" strike="noStrike" u="none">
                <a:solidFill>
                  <a:srgbClr val="FFFFFF"/>
                </a:solidFill>
                <a:latin typeface="Open Sans 2"/>
                <a:ea typeface="Open Sans 2"/>
                <a:cs typeface="Open Sans 2"/>
                <a:sym typeface="Open Sans 2"/>
              </a:rPr>
              <a:t>an pembayara</a:t>
            </a:r>
            <a:r>
              <a:rPr lang="en-US" sz="3699" spc="-110" strike="noStrike" u="none">
                <a:solidFill>
                  <a:srgbClr val="FFFFFF"/>
                </a:solidFill>
                <a:latin typeface="Open Sans 2"/>
                <a:ea typeface="Open Sans 2"/>
                <a:cs typeface="Open Sans 2"/>
                <a:sym typeface="Open Sans 2"/>
              </a:rPr>
              <a:t>n </a:t>
            </a:r>
            <a:r>
              <a:rPr lang="en-US" sz="3699" spc="-110" strike="noStrike" u="none">
                <a:solidFill>
                  <a:srgbClr val="FFFFFF"/>
                </a:solidFill>
                <a:latin typeface="Open Sans 2"/>
                <a:ea typeface="Open Sans 2"/>
                <a:cs typeface="Open Sans 2"/>
                <a:sym typeface="Open Sans 2"/>
              </a:rPr>
              <a:t>d</a:t>
            </a:r>
            <a:r>
              <a:rPr lang="en-US" sz="3699" spc="-110" strike="noStrike" u="none">
                <a:solidFill>
                  <a:srgbClr val="FFFFFF"/>
                </a:solidFill>
                <a:latin typeface="Open Sans 2"/>
                <a:ea typeface="Open Sans 2"/>
                <a:cs typeface="Open Sans 2"/>
                <a:sym typeface="Open Sans 2"/>
              </a:rPr>
              <a:t>a</a:t>
            </a:r>
            <a:r>
              <a:rPr lang="en-US" sz="3699" spc="-110" strike="noStrike" u="none">
                <a:solidFill>
                  <a:srgbClr val="FFFFFF"/>
                </a:solidFill>
                <a:latin typeface="Open Sans 2"/>
                <a:ea typeface="Open Sans 2"/>
                <a:cs typeface="Open Sans 2"/>
                <a:sym typeface="Open Sans 2"/>
              </a:rPr>
              <a:t>n</a:t>
            </a:r>
            <a:r>
              <a:rPr lang="en-US" sz="3699" spc="-110" strike="noStrike" u="none">
                <a:solidFill>
                  <a:srgbClr val="FFFFFF"/>
                </a:solidFill>
                <a:latin typeface="Open Sans 2"/>
                <a:ea typeface="Open Sans 2"/>
                <a:cs typeface="Open Sans 2"/>
                <a:sym typeface="Open Sans 2"/>
              </a:rPr>
              <a:t> la</a:t>
            </a:r>
            <a:r>
              <a:rPr lang="en-US" sz="3699" spc="-110" strike="noStrike" u="none">
                <a:solidFill>
                  <a:srgbClr val="FFFFFF"/>
                </a:solidFill>
                <a:latin typeface="Open Sans 2"/>
                <a:ea typeface="Open Sans 2"/>
                <a:cs typeface="Open Sans 2"/>
                <a:sym typeface="Open Sans 2"/>
              </a:rPr>
              <a:t>p</a:t>
            </a:r>
            <a:r>
              <a:rPr lang="en-US" sz="3699" spc="-110" strike="noStrike" u="none">
                <a:solidFill>
                  <a:srgbClr val="FFFFFF"/>
                </a:solidFill>
                <a:latin typeface="Open Sans 2"/>
                <a:ea typeface="Open Sans 2"/>
                <a:cs typeface="Open Sans 2"/>
                <a:sym typeface="Open Sans 2"/>
              </a:rPr>
              <a:t>or</a:t>
            </a:r>
            <a:r>
              <a:rPr lang="en-US" sz="3699" spc="-110" strike="noStrike" u="none">
                <a:solidFill>
                  <a:srgbClr val="FFFFFF"/>
                </a:solidFill>
                <a:latin typeface="Open Sans 2"/>
                <a:ea typeface="Open Sans 2"/>
                <a:cs typeface="Open Sans 2"/>
                <a:sym typeface="Open Sans 2"/>
              </a:rPr>
              <a:t>an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pe</a:t>
            </a:r>
            <a:r>
              <a:rPr lang="en-US" sz="3699" spc="-110" strike="noStrike" u="none">
                <a:solidFill>
                  <a:srgbClr val="FFFFFF"/>
                </a:solidFill>
                <a:latin typeface="Open Sans 2"/>
                <a:ea typeface="Open Sans 2"/>
                <a:cs typeface="Open Sans 2"/>
                <a:sym typeface="Open Sans 2"/>
              </a:rPr>
              <a:t>n</a:t>
            </a:r>
            <a:r>
              <a:rPr lang="en-US" sz="3699" spc="-110" strike="noStrike" u="none">
                <a:solidFill>
                  <a:srgbClr val="FFFFFF"/>
                </a:solidFill>
                <a:latin typeface="Open Sans 2"/>
                <a:ea typeface="Open Sans 2"/>
                <a:cs typeface="Open Sans 2"/>
                <a:sym typeface="Open Sans 2"/>
              </a:rPr>
              <a:t>jualan </a:t>
            </a:r>
            <a:r>
              <a:rPr lang="en-US" sz="3699" spc="-110" strike="noStrike" u="none">
                <a:solidFill>
                  <a:srgbClr val="FFFFFF"/>
                </a:solidFill>
                <a:latin typeface="Open Sans 2"/>
                <a:ea typeface="Open Sans 2"/>
                <a:cs typeface="Open Sans 2"/>
                <a:sym typeface="Open Sans 2"/>
              </a:rPr>
              <a:t>s</a:t>
            </a:r>
            <a:r>
              <a:rPr lang="en-US" sz="3699" spc="-110" strike="noStrike" u="none">
                <a:solidFill>
                  <a:srgbClr val="FFFFFF"/>
                </a:solidFill>
                <a:latin typeface="Open Sans 2"/>
                <a:ea typeface="Open Sans 2"/>
                <a:cs typeface="Open Sans 2"/>
                <a:sym typeface="Open Sans 2"/>
              </a:rPr>
              <a:t>ecara</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digi</a:t>
            </a:r>
            <a:r>
              <a:rPr lang="en-US" sz="3699" spc="-110" strike="noStrike" u="none">
                <a:solidFill>
                  <a:srgbClr val="FFFFFF"/>
                </a:solidFill>
                <a:latin typeface="Open Sans 2"/>
                <a:ea typeface="Open Sans 2"/>
                <a:cs typeface="Open Sans 2"/>
                <a:sym typeface="Open Sans 2"/>
              </a:rPr>
              <a:t>tal</a:t>
            </a:r>
          </a:p>
          <a:p>
            <a:pPr algn="l" marL="798820" indent="-399410" lvl="1">
              <a:lnSpc>
                <a:spcPts val="4624"/>
              </a:lnSpc>
              <a:spcBef>
                <a:spcPct val="0"/>
              </a:spcBef>
              <a:buFont typeface="Arial"/>
              <a:buChar char="•"/>
            </a:pPr>
            <a:r>
              <a:rPr lang="en-US" sz="3699" spc="-110" strike="noStrike" u="none">
                <a:solidFill>
                  <a:srgbClr val="FFFFFF"/>
                </a:solidFill>
                <a:latin typeface="Open Sans 2"/>
                <a:ea typeface="Open Sans 2"/>
                <a:cs typeface="Open Sans 2"/>
                <a:sym typeface="Open Sans 2"/>
              </a:rPr>
              <a:t>Mend</a:t>
            </a:r>
            <a:r>
              <a:rPr lang="en-US" sz="3699" spc="-110" strike="noStrike" u="none">
                <a:solidFill>
                  <a:srgbClr val="FFFFFF"/>
                </a:solidFill>
                <a:latin typeface="Open Sans 2"/>
                <a:ea typeface="Open Sans 2"/>
                <a:cs typeface="Open Sans 2"/>
                <a:sym typeface="Open Sans 2"/>
              </a:rPr>
              <a:t>u</a:t>
            </a:r>
            <a:r>
              <a:rPr lang="en-US" sz="3699" spc="-110" strike="noStrike" u="none">
                <a:solidFill>
                  <a:srgbClr val="FFFFFF"/>
                </a:solidFill>
                <a:latin typeface="Open Sans 2"/>
                <a:ea typeface="Open Sans 2"/>
                <a:cs typeface="Open Sans 2"/>
                <a:sym typeface="Open Sans 2"/>
              </a:rPr>
              <a:t>kung </a:t>
            </a:r>
            <a:r>
              <a:rPr lang="en-US" sz="3699" spc="-110" strike="noStrike" u="none">
                <a:solidFill>
                  <a:srgbClr val="FFFFFF"/>
                </a:solidFill>
                <a:latin typeface="Open Sans 2"/>
                <a:ea typeface="Open Sans 2"/>
                <a:cs typeface="Open Sans 2"/>
                <a:sym typeface="Open Sans 2"/>
              </a:rPr>
              <a:t>pe</a:t>
            </a:r>
            <a:r>
              <a:rPr lang="en-US" sz="3699" spc="-110" strike="noStrike" u="none">
                <a:solidFill>
                  <a:srgbClr val="FFFFFF"/>
                </a:solidFill>
                <a:latin typeface="Open Sans 2"/>
                <a:ea typeface="Open Sans 2"/>
                <a:cs typeface="Open Sans 2"/>
                <a:sym typeface="Open Sans 2"/>
              </a:rPr>
              <a:t>ngambilan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k</a:t>
            </a:r>
            <a:r>
              <a:rPr lang="en-US" sz="3699" spc="-110" strike="noStrike" u="none">
                <a:solidFill>
                  <a:srgbClr val="FFFFFF"/>
                </a:solidFill>
                <a:latin typeface="Open Sans 2"/>
                <a:ea typeface="Open Sans 2"/>
                <a:cs typeface="Open Sans 2"/>
                <a:sym typeface="Open Sans 2"/>
              </a:rPr>
              <a:t>e</a:t>
            </a:r>
            <a:r>
              <a:rPr lang="en-US" sz="3699" spc="-110" strike="noStrike" u="none">
                <a:solidFill>
                  <a:srgbClr val="FFFFFF"/>
                </a:solidFill>
                <a:latin typeface="Open Sans 2"/>
                <a:ea typeface="Open Sans 2"/>
                <a:cs typeface="Open Sans 2"/>
                <a:sym typeface="Open Sans 2"/>
              </a:rPr>
              <a:t>putus</a:t>
            </a:r>
            <a:r>
              <a:rPr lang="en-US" sz="3699" spc="-110" strike="noStrike" u="none">
                <a:solidFill>
                  <a:srgbClr val="FFFFFF"/>
                </a:solidFill>
                <a:latin typeface="Open Sans 2"/>
                <a:ea typeface="Open Sans 2"/>
                <a:cs typeface="Open Sans 2"/>
                <a:sym typeface="Open Sans 2"/>
              </a:rPr>
              <a:t>a</a:t>
            </a:r>
            <a:r>
              <a:rPr lang="en-US" sz="3699" spc="-110" strike="noStrike" u="none">
                <a:solidFill>
                  <a:srgbClr val="FFFFFF"/>
                </a:solidFill>
                <a:latin typeface="Open Sans 2"/>
                <a:ea typeface="Open Sans 2"/>
                <a:cs typeface="Open Sans 2"/>
                <a:sym typeface="Open Sans 2"/>
              </a:rPr>
              <a:t>n</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pe</a:t>
            </a:r>
            <a:r>
              <a:rPr lang="en-US" sz="3699" spc="-110" strike="noStrike" u="none">
                <a:solidFill>
                  <a:srgbClr val="FFFFFF"/>
                </a:solidFill>
                <a:latin typeface="Open Sans 2"/>
                <a:ea typeface="Open Sans 2"/>
                <a:cs typeface="Open Sans 2"/>
                <a:sym typeface="Open Sans 2"/>
              </a:rPr>
              <a:t>m</a:t>
            </a:r>
            <a:r>
              <a:rPr lang="en-US" sz="3699" spc="-110" strike="noStrike" u="none">
                <a:solidFill>
                  <a:srgbClr val="FFFFFF"/>
                </a:solidFill>
                <a:latin typeface="Open Sans 2"/>
                <a:ea typeface="Open Sans 2"/>
                <a:cs typeface="Open Sans 2"/>
                <a:sym typeface="Open Sans 2"/>
              </a:rPr>
              <a:t>ilik UMKM</a:t>
            </a:r>
            <a:r>
              <a:rPr lang="en-US" sz="3699" spc="-110" strike="noStrike" u="none">
                <a:solidFill>
                  <a:srgbClr val="FFFFFF"/>
                </a:solidFill>
                <a:latin typeface="Open Sans 2"/>
                <a:ea typeface="Open Sans 2"/>
                <a:cs typeface="Open Sans 2"/>
                <a:sym typeface="Open Sans 2"/>
              </a:rPr>
              <a:t> </a:t>
            </a:r>
            <a:r>
              <a:rPr lang="en-US" sz="3699" spc="-110" strike="noStrike" u="none">
                <a:solidFill>
                  <a:srgbClr val="FFFFFF"/>
                </a:solidFill>
                <a:latin typeface="Open Sans 2"/>
                <a:ea typeface="Open Sans 2"/>
                <a:cs typeface="Open Sans 2"/>
                <a:sym typeface="Open Sans 2"/>
              </a:rPr>
              <a:t>se</a:t>
            </a:r>
            <a:r>
              <a:rPr lang="en-US" sz="3699" spc="-110" strike="noStrike" u="none">
                <a:solidFill>
                  <a:srgbClr val="FFFFFF"/>
                </a:solidFill>
                <a:latin typeface="Open Sans 2"/>
                <a:ea typeface="Open Sans 2"/>
                <a:cs typeface="Open Sans 2"/>
                <a:sym typeface="Open Sans 2"/>
              </a:rPr>
              <a:t>c</a:t>
            </a:r>
            <a:r>
              <a:rPr lang="en-US" sz="3699" spc="-110" strike="noStrike" u="none">
                <a:solidFill>
                  <a:srgbClr val="FFFFFF"/>
                </a:solidFill>
                <a:latin typeface="Open Sans 2"/>
                <a:ea typeface="Open Sans 2"/>
                <a:cs typeface="Open Sans 2"/>
                <a:sym typeface="Open Sans 2"/>
              </a:rPr>
              <a:t>ara l</a:t>
            </a:r>
            <a:r>
              <a:rPr lang="en-US" sz="3699" spc="-110" strike="noStrike" u="none">
                <a:solidFill>
                  <a:srgbClr val="FFFFFF"/>
                </a:solidFill>
                <a:latin typeface="Open Sans 2"/>
                <a:ea typeface="Open Sans 2"/>
                <a:cs typeface="Open Sans 2"/>
                <a:sym typeface="Open Sans 2"/>
              </a:rPr>
              <a:t>e</a:t>
            </a:r>
            <a:r>
              <a:rPr lang="en-US" sz="3699" spc="-110" strike="noStrike" u="none">
                <a:solidFill>
                  <a:srgbClr val="FFFFFF"/>
                </a:solidFill>
                <a:latin typeface="Open Sans 2"/>
                <a:ea typeface="Open Sans 2"/>
                <a:cs typeface="Open Sans 2"/>
                <a:sym typeface="Open Sans 2"/>
              </a:rPr>
              <a:t>bih ak</a:t>
            </a:r>
            <a:r>
              <a:rPr lang="en-US" sz="3699" spc="-110" strike="noStrike" u="none">
                <a:solidFill>
                  <a:srgbClr val="FFFFFF"/>
                </a:solidFill>
                <a:latin typeface="Open Sans 2"/>
                <a:ea typeface="Open Sans 2"/>
                <a:cs typeface="Open Sans 2"/>
                <a:sym typeface="Open Sans 2"/>
              </a:rPr>
              <a:t>u</a:t>
            </a:r>
            <a:r>
              <a:rPr lang="en-US" sz="3699" spc="-110" strike="noStrike" u="none">
                <a:solidFill>
                  <a:srgbClr val="FFFFFF"/>
                </a:solidFill>
                <a:latin typeface="Open Sans 2"/>
                <a:ea typeface="Open Sans 2"/>
                <a:cs typeface="Open Sans 2"/>
                <a:sym typeface="Open Sans 2"/>
              </a:rPr>
              <a:t>r</a:t>
            </a:r>
            <a:r>
              <a:rPr lang="en-US" sz="3699" spc="-110" strike="noStrike" u="none">
                <a:solidFill>
                  <a:srgbClr val="FFFFFF"/>
                </a:solidFill>
                <a:latin typeface="Open Sans 2"/>
                <a:ea typeface="Open Sans 2"/>
                <a:cs typeface="Open Sans 2"/>
                <a:sym typeface="Open Sans 2"/>
              </a:rPr>
              <a:t>at</a:t>
            </a:r>
          </a:p>
          <a:p>
            <a:pPr algn="l" marL="0" indent="0" lvl="0">
              <a:lnSpc>
                <a:spcPts val="5874"/>
              </a:lnSpc>
              <a:spcBef>
                <a:spcPct val="0"/>
              </a:spcBef>
            </a:pPr>
          </a:p>
        </p:txBody>
      </p:sp>
      <p:sp>
        <p:nvSpPr>
          <p:cNvPr name="TextBox 15" id="15"/>
          <p:cNvSpPr txBox="true"/>
          <p:nvPr/>
        </p:nvSpPr>
        <p:spPr>
          <a:xfrm rot="0">
            <a:off x="6305222" y="1447800"/>
            <a:ext cx="13171834" cy="1295687"/>
          </a:xfrm>
          <a:prstGeom prst="rect">
            <a:avLst/>
          </a:prstGeom>
        </p:spPr>
        <p:txBody>
          <a:bodyPr anchor="t" rtlCol="false" tIns="0" lIns="0" bIns="0" rIns="0">
            <a:spAutoFit/>
          </a:bodyPr>
          <a:lstStyle/>
          <a:p>
            <a:pPr algn="just">
              <a:lnSpc>
                <a:spcPts val="9007"/>
              </a:lnSpc>
            </a:pPr>
            <a:r>
              <a:rPr lang="en-US" b="true" sz="11259" spc="-653">
                <a:solidFill>
                  <a:srgbClr val="FFFFFF"/>
                </a:solidFill>
                <a:latin typeface="Bricolage Grotesque Bold"/>
                <a:ea typeface="Bricolage Grotesque Bold"/>
                <a:cs typeface="Bricolage Grotesque Bold"/>
                <a:sym typeface="Bricolage Grotesque Bold"/>
              </a:rPr>
              <a:t>TUJUAN</a:t>
            </a:r>
            <a:r>
              <a:rPr lang="en-US" b="true" sz="11259" spc="-653">
                <a:solidFill>
                  <a:srgbClr val="FFFFFF"/>
                </a:solidFill>
                <a:latin typeface="Bricolage Grotesque Bold"/>
                <a:ea typeface="Bricolage Grotesque Bold"/>
                <a:cs typeface="Bricolage Grotesque Bold"/>
                <a:sym typeface="Bricolage Grotesque Bold"/>
              </a:rPr>
              <a:t> SISTEM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983568" y="-415743"/>
            <a:ext cx="16240125" cy="11118486"/>
            <a:chOff x="0" y="0"/>
            <a:chExt cx="21653500" cy="14824648"/>
          </a:xfrm>
        </p:grpSpPr>
        <p:sp>
          <p:nvSpPr>
            <p:cNvPr name="AutoShape 5" id="5"/>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7" id="7"/>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8" id="8"/>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9" id="9"/>
          <p:cNvSpPr/>
          <p:nvPr/>
        </p:nvSpPr>
        <p:spPr>
          <a:xfrm flipH="false" flipV="false" rot="0">
            <a:off x="839145" y="3067731"/>
            <a:ext cx="12741938" cy="3359238"/>
          </a:xfrm>
          <a:custGeom>
            <a:avLst/>
            <a:gdLst/>
            <a:ahLst/>
            <a:cxnLst/>
            <a:rect r="r" b="b" t="t" l="l"/>
            <a:pathLst>
              <a:path h="3359238" w="12741938">
                <a:moveTo>
                  <a:pt x="0" y="0"/>
                </a:moveTo>
                <a:lnTo>
                  <a:pt x="12741938" y="0"/>
                </a:lnTo>
                <a:lnTo>
                  <a:pt x="12741938" y="3359238"/>
                </a:lnTo>
                <a:lnTo>
                  <a:pt x="0" y="3359238"/>
                </a:lnTo>
                <a:lnTo>
                  <a:pt x="0" y="0"/>
                </a:lnTo>
                <a:close/>
              </a:path>
            </a:pathLst>
          </a:custGeom>
          <a:blipFill>
            <a:blip r:embed="rId4"/>
            <a:stretch>
              <a:fillRect l="0" t="0" r="0" b="0"/>
            </a:stretch>
          </a:blipFill>
        </p:spPr>
      </p:sp>
      <p:sp>
        <p:nvSpPr>
          <p:cNvPr name="Freeform 10" id="10"/>
          <p:cNvSpPr/>
          <p:nvPr/>
        </p:nvSpPr>
        <p:spPr>
          <a:xfrm flipH="false" flipV="false" rot="0">
            <a:off x="839145" y="7060941"/>
            <a:ext cx="12741938" cy="3359238"/>
          </a:xfrm>
          <a:custGeom>
            <a:avLst/>
            <a:gdLst/>
            <a:ahLst/>
            <a:cxnLst/>
            <a:rect r="r" b="b" t="t" l="l"/>
            <a:pathLst>
              <a:path h="3359238" w="12741938">
                <a:moveTo>
                  <a:pt x="0" y="0"/>
                </a:moveTo>
                <a:lnTo>
                  <a:pt x="12741938" y="0"/>
                </a:lnTo>
                <a:lnTo>
                  <a:pt x="12741938" y="3359238"/>
                </a:lnTo>
                <a:lnTo>
                  <a:pt x="0" y="3359238"/>
                </a:lnTo>
                <a:lnTo>
                  <a:pt x="0" y="0"/>
                </a:lnTo>
                <a:close/>
              </a:path>
            </a:pathLst>
          </a:custGeom>
          <a:blipFill>
            <a:blip r:embed="rId4"/>
            <a:stretch>
              <a:fillRect l="0" t="0" r="0" b="0"/>
            </a:stretch>
          </a:blipFill>
        </p:spPr>
      </p:sp>
      <p:grpSp>
        <p:nvGrpSpPr>
          <p:cNvPr name="Group 11" id="11"/>
          <p:cNvGrpSpPr/>
          <p:nvPr/>
        </p:nvGrpSpPr>
        <p:grpSpPr>
          <a:xfrm rot="0">
            <a:off x="3924256" y="3766954"/>
            <a:ext cx="12791025" cy="5868740"/>
            <a:chOff x="0" y="0"/>
            <a:chExt cx="3368830" cy="1545676"/>
          </a:xfrm>
        </p:grpSpPr>
        <p:sp>
          <p:nvSpPr>
            <p:cNvPr name="Freeform 12" id="12"/>
            <p:cNvSpPr/>
            <p:nvPr/>
          </p:nvSpPr>
          <p:spPr>
            <a:xfrm flipH="false" flipV="false" rot="0">
              <a:off x="0" y="0"/>
              <a:ext cx="3368830" cy="1545676"/>
            </a:xfrm>
            <a:custGeom>
              <a:avLst/>
              <a:gdLst/>
              <a:ahLst/>
              <a:cxnLst/>
              <a:rect r="r" b="b" t="t" l="l"/>
              <a:pathLst>
                <a:path h="1545676" w="3368830">
                  <a:moveTo>
                    <a:pt x="37526" y="0"/>
                  </a:moveTo>
                  <a:lnTo>
                    <a:pt x="3331303" y="0"/>
                  </a:lnTo>
                  <a:cubicBezTo>
                    <a:pt x="3352029" y="0"/>
                    <a:pt x="3368830" y="16801"/>
                    <a:pt x="3368830" y="37526"/>
                  </a:cubicBezTo>
                  <a:lnTo>
                    <a:pt x="3368830" y="1508150"/>
                  </a:lnTo>
                  <a:cubicBezTo>
                    <a:pt x="3368830" y="1518103"/>
                    <a:pt x="3364876" y="1527648"/>
                    <a:pt x="3357838" y="1534685"/>
                  </a:cubicBezTo>
                  <a:cubicBezTo>
                    <a:pt x="3350801" y="1541723"/>
                    <a:pt x="3341256" y="1545676"/>
                    <a:pt x="3331303" y="1545676"/>
                  </a:cubicBezTo>
                  <a:lnTo>
                    <a:pt x="37526" y="1545676"/>
                  </a:lnTo>
                  <a:cubicBezTo>
                    <a:pt x="27574" y="1545676"/>
                    <a:pt x="18029" y="1541723"/>
                    <a:pt x="10991" y="1534685"/>
                  </a:cubicBezTo>
                  <a:cubicBezTo>
                    <a:pt x="3954" y="1527648"/>
                    <a:pt x="0" y="1518103"/>
                    <a:pt x="0" y="1508150"/>
                  </a:cubicBezTo>
                  <a:lnTo>
                    <a:pt x="0" y="37526"/>
                  </a:lnTo>
                  <a:cubicBezTo>
                    <a:pt x="0" y="27574"/>
                    <a:pt x="3954" y="18029"/>
                    <a:pt x="10991" y="10991"/>
                  </a:cubicBezTo>
                  <a:cubicBezTo>
                    <a:pt x="18029" y="3954"/>
                    <a:pt x="27574" y="0"/>
                    <a:pt x="37526" y="0"/>
                  </a:cubicBezTo>
                  <a:close/>
                </a:path>
              </a:pathLst>
            </a:custGeom>
            <a:solidFill>
              <a:srgbClr val="FFFFFF"/>
            </a:solidFill>
            <a:ln w="19050" cap="rnd">
              <a:solidFill>
                <a:srgbClr val="320000"/>
              </a:solidFill>
              <a:prstDash val="solid"/>
              <a:round/>
            </a:ln>
          </p:spPr>
        </p:sp>
        <p:sp>
          <p:nvSpPr>
            <p:cNvPr name="TextBox 13" id="13"/>
            <p:cNvSpPr txBox="true"/>
            <p:nvPr/>
          </p:nvSpPr>
          <p:spPr>
            <a:xfrm>
              <a:off x="0" y="-38100"/>
              <a:ext cx="3368830" cy="1583776"/>
            </a:xfrm>
            <a:prstGeom prst="rect">
              <a:avLst/>
            </a:prstGeom>
          </p:spPr>
          <p:txBody>
            <a:bodyPr anchor="ctr" rtlCol="false" tIns="50800" lIns="50800" bIns="50800" rIns="50800"/>
            <a:lstStyle/>
            <a:p>
              <a:pPr algn="l">
                <a:lnSpc>
                  <a:spcPts val="2659"/>
                </a:lnSpc>
                <a:spcBef>
                  <a:spcPct val="0"/>
                </a:spcBef>
              </a:pPr>
            </a:p>
          </p:txBody>
        </p:sp>
      </p:grpSp>
      <p:sp>
        <p:nvSpPr>
          <p:cNvPr name="TextBox 14" id="14"/>
          <p:cNvSpPr txBox="true"/>
          <p:nvPr/>
        </p:nvSpPr>
        <p:spPr>
          <a:xfrm rot="0">
            <a:off x="5583796" y="1821447"/>
            <a:ext cx="17685015" cy="914410"/>
          </a:xfrm>
          <a:prstGeom prst="rect">
            <a:avLst/>
          </a:prstGeom>
        </p:spPr>
        <p:txBody>
          <a:bodyPr anchor="t" rtlCol="false" tIns="0" lIns="0" bIns="0" rIns="0">
            <a:spAutoFit/>
          </a:bodyPr>
          <a:lstStyle/>
          <a:p>
            <a:pPr algn="l">
              <a:lnSpc>
                <a:spcPts val="6800"/>
              </a:lnSpc>
            </a:pPr>
            <a:r>
              <a:rPr lang="en-US" sz="6667" spc="-386" b="true">
                <a:solidFill>
                  <a:srgbClr val="FFFFFF"/>
                </a:solidFill>
                <a:latin typeface="Bricolage Grotesque Bold"/>
                <a:ea typeface="Bricolage Grotesque Bold"/>
                <a:cs typeface="Bricolage Grotesque Bold"/>
                <a:sym typeface="Bricolage Grotesque Bold"/>
              </a:rPr>
              <a:t>RUANG LINGK</a:t>
            </a:r>
            <a:r>
              <a:rPr lang="en-US" sz="6667" spc="-386" b="true">
                <a:solidFill>
                  <a:srgbClr val="FFFFFF"/>
                </a:solidFill>
                <a:latin typeface="Bricolage Grotesque Bold"/>
                <a:ea typeface="Bricolage Grotesque Bold"/>
                <a:cs typeface="Bricolage Grotesque Bold"/>
                <a:sym typeface="Bricolage Grotesque Bold"/>
              </a:rPr>
              <a:t>UP SISTEM</a:t>
            </a:r>
          </a:p>
        </p:txBody>
      </p:sp>
      <p:sp>
        <p:nvSpPr>
          <p:cNvPr name="TextBox 15" id="15"/>
          <p:cNvSpPr txBox="true"/>
          <p:nvPr/>
        </p:nvSpPr>
        <p:spPr>
          <a:xfrm rot="0">
            <a:off x="4918167" y="4094524"/>
            <a:ext cx="12341133" cy="5541170"/>
          </a:xfrm>
          <a:prstGeom prst="rect">
            <a:avLst/>
          </a:prstGeom>
        </p:spPr>
        <p:txBody>
          <a:bodyPr anchor="t" rtlCol="false" tIns="0" lIns="0" bIns="0" rIns="0">
            <a:spAutoFit/>
          </a:bodyPr>
          <a:lstStyle/>
          <a:p>
            <a:pPr algn="l" marL="0" indent="0" lvl="0">
              <a:lnSpc>
                <a:spcPts val="6146"/>
              </a:lnSpc>
              <a:spcBef>
                <a:spcPct val="0"/>
              </a:spcBef>
            </a:pPr>
            <a:r>
              <a:rPr lang="en-US" sz="4917" spc="-147">
                <a:solidFill>
                  <a:srgbClr val="320000"/>
                </a:solidFill>
                <a:latin typeface="Open Sans 2"/>
                <a:ea typeface="Open Sans 2"/>
                <a:cs typeface="Open Sans 2"/>
                <a:sym typeface="Open Sans 2"/>
              </a:rPr>
              <a:t>Ruang lingkup</a:t>
            </a:r>
            <a:r>
              <a:rPr lang="en-US" sz="4917" spc="-147" strike="noStrike" u="none">
                <a:solidFill>
                  <a:srgbClr val="320000"/>
                </a:solidFill>
                <a:latin typeface="Open Sans 2"/>
                <a:ea typeface="Open Sans 2"/>
                <a:cs typeface="Open Sans 2"/>
                <a:sym typeface="Open Sans 2"/>
              </a:rPr>
              <a:t> sistem di</a:t>
            </a:r>
            <a:r>
              <a:rPr lang="en-US" sz="4917" spc="-147" strike="noStrike" u="none">
                <a:solidFill>
                  <a:srgbClr val="320000"/>
                </a:solidFill>
                <a:latin typeface="Open Sans 2"/>
                <a:ea typeface="Open Sans 2"/>
                <a:cs typeface="Open Sans 2"/>
                <a:sym typeface="Open Sans 2"/>
              </a:rPr>
              <a:t>b</a:t>
            </a:r>
            <a:r>
              <a:rPr lang="en-US" sz="4917" spc="-147" strike="noStrike" u="none">
                <a:solidFill>
                  <a:srgbClr val="320000"/>
                </a:solidFill>
                <a:latin typeface="Open Sans 2"/>
                <a:ea typeface="Open Sans 2"/>
                <a:cs typeface="Open Sans 2"/>
                <a:sym typeface="Open Sans 2"/>
              </a:rPr>
              <a:t>a</a:t>
            </a:r>
            <a:r>
              <a:rPr lang="en-US" sz="4917" spc="-147" strike="noStrike" u="none">
                <a:solidFill>
                  <a:srgbClr val="320000"/>
                </a:solidFill>
                <a:latin typeface="Open Sans 2"/>
                <a:ea typeface="Open Sans 2"/>
                <a:cs typeface="Open Sans 2"/>
                <a:sym typeface="Open Sans 2"/>
              </a:rPr>
              <a:t>t</a:t>
            </a:r>
            <a:r>
              <a:rPr lang="en-US" sz="4917" spc="-147" strike="noStrike" u="none">
                <a:solidFill>
                  <a:srgbClr val="320000"/>
                </a:solidFill>
                <a:latin typeface="Open Sans 2"/>
                <a:ea typeface="Open Sans 2"/>
                <a:cs typeface="Open Sans 2"/>
                <a:sym typeface="Open Sans 2"/>
              </a:rPr>
              <a:t>asi p</a:t>
            </a:r>
            <a:r>
              <a:rPr lang="en-US" sz="4917" spc="-147" strike="noStrike" u="none">
                <a:solidFill>
                  <a:srgbClr val="320000"/>
                </a:solidFill>
                <a:latin typeface="Open Sans 2"/>
                <a:ea typeface="Open Sans 2"/>
                <a:cs typeface="Open Sans 2"/>
                <a:sym typeface="Open Sans 2"/>
              </a:rPr>
              <a:t>ada:</a:t>
            </a:r>
          </a:p>
          <a:p>
            <a:pPr algn="l" marL="1061670" indent="-530835" lvl="1">
              <a:lnSpc>
                <a:spcPts val="6146"/>
              </a:lnSpc>
              <a:spcBef>
                <a:spcPct val="0"/>
              </a:spcBef>
              <a:buFont typeface="Arial"/>
              <a:buChar char="•"/>
            </a:pPr>
            <a:r>
              <a:rPr lang="en-US" sz="4917" spc="-147" strike="noStrike" u="none">
                <a:solidFill>
                  <a:srgbClr val="320000"/>
                </a:solidFill>
                <a:latin typeface="Open Sans 2"/>
                <a:ea typeface="Open Sans 2"/>
                <a:cs typeface="Open Sans 2"/>
                <a:sym typeface="Open Sans 2"/>
              </a:rPr>
              <a:t>P</a:t>
            </a:r>
            <a:r>
              <a:rPr lang="en-US" sz="4917" spc="-147" strike="noStrike" u="none">
                <a:solidFill>
                  <a:srgbClr val="320000"/>
                </a:solidFill>
                <a:latin typeface="Open Sans 2"/>
                <a:ea typeface="Open Sans 2"/>
                <a:cs typeface="Open Sans 2"/>
                <a:sym typeface="Open Sans 2"/>
              </a:rPr>
              <a:t>emesanan produk beads jewelry</a:t>
            </a:r>
          </a:p>
          <a:p>
            <a:pPr algn="l" marL="1061670" indent="-530835" lvl="1">
              <a:lnSpc>
                <a:spcPts val="6146"/>
              </a:lnSpc>
              <a:spcBef>
                <a:spcPct val="0"/>
              </a:spcBef>
              <a:buFont typeface="Arial"/>
              <a:buChar char="•"/>
            </a:pPr>
            <a:r>
              <a:rPr lang="en-US" sz="4917" spc="-147" strike="noStrike" u="none">
                <a:solidFill>
                  <a:srgbClr val="320000"/>
                </a:solidFill>
                <a:latin typeface="Open Sans 2"/>
                <a:ea typeface="Open Sans 2"/>
                <a:cs typeface="Open Sans 2"/>
                <a:sym typeface="Open Sans 2"/>
              </a:rPr>
              <a:t>L</a:t>
            </a:r>
            <a:r>
              <a:rPr lang="en-US" sz="4917" spc="-147" strike="noStrike" u="none">
                <a:solidFill>
                  <a:srgbClr val="320000"/>
                </a:solidFill>
                <a:latin typeface="Open Sans 2"/>
                <a:ea typeface="Open Sans 2"/>
                <a:cs typeface="Open Sans 2"/>
                <a:sym typeface="Open Sans 2"/>
              </a:rPr>
              <a:t>a</a:t>
            </a:r>
            <a:r>
              <a:rPr lang="en-US" sz="4917" spc="-147" strike="noStrike" u="none">
                <a:solidFill>
                  <a:srgbClr val="320000"/>
                </a:solidFill>
                <a:latin typeface="Open Sans 2"/>
                <a:ea typeface="Open Sans 2"/>
                <a:cs typeface="Open Sans 2"/>
                <a:sym typeface="Open Sans 2"/>
              </a:rPr>
              <a:t>y</a:t>
            </a:r>
            <a:r>
              <a:rPr lang="en-US" sz="4917" spc="-147" strike="noStrike" u="none">
                <a:solidFill>
                  <a:srgbClr val="320000"/>
                </a:solidFill>
                <a:latin typeface="Open Sans 2"/>
                <a:ea typeface="Open Sans 2"/>
                <a:cs typeface="Open Sans 2"/>
                <a:sym typeface="Open Sans 2"/>
              </a:rPr>
              <a:t>anan custom pr</a:t>
            </a:r>
            <a:r>
              <a:rPr lang="en-US" sz="4917" spc="-147" strike="noStrike" u="none">
                <a:solidFill>
                  <a:srgbClr val="320000"/>
                </a:solidFill>
                <a:latin typeface="Open Sans 2"/>
                <a:ea typeface="Open Sans 2"/>
                <a:cs typeface="Open Sans 2"/>
                <a:sym typeface="Open Sans 2"/>
              </a:rPr>
              <a:t>od</a:t>
            </a:r>
            <a:r>
              <a:rPr lang="en-US" sz="4917" spc="-147" strike="noStrike" u="none">
                <a:solidFill>
                  <a:srgbClr val="320000"/>
                </a:solidFill>
                <a:latin typeface="Open Sans 2"/>
                <a:ea typeface="Open Sans 2"/>
                <a:cs typeface="Open Sans 2"/>
                <a:sym typeface="Open Sans 2"/>
              </a:rPr>
              <a:t>uk</a:t>
            </a:r>
          </a:p>
          <a:p>
            <a:pPr algn="l" marL="1061670" indent="-530835" lvl="1">
              <a:lnSpc>
                <a:spcPts val="6146"/>
              </a:lnSpc>
              <a:spcBef>
                <a:spcPct val="0"/>
              </a:spcBef>
              <a:buFont typeface="Arial"/>
              <a:buChar char="•"/>
            </a:pPr>
            <a:r>
              <a:rPr lang="en-US" sz="4917" spc="-147" strike="noStrike" u="none">
                <a:solidFill>
                  <a:srgbClr val="320000"/>
                </a:solidFill>
                <a:latin typeface="Open Sans 2"/>
                <a:ea typeface="Open Sans 2"/>
                <a:cs typeface="Open Sans 2"/>
                <a:sym typeface="Open Sans 2"/>
              </a:rPr>
              <a:t>Ma</a:t>
            </a:r>
            <a:r>
              <a:rPr lang="en-US" sz="4917" spc="-147" strike="noStrike" u="none">
                <a:solidFill>
                  <a:srgbClr val="320000"/>
                </a:solidFill>
                <a:latin typeface="Open Sans 2"/>
                <a:ea typeface="Open Sans 2"/>
                <a:cs typeface="Open Sans 2"/>
                <a:sym typeface="Open Sans 2"/>
              </a:rPr>
              <a:t>n</a:t>
            </a:r>
            <a:r>
              <a:rPr lang="en-US" sz="4917" spc="-147" strike="noStrike" u="none">
                <a:solidFill>
                  <a:srgbClr val="320000"/>
                </a:solidFill>
                <a:latin typeface="Open Sans 2"/>
                <a:ea typeface="Open Sans 2"/>
                <a:cs typeface="Open Sans 2"/>
                <a:sym typeface="Open Sans 2"/>
              </a:rPr>
              <a:t>a</a:t>
            </a:r>
            <a:r>
              <a:rPr lang="en-US" sz="4917" spc="-147" strike="noStrike" u="none">
                <a:solidFill>
                  <a:srgbClr val="320000"/>
                </a:solidFill>
                <a:latin typeface="Open Sans 2"/>
                <a:ea typeface="Open Sans 2"/>
                <a:cs typeface="Open Sans 2"/>
                <a:sym typeface="Open Sans 2"/>
              </a:rPr>
              <a:t>j</a:t>
            </a:r>
            <a:r>
              <a:rPr lang="en-US" sz="4917" spc="-147" strike="noStrike" u="none">
                <a:solidFill>
                  <a:srgbClr val="320000"/>
                </a:solidFill>
                <a:latin typeface="Open Sans 2"/>
                <a:ea typeface="Open Sans 2"/>
                <a:cs typeface="Open Sans 2"/>
                <a:sym typeface="Open Sans 2"/>
              </a:rPr>
              <a:t>emen stok bahan beads</a:t>
            </a:r>
          </a:p>
          <a:p>
            <a:pPr algn="l" marL="1061670" indent="-530835" lvl="1">
              <a:lnSpc>
                <a:spcPts val="6146"/>
              </a:lnSpc>
              <a:spcBef>
                <a:spcPct val="0"/>
              </a:spcBef>
              <a:buFont typeface="Arial"/>
              <a:buChar char="•"/>
            </a:pPr>
            <a:r>
              <a:rPr lang="en-US" sz="4917" spc="-147" strike="noStrike" u="none">
                <a:solidFill>
                  <a:srgbClr val="320000"/>
                </a:solidFill>
                <a:latin typeface="Open Sans 2"/>
                <a:ea typeface="Open Sans 2"/>
                <a:cs typeface="Open Sans 2"/>
                <a:sym typeface="Open Sans 2"/>
              </a:rPr>
              <a:t>M</a:t>
            </a:r>
            <a:r>
              <a:rPr lang="en-US" sz="4917" spc="-147" strike="noStrike" u="none">
                <a:solidFill>
                  <a:srgbClr val="320000"/>
                </a:solidFill>
                <a:latin typeface="Open Sans 2"/>
                <a:ea typeface="Open Sans 2"/>
                <a:cs typeface="Open Sans 2"/>
                <a:sym typeface="Open Sans 2"/>
              </a:rPr>
              <a:t>anajemen pesanan dan pembayaran</a:t>
            </a:r>
          </a:p>
          <a:p>
            <a:pPr algn="l" marL="1061670" indent="-530835" lvl="1">
              <a:lnSpc>
                <a:spcPts val="6146"/>
              </a:lnSpc>
              <a:spcBef>
                <a:spcPct val="0"/>
              </a:spcBef>
              <a:buFont typeface="Arial"/>
              <a:buChar char="•"/>
            </a:pPr>
            <a:r>
              <a:rPr lang="en-US" sz="4917" spc="-147" strike="noStrike" u="none">
                <a:solidFill>
                  <a:srgbClr val="320000"/>
                </a:solidFill>
                <a:latin typeface="Open Sans 2"/>
                <a:ea typeface="Open Sans 2"/>
                <a:cs typeface="Open Sans 2"/>
                <a:sym typeface="Open Sans 2"/>
              </a:rPr>
              <a:t>Laporan keuangan UMKM</a:t>
            </a:r>
          </a:p>
          <a:p>
            <a:pPr algn="l" marL="0" indent="0" lvl="0">
              <a:lnSpc>
                <a:spcPts val="7352"/>
              </a:lnSpc>
              <a:spcBef>
                <a:spcPct val="0"/>
              </a:spcBef>
            </a:pPr>
          </a:p>
        </p:txBody>
      </p:sp>
      <p:grpSp>
        <p:nvGrpSpPr>
          <p:cNvPr name="Group 16" id="16"/>
          <p:cNvGrpSpPr/>
          <p:nvPr/>
        </p:nvGrpSpPr>
        <p:grpSpPr>
          <a:xfrm rot="0">
            <a:off x="-663646" y="-268574"/>
            <a:ext cx="5539308" cy="10688754"/>
            <a:chOff x="0" y="0"/>
            <a:chExt cx="839945" cy="1620774"/>
          </a:xfrm>
        </p:grpSpPr>
        <p:sp>
          <p:nvSpPr>
            <p:cNvPr name="Freeform 17" id="17"/>
            <p:cNvSpPr/>
            <p:nvPr/>
          </p:nvSpPr>
          <p:spPr>
            <a:xfrm flipH="false" flipV="false" rot="0">
              <a:off x="0" y="0"/>
              <a:ext cx="839945" cy="1620774"/>
            </a:xfrm>
            <a:custGeom>
              <a:avLst/>
              <a:gdLst/>
              <a:ahLst/>
              <a:cxnLst/>
              <a:rect r="r" b="b" t="t" l="l"/>
              <a:pathLst>
                <a:path h="1620774" w="839945">
                  <a:moveTo>
                    <a:pt x="0" y="0"/>
                  </a:moveTo>
                  <a:lnTo>
                    <a:pt x="839945" y="0"/>
                  </a:lnTo>
                  <a:lnTo>
                    <a:pt x="839945" y="1620774"/>
                  </a:lnTo>
                  <a:lnTo>
                    <a:pt x="0" y="1620774"/>
                  </a:lnTo>
                  <a:close/>
                </a:path>
              </a:pathLst>
            </a:custGeom>
            <a:blipFill>
              <a:blip r:embed="rId5">
                <a:alphaModFix amt="40000"/>
              </a:blip>
              <a:stretch>
                <a:fillRect l="-3845" t="0" r="-3845" b="0"/>
              </a:stretch>
            </a:blipFill>
            <a:ln cap="sq">
              <a:noFill/>
              <a:prstDash val="solid"/>
              <a:miter/>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991217" y="-1107068"/>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979062" y="8099454"/>
            <a:ext cx="7252280" cy="1911965"/>
          </a:xfrm>
          <a:custGeom>
            <a:avLst/>
            <a:gdLst/>
            <a:ahLst/>
            <a:cxnLst/>
            <a:rect r="r" b="b" t="t" l="l"/>
            <a:pathLst>
              <a:path h="1911965" w="7252280">
                <a:moveTo>
                  <a:pt x="0" y="0"/>
                </a:moveTo>
                <a:lnTo>
                  <a:pt x="7252280" y="0"/>
                </a:lnTo>
                <a:lnTo>
                  <a:pt x="7252280" y="1911965"/>
                </a:lnTo>
                <a:lnTo>
                  <a:pt x="0" y="1911965"/>
                </a:lnTo>
                <a:lnTo>
                  <a:pt x="0" y="0"/>
                </a:lnTo>
                <a:close/>
              </a:path>
            </a:pathLst>
          </a:custGeom>
          <a:blipFill>
            <a:blip r:embed="rId4"/>
            <a:stretch>
              <a:fillRect l="0" t="0" r="0" b="0"/>
            </a:stretch>
          </a:blipFill>
        </p:spPr>
      </p:sp>
      <p:sp>
        <p:nvSpPr>
          <p:cNvPr name="Freeform 10" id="10"/>
          <p:cNvSpPr/>
          <p:nvPr/>
        </p:nvSpPr>
        <p:spPr>
          <a:xfrm flipH="false" flipV="false" rot="0">
            <a:off x="9979062" y="6035218"/>
            <a:ext cx="7252280" cy="1911965"/>
          </a:xfrm>
          <a:custGeom>
            <a:avLst/>
            <a:gdLst/>
            <a:ahLst/>
            <a:cxnLst/>
            <a:rect r="r" b="b" t="t" l="l"/>
            <a:pathLst>
              <a:path h="1911965" w="7252280">
                <a:moveTo>
                  <a:pt x="0" y="0"/>
                </a:moveTo>
                <a:lnTo>
                  <a:pt x="7252280" y="0"/>
                </a:lnTo>
                <a:lnTo>
                  <a:pt x="7252280" y="1911965"/>
                </a:lnTo>
                <a:lnTo>
                  <a:pt x="0" y="1911965"/>
                </a:lnTo>
                <a:lnTo>
                  <a:pt x="0" y="0"/>
                </a:lnTo>
                <a:close/>
              </a:path>
            </a:pathLst>
          </a:custGeom>
          <a:blipFill>
            <a:blip r:embed="rId4"/>
            <a:stretch>
              <a:fillRect l="0" t="0" r="0" b="0"/>
            </a:stretch>
          </a:blipFill>
        </p:spPr>
      </p:sp>
      <p:sp>
        <p:nvSpPr>
          <p:cNvPr name="TextBox 11" id="11"/>
          <p:cNvSpPr txBox="true"/>
          <p:nvPr/>
        </p:nvSpPr>
        <p:spPr>
          <a:xfrm rot="0">
            <a:off x="1863762" y="1644782"/>
            <a:ext cx="16230600" cy="1009555"/>
          </a:xfrm>
          <a:prstGeom prst="rect">
            <a:avLst/>
          </a:prstGeom>
        </p:spPr>
        <p:txBody>
          <a:bodyPr anchor="t" rtlCol="false" tIns="0" lIns="0" bIns="0" rIns="0">
            <a:spAutoFit/>
          </a:bodyPr>
          <a:lstStyle/>
          <a:p>
            <a:pPr algn="just" marL="0" indent="0" lvl="0">
              <a:lnSpc>
                <a:spcPts val="7379"/>
              </a:lnSpc>
              <a:spcBef>
                <a:spcPct val="0"/>
              </a:spcBef>
            </a:pPr>
            <a:r>
              <a:rPr lang="en-US" b="true" sz="8291" spc="-480">
                <a:solidFill>
                  <a:srgbClr val="FFFFFF"/>
                </a:solidFill>
                <a:latin typeface="Bricolage Grotesque Bold"/>
                <a:ea typeface="Bricolage Grotesque Bold"/>
                <a:cs typeface="Bricolage Grotesque Bold"/>
                <a:sym typeface="Bricolage Grotesque Bold"/>
              </a:rPr>
              <a:t>METODOLOGI PENGEMBANGAN</a:t>
            </a:r>
          </a:p>
        </p:txBody>
      </p:sp>
      <p:grpSp>
        <p:nvGrpSpPr>
          <p:cNvPr name="Group 12" id="12"/>
          <p:cNvGrpSpPr/>
          <p:nvPr/>
        </p:nvGrpSpPr>
        <p:grpSpPr>
          <a:xfrm rot="0">
            <a:off x="1506166" y="3115056"/>
            <a:ext cx="15275668" cy="6592510"/>
            <a:chOff x="0" y="0"/>
            <a:chExt cx="5749802" cy="2481438"/>
          </a:xfrm>
        </p:grpSpPr>
        <p:sp>
          <p:nvSpPr>
            <p:cNvPr name="Freeform 13" id="13"/>
            <p:cNvSpPr/>
            <p:nvPr/>
          </p:nvSpPr>
          <p:spPr>
            <a:xfrm flipH="false" flipV="false" rot="0">
              <a:off x="0" y="0"/>
              <a:ext cx="5749802" cy="2481438"/>
            </a:xfrm>
            <a:custGeom>
              <a:avLst/>
              <a:gdLst/>
              <a:ahLst/>
              <a:cxnLst/>
              <a:rect r="r" b="b" t="t" l="l"/>
              <a:pathLst>
                <a:path h="2481438" w="5749802">
                  <a:moveTo>
                    <a:pt x="17738" y="0"/>
                  </a:moveTo>
                  <a:lnTo>
                    <a:pt x="5732064" y="0"/>
                  </a:lnTo>
                  <a:cubicBezTo>
                    <a:pt x="5736768" y="0"/>
                    <a:pt x="5741280" y="1869"/>
                    <a:pt x="5744607" y="5195"/>
                  </a:cubicBezTo>
                  <a:cubicBezTo>
                    <a:pt x="5747933" y="8522"/>
                    <a:pt x="5749802" y="13034"/>
                    <a:pt x="5749802" y="17738"/>
                  </a:cubicBezTo>
                  <a:lnTo>
                    <a:pt x="5749802" y="2463700"/>
                  </a:lnTo>
                  <a:cubicBezTo>
                    <a:pt x="5749802" y="2473497"/>
                    <a:pt x="5741860" y="2481438"/>
                    <a:pt x="5732064" y="2481438"/>
                  </a:cubicBezTo>
                  <a:lnTo>
                    <a:pt x="17738" y="2481438"/>
                  </a:lnTo>
                  <a:cubicBezTo>
                    <a:pt x="13034" y="2481438"/>
                    <a:pt x="8522" y="2479569"/>
                    <a:pt x="5195" y="2476243"/>
                  </a:cubicBezTo>
                  <a:cubicBezTo>
                    <a:pt x="1869" y="2472916"/>
                    <a:pt x="0" y="2468404"/>
                    <a:pt x="0" y="2463700"/>
                  </a:cubicBezTo>
                  <a:lnTo>
                    <a:pt x="0" y="17738"/>
                  </a:lnTo>
                  <a:cubicBezTo>
                    <a:pt x="0" y="13034"/>
                    <a:pt x="1869" y="8522"/>
                    <a:pt x="5195" y="5195"/>
                  </a:cubicBezTo>
                  <a:cubicBezTo>
                    <a:pt x="8522" y="1869"/>
                    <a:pt x="13034" y="0"/>
                    <a:pt x="17738" y="0"/>
                  </a:cubicBezTo>
                  <a:close/>
                </a:path>
              </a:pathLst>
            </a:custGeom>
            <a:gradFill rotWithShape="true">
              <a:gsLst>
                <a:gs pos="0">
                  <a:srgbClr val="FFFFFF">
                    <a:alpha val="10500"/>
                  </a:srgbClr>
                </a:gs>
                <a:gs pos="25000">
                  <a:srgbClr val="FFFFFF">
                    <a:alpha val="20000"/>
                  </a:srgbClr>
                </a:gs>
                <a:gs pos="50000">
                  <a:srgbClr val="FFFFFF">
                    <a:alpha val="10000"/>
                  </a:srgbClr>
                </a:gs>
                <a:gs pos="75000">
                  <a:srgbClr val="FFFFFF">
                    <a:alpha val="20000"/>
                  </a:srgbClr>
                </a:gs>
                <a:gs pos="100000">
                  <a:srgbClr val="FFFFFF">
                    <a:alpha val="10000"/>
                  </a:srgbClr>
                </a:gs>
              </a:gsLst>
              <a:lin ang="2700000"/>
            </a:gra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76200"/>
              <a:ext cx="5749802" cy="2405238"/>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2152597" y="3892319"/>
            <a:ext cx="13917365" cy="5018934"/>
          </a:xfrm>
          <a:prstGeom prst="rect">
            <a:avLst/>
          </a:prstGeom>
        </p:spPr>
        <p:txBody>
          <a:bodyPr anchor="t" rtlCol="false" tIns="0" lIns="0" bIns="0" rIns="0">
            <a:spAutoFit/>
          </a:bodyPr>
          <a:lstStyle/>
          <a:p>
            <a:pPr algn="just" marL="0" indent="0" lvl="0">
              <a:lnSpc>
                <a:spcPts val="5616"/>
              </a:lnSpc>
              <a:spcBef>
                <a:spcPct val="0"/>
              </a:spcBef>
            </a:pPr>
            <a:r>
              <a:rPr lang="en-US" sz="4492" spc="-134">
                <a:solidFill>
                  <a:srgbClr val="FFFFFF"/>
                </a:solidFill>
                <a:latin typeface="Open Sans 2"/>
                <a:ea typeface="Open Sans 2"/>
                <a:cs typeface="Open Sans 2"/>
                <a:sym typeface="Open Sans 2"/>
              </a:rPr>
              <a:t>Met</a:t>
            </a:r>
            <a:r>
              <a:rPr lang="en-US" sz="4492" spc="-134" strike="noStrike" u="none">
                <a:solidFill>
                  <a:srgbClr val="FFFFFF"/>
                </a:solidFill>
                <a:latin typeface="Open Sans 2"/>
                <a:ea typeface="Open Sans 2"/>
                <a:cs typeface="Open Sans 2"/>
                <a:sym typeface="Open Sans 2"/>
              </a:rPr>
              <a:t>ode pengembangan yang digunakan adalah Software Development Life Cycle (SDLC), yang terdiri dari:</a:t>
            </a:r>
          </a:p>
          <a:p>
            <a:pPr algn="just" marL="0" indent="0" lvl="0">
              <a:lnSpc>
                <a:spcPts val="5616"/>
              </a:lnSpc>
              <a:spcBef>
                <a:spcPct val="0"/>
              </a:spcBef>
            </a:pPr>
            <a:r>
              <a:rPr lang="en-US" sz="4492" spc="-134" strike="noStrike" u="none">
                <a:solidFill>
                  <a:srgbClr val="FFFFFF"/>
                </a:solidFill>
                <a:latin typeface="Open Sans 2"/>
                <a:ea typeface="Open Sans 2"/>
                <a:cs typeface="Open Sans 2"/>
                <a:sym typeface="Open Sans 2"/>
              </a:rPr>
              <a:t>Perencanaan, Analisis, Desain, Pengembangan, Pengujian, Implementasi, dan Pemeliharaan.</a:t>
            </a:r>
          </a:p>
          <a:p>
            <a:pPr algn="just" marL="0" indent="0" lvl="0">
              <a:lnSpc>
                <a:spcPts val="5925"/>
              </a:lnSpc>
              <a:spcBef>
                <a:spcPct val="0"/>
              </a:spcBef>
            </a:pPr>
            <a:r>
              <a:rPr lang="en-US" sz="4740" spc="-142" strike="noStrike" u="none">
                <a:solidFill>
                  <a:srgbClr val="FFFFFF"/>
                </a:solidFill>
                <a:latin typeface="Open Sans 2"/>
                <a:ea typeface="Open Sans 2"/>
                <a:cs typeface="Open Sans 2"/>
                <a:sym typeface="Open Sans 2"/>
              </a:rPr>
              <a:t>Metode ini dipilih karena memberikan </a:t>
            </a:r>
            <a:r>
              <a:rPr lang="en-US" sz="4740" spc="-142" strike="noStrike" u="none">
                <a:solidFill>
                  <a:srgbClr val="FFFFFF"/>
                </a:solidFill>
                <a:latin typeface="Open Sans 2"/>
                <a:ea typeface="Open Sans 2"/>
                <a:cs typeface="Open Sans 2"/>
                <a:sym typeface="Open Sans 2"/>
              </a:rPr>
              <a:t>al</a:t>
            </a:r>
            <a:r>
              <a:rPr lang="en-US" sz="4740" spc="-142" strike="noStrike" u="none">
                <a:solidFill>
                  <a:srgbClr val="FFFFFF"/>
                </a:solidFill>
                <a:latin typeface="Open Sans 2"/>
                <a:ea typeface="Open Sans 2"/>
                <a:cs typeface="Open Sans 2"/>
                <a:sym typeface="Open Sans 2"/>
              </a:rPr>
              <a:t>u</a:t>
            </a:r>
            <a:r>
              <a:rPr lang="en-US" sz="4740" spc="-142" strike="noStrike" u="none">
                <a:solidFill>
                  <a:srgbClr val="FFFFFF"/>
                </a:solidFill>
                <a:latin typeface="Open Sans 2"/>
                <a:ea typeface="Open Sans 2"/>
                <a:cs typeface="Open Sans 2"/>
                <a:sym typeface="Open Sans 2"/>
              </a:rPr>
              <a:t>r</a:t>
            </a:r>
            <a:r>
              <a:rPr lang="en-US" sz="4740" spc="-142" strike="noStrike" u="none">
                <a:solidFill>
                  <a:srgbClr val="FFFFFF"/>
                </a:solidFill>
                <a:latin typeface="Open Sans 2"/>
                <a:ea typeface="Open Sans 2"/>
                <a:cs typeface="Open Sans 2"/>
                <a:sym typeface="Open Sans 2"/>
              </a:rPr>
              <a:t> </a:t>
            </a:r>
            <a:r>
              <a:rPr lang="en-US" sz="4740" spc="-142" strike="noStrike" u="none">
                <a:solidFill>
                  <a:srgbClr val="FFFFFF"/>
                </a:solidFill>
                <a:latin typeface="Open Sans 2"/>
                <a:ea typeface="Open Sans 2"/>
                <a:cs typeface="Open Sans 2"/>
                <a:sym typeface="Open Sans 2"/>
              </a:rPr>
              <a:t>kerj</a:t>
            </a:r>
            <a:r>
              <a:rPr lang="en-US" sz="4740" spc="-142" strike="noStrike" u="none">
                <a:solidFill>
                  <a:srgbClr val="FFFFFF"/>
                </a:solidFill>
                <a:latin typeface="Open Sans 2"/>
                <a:ea typeface="Open Sans 2"/>
                <a:cs typeface="Open Sans 2"/>
                <a:sym typeface="Open Sans 2"/>
              </a:rPr>
              <a:t>a</a:t>
            </a:r>
            <a:r>
              <a:rPr lang="en-US" sz="4740" spc="-142" strike="noStrike" u="none">
                <a:solidFill>
                  <a:srgbClr val="FFFFFF"/>
                </a:solidFill>
                <a:latin typeface="Open Sans 2"/>
                <a:ea typeface="Open Sans 2"/>
                <a:cs typeface="Open Sans 2"/>
                <a:sym typeface="Open Sans 2"/>
              </a:rPr>
              <a:t> yang </a:t>
            </a:r>
            <a:r>
              <a:rPr lang="en-US" sz="4740" spc="-142" strike="noStrike" u="none">
                <a:solidFill>
                  <a:srgbClr val="FFFFFF"/>
                </a:solidFill>
                <a:latin typeface="Open Sans 2"/>
                <a:ea typeface="Open Sans 2"/>
                <a:cs typeface="Open Sans 2"/>
                <a:sym typeface="Open Sans 2"/>
              </a:rPr>
              <a:t>te</a:t>
            </a:r>
            <a:r>
              <a:rPr lang="en-US" sz="4740" spc="-142" strike="noStrike" u="none">
                <a:solidFill>
                  <a:srgbClr val="FFFFFF"/>
                </a:solidFill>
                <a:latin typeface="Open Sans 2"/>
                <a:ea typeface="Open Sans 2"/>
                <a:cs typeface="Open Sans 2"/>
                <a:sym typeface="Open Sans 2"/>
              </a:rPr>
              <a:t>rst</a:t>
            </a:r>
            <a:r>
              <a:rPr lang="en-US" sz="4740" spc="-142" strike="noStrike" u="none">
                <a:solidFill>
                  <a:srgbClr val="FFFFFF"/>
                </a:solidFill>
                <a:latin typeface="Open Sans 2"/>
                <a:ea typeface="Open Sans 2"/>
                <a:cs typeface="Open Sans 2"/>
                <a:sym typeface="Open Sans 2"/>
              </a:rPr>
              <a:t>ru</a:t>
            </a:r>
            <a:r>
              <a:rPr lang="en-US" sz="4740" spc="-142" strike="noStrike" u="none">
                <a:solidFill>
                  <a:srgbClr val="FFFFFF"/>
                </a:solidFill>
                <a:latin typeface="Open Sans 2"/>
                <a:ea typeface="Open Sans 2"/>
                <a:cs typeface="Open Sans 2"/>
                <a:sym typeface="Open Sans 2"/>
              </a:rPr>
              <a:t>ktu</a:t>
            </a:r>
            <a:r>
              <a:rPr lang="en-US" sz="4740" spc="-142" strike="noStrike" u="none">
                <a:solidFill>
                  <a:srgbClr val="FFFFFF"/>
                </a:solidFill>
                <a:latin typeface="Open Sans 2"/>
                <a:ea typeface="Open Sans 2"/>
                <a:cs typeface="Open Sans 2"/>
                <a:sym typeface="Open Sans 2"/>
              </a:rPr>
              <a:t>r d</a:t>
            </a:r>
            <a:r>
              <a:rPr lang="en-US" sz="4740" spc="-142" strike="noStrike" u="none">
                <a:solidFill>
                  <a:srgbClr val="FFFFFF"/>
                </a:solidFill>
                <a:latin typeface="Open Sans 2"/>
                <a:ea typeface="Open Sans 2"/>
                <a:cs typeface="Open Sans 2"/>
                <a:sym typeface="Open Sans 2"/>
              </a:rPr>
              <a:t>a</a:t>
            </a:r>
            <a:r>
              <a:rPr lang="en-US" sz="4740" spc="-142" strike="noStrike" u="none">
                <a:solidFill>
                  <a:srgbClr val="FFFFFF"/>
                </a:solidFill>
                <a:latin typeface="Open Sans 2"/>
                <a:ea typeface="Open Sans 2"/>
                <a:cs typeface="Open Sans 2"/>
                <a:sym typeface="Open Sans 2"/>
              </a:rPr>
              <a:t>n </a:t>
            </a:r>
            <a:r>
              <a:rPr lang="en-US" sz="4740" spc="-142" strike="noStrike" u="none">
                <a:solidFill>
                  <a:srgbClr val="FFFFFF"/>
                </a:solidFill>
                <a:latin typeface="Open Sans 2"/>
                <a:ea typeface="Open Sans 2"/>
                <a:cs typeface="Open Sans 2"/>
                <a:sym typeface="Open Sans 2"/>
              </a:rPr>
              <a:t>t</a:t>
            </a:r>
            <a:r>
              <a:rPr lang="en-US" sz="4740" spc="-142" strike="noStrike" u="none">
                <a:solidFill>
                  <a:srgbClr val="FFFFFF"/>
                </a:solidFill>
                <a:latin typeface="Open Sans 2"/>
                <a:ea typeface="Open Sans 2"/>
                <a:cs typeface="Open Sans 2"/>
                <a:sym typeface="Open Sans 2"/>
              </a:rPr>
              <a:t>erdo</a:t>
            </a:r>
            <a:r>
              <a:rPr lang="en-US" sz="4740" spc="-142" strike="noStrike" u="none">
                <a:solidFill>
                  <a:srgbClr val="FFFFFF"/>
                </a:solidFill>
                <a:latin typeface="Open Sans 2"/>
                <a:ea typeface="Open Sans 2"/>
                <a:cs typeface="Open Sans 2"/>
                <a:sym typeface="Open Sans 2"/>
              </a:rPr>
              <a:t>k</a:t>
            </a:r>
            <a:r>
              <a:rPr lang="en-US" sz="4740" spc="-142" strike="noStrike" u="none">
                <a:solidFill>
                  <a:srgbClr val="FFFFFF"/>
                </a:solidFill>
                <a:latin typeface="Open Sans 2"/>
                <a:ea typeface="Open Sans 2"/>
                <a:cs typeface="Open Sans 2"/>
                <a:sym typeface="Open Sans 2"/>
              </a:rPr>
              <a:t>u</a:t>
            </a:r>
            <a:r>
              <a:rPr lang="en-US" sz="4740" spc="-142" strike="noStrike" u="none">
                <a:solidFill>
                  <a:srgbClr val="FFFFFF"/>
                </a:solidFill>
                <a:latin typeface="Open Sans 2"/>
                <a:ea typeface="Open Sans 2"/>
                <a:cs typeface="Open Sans 2"/>
                <a:sym typeface="Open Sans 2"/>
              </a:rPr>
              <a:t>m</a:t>
            </a:r>
            <a:r>
              <a:rPr lang="en-US" sz="4740" spc="-142" strike="noStrike" u="none">
                <a:solidFill>
                  <a:srgbClr val="FFFFFF"/>
                </a:solidFill>
                <a:latin typeface="Open Sans 2"/>
                <a:ea typeface="Open Sans 2"/>
                <a:cs typeface="Open Sans 2"/>
                <a:sym typeface="Open Sans 2"/>
              </a:rPr>
              <a:t>e</a:t>
            </a:r>
            <a:r>
              <a:rPr lang="en-US" sz="4740" spc="-142" strike="noStrike" u="none">
                <a:solidFill>
                  <a:srgbClr val="FFFFFF"/>
                </a:solidFill>
                <a:latin typeface="Open Sans 2"/>
                <a:ea typeface="Open Sans 2"/>
                <a:cs typeface="Open Sans 2"/>
                <a:sym typeface="Open Sans 2"/>
              </a:rPr>
              <a:t>n</a:t>
            </a:r>
            <a:r>
              <a:rPr lang="en-US" sz="4740" spc="-142" strike="noStrike" u="none">
                <a:solidFill>
                  <a:srgbClr val="FFFFFF"/>
                </a:solidFill>
                <a:latin typeface="Open Sans 2"/>
                <a:ea typeface="Open Sans 2"/>
                <a:cs typeface="Open Sans 2"/>
                <a:sym typeface="Open Sans 2"/>
              </a:rPr>
              <a:t>t</a:t>
            </a:r>
            <a:r>
              <a:rPr lang="en-US" sz="4740" spc="-142" strike="noStrike" u="none">
                <a:solidFill>
                  <a:srgbClr val="FFFFFF"/>
                </a:solidFill>
                <a:latin typeface="Open Sans 2"/>
                <a:ea typeface="Open Sans 2"/>
                <a:cs typeface="Open Sans 2"/>
                <a:sym typeface="Open Sans 2"/>
              </a:rPr>
              <a:t>a</a:t>
            </a:r>
            <a:r>
              <a:rPr lang="en-US" sz="4740" spc="-142" strike="noStrike" u="none">
                <a:solidFill>
                  <a:srgbClr val="FFFFFF"/>
                </a:solidFill>
                <a:latin typeface="Open Sans 2"/>
                <a:ea typeface="Open Sans 2"/>
                <a:cs typeface="Open Sans 2"/>
                <a:sym typeface="Open Sans 2"/>
              </a:rPr>
              <a:t>si de</a:t>
            </a:r>
            <a:r>
              <a:rPr lang="en-US" sz="4740" spc="-142" strike="noStrike" u="none">
                <a:solidFill>
                  <a:srgbClr val="FFFFFF"/>
                </a:solidFill>
                <a:latin typeface="Open Sans 2"/>
                <a:ea typeface="Open Sans 2"/>
                <a:cs typeface="Open Sans 2"/>
                <a:sym typeface="Open Sans 2"/>
              </a:rPr>
              <a:t>ngan baik</a:t>
            </a:r>
            <a:r>
              <a:rPr lang="en-US" sz="4740" spc="-142" strike="noStrike" u="none">
                <a:solidFill>
                  <a:srgbClr val="FFFFFF"/>
                </a:solidFill>
                <a:latin typeface="Open Sans 2"/>
                <a:ea typeface="Open Sans 2"/>
                <a:cs typeface="Open Sans 2"/>
                <a:sym typeface="Open Sans 2"/>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2787986" y="-831486"/>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019175" y="8675540"/>
            <a:ext cx="4420938" cy="1165520"/>
          </a:xfrm>
          <a:custGeom>
            <a:avLst/>
            <a:gdLst/>
            <a:ahLst/>
            <a:cxnLst/>
            <a:rect r="r" b="b" t="t" l="l"/>
            <a:pathLst>
              <a:path h="1165520" w="4420938">
                <a:moveTo>
                  <a:pt x="0" y="0"/>
                </a:moveTo>
                <a:lnTo>
                  <a:pt x="4420938" y="0"/>
                </a:lnTo>
                <a:lnTo>
                  <a:pt x="4420938" y="1165520"/>
                </a:lnTo>
                <a:lnTo>
                  <a:pt x="0" y="1165520"/>
                </a:lnTo>
                <a:lnTo>
                  <a:pt x="0" y="0"/>
                </a:lnTo>
                <a:close/>
              </a:path>
            </a:pathLst>
          </a:custGeom>
          <a:blipFill>
            <a:blip r:embed="rId4"/>
            <a:stretch>
              <a:fillRect l="0" t="0" r="0" b="0"/>
            </a:stretch>
          </a:blipFill>
        </p:spPr>
      </p:sp>
      <p:grpSp>
        <p:nvGrpSpPr>
          <p:cNvPr name="Group 10" id="10"/>
          <p:cNvGrpSpPr/>
          <p:nvPr/>
        </p:nvGrpSpPr>
        <p:grpSpPr>
          <a:xfrm rot="0">
            <a:off x="13580503" y="931205"/>
            <a:ext cx="4412821" cy="3461440"/>
            <a:chOff x="0" y="0"/>
            <a:chExt cx="812705" cy="637490"/>
          </a:xfrm>
        </p:grpSpPr>
        <p:sp>
          <p:nvSpPr>
            <p:cNvPr name="Freeform 11" id="11"/>
            <p:cNvSpPr/>
            <p:nvPr/>
          </p:nvSpPr>
          <p:spPr>
            <a:xfrm flipH="false" flipV="false" rot="0">
              <a:off x="0" y="0"/>
              <a:ext cx="812705" cy="637490"/>
            </a:xfrm>
            <a:custGeom>
              <a:avLst/>
              <a:gdLst/>
              <a:ahLst/>
              <a:cxnLst/>
              <a:rect r="r" b="b" t="t" l="l"/>
              <a:pathLst>
                <a:path h="637490" w="812705">
                  <a:moveTo>
                    <a:pt x="78949" y="0"/>
                  </a:moveTo>
                  <a:lnTo>
                    <a:pt x="733756" y="0"/>
                  </a:lnTo>
                  <a:cubicBezTo>
                    <a:pt x="777359" y="0"/>
                    <a:pt x="812705" y="35347"/>
                    <a:pt x="812705" y="78949"/>
                  </a:cubicBezTo>
                  <a:lnTo>
                    <a:pt x="812705" y="558542"/>
                  </a:lnTo>
                  <a:cubicBezTo>
                    <a:pt x="812705" y="602144"/>
                    <a:pt x="777359" y="637490"/>
                    <a:pt x="733756" y="637490"/>
                  </a:cubicBezTo>
                  <a:lnTo>
                    <a:pt x="78949" y="637490"/>
                  </a:lnTo>
                  <a:cubicBezTo>
                    <a:pt x="35347" y="637490"/>
                    <a:pt x="0" y="602144"/>
                    <a:pt x="0" y="558542"/>
                  </a:cubicBezTo>
                  <a:lnTo>
                    <a:pt x="0" y="78949"/>
                  </a:lnTo>
                  <a:cubicBezTo>
                    <a:pt x="0" y="35347"/>
                    <a:pt x="35347" y="0"/>
                    <a:pt x="78949" y="0"/>
                  </a:cubicBezTo>
                  <a:close/>
                </a:path>
              </a:pathLst>
            </a:custGeom>
            <a:blipFill>
              <a:blip r:embed="rId5"/>
              <a:stretch>
                <a:fillRect l="0" t="-45673" r="0" b="-45673"/>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2" id="12"/>
          <p:cNvGrpSpPr/>
          <p:nvPr/>
        </p:nvGrpSpPr>
        <p:grpSpPr>
          <a:xfrm rot="0">
            <a:off x="14061707" y="5187125"/>
            <a:ext cx="3931616" cy="4071175"/>
            <a:chOff x="0" y="0"/>
            <a:chExt cx="812705" cy="841553"/>
          </a:xfrm>
        </p:grpSpPr>
        <p:sp>
          <p:nvSpPr>
            <p:cNvPr name="Freeform 13" id="13"/>
            <p:cNvSpPr/>
            <p:nvPr/>
          </p:nvSpPr>
          <p:spPr>
            <a:xfrm flipH="false" flipV="false" rot="0">
              <a:off x="0" y="0"/>
              <a:ext cx="812705" cy="841553"/>
            </a:xfrm>
            <a:custGeom>
              <a:avLst/>
              <a:gdLst/>
              <a:ahLst/>
              <a:cxnLst/>
              <a:rect r="r" b="b" t="t" l="l"/>
              <a:pathLst>
                <a:path h="841553" w="812705">
                  <a:moveTo>
                    <a:pt x="88611" y="0"/>
                  </a:moveTo>
                  <a:lnTo>
                    <a:pt x="724094" y="0"/>
                  </a:lnTo>
                  <a:cubicBezTo>
                    <a:pt x="773032" y="0"/>
                    <a:pt x="812705" y="39673"/>
                    <a:pt x="812705" y="88611"/>
                  </a:cubicBezTo>
                  <a:lnTo>
                    <a:pt x="812705" y="752942"/>
                  </a:lnTo>
                  <a:cubicBezTo>
                    <a:pt x="812705" y="801881"/>
                    <a:pt x="773032" y="841553"/>
                    <a:pt x="724094" y="841553"/>
                  </a:cubicBezTo>
                  <a:lnTo>
                    <a:pt x="88611" y="841553"/>
                  </a:lnTo>
                  <a:cubicBezTo>
                    <a:pt x="39673" y="841553"/>
                    <a:pt x="0" y="801881"/>
                    <a:pt x="0" y="752942"/>
                  </a:cubicBezTo>
                  <a:lnTo>
                    <a:pt x="0" y="88611"/>
                  </a:lnTo>
                  <a:cubicBezTo>
                    <a:pt x="0" y="39673"/>
                    <a:pt x="39673" y="0"/>
                    <a:pt x="88611" y="0"/>
                  </a:cubicBezTo>
                  <a:close/>
                </a:path>
              </a:pathLst>
            </a:custGeom>
            <a:blipFill>
              <a:blip r:embed="rId6"/>
              <a:stretch>
                <a:fillRect l="0" t="-22338" r="0" b="-22338"/>
              </a:stretch>
            </a:blip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Freeform 14" id="14"/>
          <p:cNvSpPr/>
          <p:nvPr/>
        </p:nvSpPr>
        <p:spPr>
          <a:xfrm flipH="false" flipV="false" rot="0">
            <a:off x="5706060" y="9258300"/>
            <a:ext cx="4420938" cy="582760"/>
          </a:xfrm>
          <a:custGeom>
            <a:avLst/>
            <a:gdLst/>
            <a:ahLst/>
            <a:cxnLst/>
            <a:rect r="r" b="b" t="t" l="l"/>
            <a:pathLst>
              <a:path h="582760" w="4420938">
                <a:moveTo>
                  <a:pt x="0" y="0"/>
                </a:moveTo>
                <a:lnTo>
                  <a:pt x="4420939" y="0"/>
                </a:lnTo>
                <a:lnTo>
                  <a:pt x="4420939" y="582760"/>
                </a:lnTo>
                <a:lnTo>
                  <a:pt x="0" y="582760"/>
                </a:lnTo>
                <a:lnTo>
                  <a:pt x="0" y="0"/>
                </a:lnTo>
                <a:close/>
              </a:path>
            </a:pathLst>
          </a:custGeom>
          <a:blipFill>
            <a:blip r:embed="rId4"/>
            <a:stretch>
              <a:fillRect l="0" t="-99999" r="0" b="0"/>
            </a:stretch>
          </a:blipFill>
        </p:spPr>
      </p:sp>
      <p:sp>
        <p:nvSpPr>
          <p:cNvPr name="Freeform 15" id="15"/>
          <p:cNvSpPr/>
          <p:nvPr/>
        </p:nvSpPr>
        <p:spPr>
          <a:xfrm flipH="false" flipV="false" rot="0">
            <a:off x="10392946" y="8675540"/>
            <a:ext cx="4420938" cy="1165520"/>
          </a:xfrm>
          <a:custGeom>
            <a:avLst/>
            <a:gdLst/>
            <a:ahLst/>
            <a:cxnLst/>
            <a:rect r="r" b="b" t="t" l="l"/>
            <a:pathLst>
              <a:path h="1165520" w="4420938">
                <a:moveTo>
                  <a:pt x="0" y="0"/>
                </a:moveTo>
                <a:lnTo>
                  <a:pt x="4420938" y="0"/>
                </a:lnTo>
                <a:lnTo>
                  <a:pt x="4420938" y="1165520"/>
                </a:lnTo>
                <a:lnTo>
                  <a:pt x="0" y="1165520"/>
                </a:lnTo>
                <a:lnTo>
                  <a:pt x="0" y="0"/>
                </a:lnTo>
                <a:close/>
              </a:path>
            </a:pathLst>
          </a:custGeom>
          <a:blipFill>
            <a:blip r:embed="rId4"/>
            <a:stretch>
              <a:fillRect l="0" t="0" r="0" b="0"/>
            </a:stretch>
          </a:blipFill>
        </p:spPr>
      </p:sp>
      <p:sp>
        <p:nvSpPr>
          <p:cNvPr name="TextBox 16" id="16"/>
          <p:cNvSpPr txBox="true"/>
          <p:nvPr/>
        </p:nvSpPr>
        <p:spPr>
          <a:xfrm rot="0">
            <a:off x="1138958" y="1181191"/>
            <a:ext cx="11954757" cy="2378728"/>
          </a:xfrm>
          <a:prstGeom prst="rect">
            <a:avLst/>
          </a:prstGeom>
        </p:spPr>
        <p:txBody>
          <a:bodyPr anchor="t" rtlCol="false" tIns="0" lIns="0" bIns="0" rIns="0">
            <a:spAutoFit/>
          </a:bodyPr>
          <a:lstStyle/>
          <a:p>
            <a:pPr algn="just">
              <a:lnSpc>
                <a:spcPts val="8810"/>
              </a:lnSpc>
            </a:pPr>
            <a:r>
              <a:rPr lang="en-US" b="true" sz="11012" spc="-638">
                <a:solidFill>
                  <a:srgbClr val="FFFFFF"/>
                </a:solidFill>
                <a:latin typeface="Bricolage Grotesque Bold"/>
                <a:ea typeface="Bricolage Grotesque Bold"/>
                <a:cs typeface="Bricolage Grotesque Bold"/>
                <a:sym typeface="Bricolage Grotesque Bold"/>
              </a:rPr>
              <a:t>GAMBARAN UMUM SISTEM</a:t>
            </a:r>
          </a:p>
        </p:txBody>
      </p:sp>
      <p:sp>
        <p:nvSpPr>
          <p:cNvPr name="TextBox 17" id="17"/>
          <p:cNvSpPr txBox="true"/>
          <p:nvPr/>
        </p:nvSpPr>
        <p:spPr>
          <a:xfrm rot="0">
            <a:off x="1138958" y="4419485"/>
            <a:ext cx="11674421" cy="2409924"/>
          </a:xfrm>
          <a:prstGeom prst="rect">
            <a:avLst/>
          </a:prstGeom>
        </p:spPr>
        <p:txBody>
          <a:bodyPr anchor="t" rtlCol="false" tIns="0" lIns="0" bIns="0" rIns="0">
            <a:spAutoFit/>
          </a:bodyPr>
          <a:lstStyle/>
          <a:p>
            <a:pPr algn="l" marL="0" indent="0" lvl="0">
              <a:lnSpc>
                <a:spcPts val="3849"/>
              </a:lnSpc>
              <a:spcBef>
                <a:spcPct val="0"/>
              </a:spcBef>
            </a:pPr>
            <a:r>
              <a:rPr lang="en-US" sz="3079" spc="-92">
                <a:solidFill>
                  <a:srgbClr val="FFFFFF"/>
                </a:solidFill>
                <a:latin typeface="Open Sans 2"/>
                <a:ea typeface="Open Sans 2"/>
                <a:cs typeface="Open Sans 2"/>
                <a:sym typeface="Open Sans 2"/>
              </a:rPr>
              <a:t>S</a:t>
            </a:r>
            <a:r>
              <a:rPr lang="en-US" sz="3079" spc="-92" strike="noStrike" u="none">
                <a:solidFill>
                  <a:srgbClr val="FFFFFF"/>
                </a:solidFill>
                <a:latin typeface="Open Sans 2"/>
                <a:ea typeface="Open Sans 2"/>
                <a:cs typeface="Open Sans 2"/>
                <a:sym typeface="Open Sans 2"/>
              </a:rPr>
              <a:t>istem yang dirancang berupa aplikasi mobile yang digunakan oleh:</a:t>
            </a:r>
          </a:p>
          <a:p>
            <a:pPr algn="l" marL="664875" indent="-332437" lvl="1">
              <a:lnSpc>
                <a:spcPts val="3849"/>
              </a:lnSpc>
              <a:spcBef>
                <a:spcPct val="0"/>
              </a:spcBef>
              <a:buFont typeface="Arial"/>
              <a:buChar char="•"/>
            </a:pPr>
            <a:r>
              <a:rPr lang="en-US" sz="3079" spc="-92" strike="noStrike" u="none">
                <a:solidFill>
                  <a:srgbClr val="FFFFFF"/>
                </a:solidFill>
                <a:latin typeface="Open Sans 2"/>
                <a:ea typeface="Open Sans 2"/>
                <a:cs typeface="Open Sans 2"/>
                <a:sym typeface="Open Sans 2"/>
              </a:rPr>
              <a:t>Pelanggan, untuk melakukan pemesanan dan pembayaran</a:t>
            </a:r>
          </a:p>
          <a:p>
            <a:pPr algn="l" marL="664875" indent="-332437" lvl="1">
              <a:lnSpc>
                <a:spcPts val="3849"/>
              </a:lnSpc>
              <a:spcBef>
                <a:spcPct val="0"/>
              </a:spcBef>
              <a:buFont typeface="Arial"/>
              <a:buChar char="•"/>
            </a:pPr>
            <a:r>
              <a:rPr lang="en-US" sz="3079" spc="-92" strike="noStrike" u="none">
                <a:solidFill>
                  <a:srgbClr val="FFFFFF"/>
                </a:solidFill>
                <a:latin typeface="Open Sans 2"/>
                <a:ea typeface="Open Sans 2"/>
                <a:cs typeface="Open Sans 2"/>
                <a:sym typeface="Open Sans 2"/>
              </a:rPr>
              <a:t>Admin (Pemilik UMKM), untuk mengelola produk, stok, pesanan, pembayaran, dan laporan</a:t>
            </a:r>
          </a:p>
          <a:p>
            <a:pPr algn="l" marL="0" indent="0" lvl="0">
              <a:lnSpc>
                <a:spcPts val="3849"/>
              </a:lnSpc>
              <a:spcBef>
                <a:spcPct val="0"/>
              </a:spcBef>
            </a:pPr>
          </a:p>
        </p:txBody>
      </p:sp>
      <p:sp>
        <p:nvSpPr>
          <p:cNvPr name="TextBox 18" id="18"/>
          <p:cNvSpPr txBox="true"/>
          <p:nvPr/>
        </p:nvSpPr>
        <p:spPr>
          <a:xfrm rot="0">
            <a:off x="1554185" y="7688974"/>
            <a:ext cx="3463712" cy="1237615"/>
          </a:xfrm>
          <a:prstGeom prst="rect">
            <a:avLst/>
          </a:prstGeom>
        </p:spPr>
        <p:txBody>
          <a:bodyPr anchor="t" rtlCol="false" tIns="0" lIns="0" bIns="0" rIns="0">
            <a:spAutoFit/>
          </a:bodyPr>
          <a:lstStyle/>
          <a:p>
            <a:pPr algn="l" marL="0" indent="0" lvl="0">
              <a:lnSpc>
                <a:spcPts val="2000"/>
              </a:lnSpc>
              <a:spcBef>
                <a:spcPct val="0"/>
              </a:spcBef>
            </a:pPr>
            <a:r>
              <a:rPr lang="en-US" sz="1600" i="true" spc="-48" strike="noStrike" u="none">
                <a:solidFill>
                  <a:srgbClr val="320000"/>
                </a:solidFill>
                <a:latin typeface="Open Sans 1 Italics"/>
                <a:ea typeface="Open Sans 1 Italics"/>
                <a:cs typeface="Open Sans 1 Italics"/>
                <a:sym typeface="Open Sans 1 Italics"/>
              </a:rPr>
              <a:t>Lorem ipsum dolor sit amet, consectetur adipiscing elit, sed do eiusmod tempor incididunt ut labore et dolore magna aliqua. Ut enim ad minim veniam, quis nostrud exercitation.</a:t>
            </a:r>
          </a:p>
        </p:txBody>
      </p:sp>
      <p:sp>
        <p:nvSpPr>
          <p:cNvPr name="TextBox 19" id="19"/>
          <p:cNvSpPr txBox="true"/>
          <p:nvPr/>
        </p:nvSpPr>
        <p:spPr>
          <a:xfrm rot="0">
            <a:off x="1554185" y="6613036"/>
            <a:ext cx="3361300" cy="868045"/>
          </a:xfrm>
          <a:prstGeom prst="rect">
            <a:avLst/>
          </a:prstGeom>
        </p:spPr>
        <p:txBody>
          <a:bodyPr anchor="t" rtlCol="false" tIns="0" lIns="0" bIns="0" rIns="0">
            <a:spAutoFit/>
          </a:bodyPr>
          <a:lstStyle/>
          <a:p>
            <a:pPr algn="l" marL="0" indent="0" lvl="0">
              <a:lnSpc>
                <a:spcPts val="3499"/>
              </a:lnSpc>
              <a:spcBef>
                <a:spcPct val="0"/>
              </a:spcBef>
            </a:pPr>
            <a:r>
              <a:rPr lang="en-US" b="true" sz="2799" spc="-83" strike="noStrike" u="none">
                <a:solidFill>
                  <a:srgbClr val="320000"/>
                </a:solidFill>
                <a:latin typeface="Open Sans 1 Bold"/>
                <a:ea typeface="Open Sans 1 Bold"/>
                <a:cs typeface="Open Sans 1 Bold"/>
                <a:sym typeface="Open Sans 1 Bold"/>
              </a:rPr>
              <a:t>Qualitative Methods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991217" y="-1107068"/>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979062" y="8099454"/>
            <a:ext cx="7252280" cy="1911965"/>
          </a:xfrm>
          <a:custGeom>
            <a:avLst/>
            <a:gdLst/>
            <a:ahLst/>
            <a:cxnLst/>
            <a:rect r="r" b="b" t="t" l="l"/>
            <a:pathLst>
              <a:path h="1911965" w="7252280">
                <a:moveTo>
                  <a:pt x="0" y="0"/>
                </a:moveTo>
                <a:lnTo>
                  <a:pt x="7252280" y="0"/>
                </a:lnTo>
                <a:lnTo>
                  <a:pt x="7252280" y="1911965"/>
                </a:lnTo>
                <a:lnTo>
                  <a:pt x="0" y="1911965"/>
                </a:lnTo>
                <a:lnTo>
                  <a:pt x="0" y="0"/>
                </a:lnTo>
                <a:close/>
              </a:path>
            </a:pathLst>
          </a:custGeom>
          <a:blipFill>
            <a:blip r:embed="rId4"/>
            <a:stretch>
              <a:fillRect l="0" t="0" r="0" b="0"/>
            </a:stretch>
          </a:blipFill>
        </p:spPr>
      </p:sp>
      <p:sp>
        <p:nvSpPr>
          <p:cNvPr name="Freeform 10" id="10"/>
          <p:cNvSpPr/>
          <p:nvPr/>
        </p:nvSpPr>
        <p:spPr>
          <a:xfrm flipH="false" flipV="false" rot="0">
            <a:off x="9979062" y="6035218"/>
            <a:ext cx="7252280" cy="1911965"/>
          </a:xfrm>
          <a:custGeom>
            <a:avLst/>
            <a:gdLst/>
            <a:ahLst/>
            <a:cxnLst/>
            <a:rect r="r" b="b" t="t" l="l"/>
            <a:pathLst>
              <a:path h="1911965" w="7252280">
                <a:moveTo>
                  <a:pt x="0" y="0"/>
                </a:moveTo>
                <a:lnTo>
                  <a:pt x="7252280" y="0"/>
                </a:lnTo>
                <a:lnTo>
                  <a:pt x="7252280" y="1911965"/>
                </a:lnTo>
                <a:lnTo>
                  <a:pt x="0" y="1911965"/>
                </a:lnTo>
                <a:lnTo>
                  <a:pt x="0" y="0"/>
                </a:lnTo>
                <a:close/>
              </a:path>
            </a:pathLst>
          </a:custGeom>
          <a:blipFill>
            <a:blip r:embed="rId4"/>
            <a:stretch>
              <a:fillRect l="0" t="0" r="0" b="0"/>
            </a:stretch>
          </a:blipFill>
        </p:spPr>
      </p:sp>
      <p:sp>
        <p:nvSpPr>
          <p:cNvPr name="TextBox 11" id="11"/>
          <p:cNvSpPr txBox="true"/>
          <p:nvPr/>
        </p:nvSpPr>
        <p:spPr>
          <a:xfrm rot="0">
            <a:off x="1863762" y="1644782"/>
            <a:ext cx="16230600" cy="1009555"/>
          </a:xfrm>
          <a:prstGeom prst="rect">
            <a:avLst/>
          </a:prstGeom>
        </p:spPr>
        <p:txBody>
          <a:bodyPr anchor="t" rtlCol="false" tIns="0" lIns="0" bIns="0" rIns="0">
            <a:spAutoFit/>
          </a:bodyPr>
          <a:lstStyle/>
          <a:p>
            <a:pPr algn="just" marL="0" indent="0" lvl="0">
              <a:lnSpc>
                <a:spcPts val="7379"/>
              </a:lnSpc>
              <a:spcBef>
                <a:spcPct val="0"/>
              </a:spcBef>
            </a:pPr>
            <a:r>
              <a:rPr lang="en-US" b="true" sz="8291" spc="-480">
                <a:solidFill>
                  <a:srgbClr val="FFFFFF"/>
                </a:solidFill>
                <a:latin typeface="Bricolage Grotesque Bold"/>
                <a:ea typeface="Bricolage Grotesque Bold"/>
                <a:cs typeface="Bricolage Grotesque Bold"/>
                <a:sym typeface="Bricolage Grotesque Bold"/>
              </a:rPr>
              <a:t>MODUL UTAMA SISTEM</a:t>
            </a:r>
          </a:p>
        </p:txBody>
      </p:sp>
      <p:grpSp>
        <p:nvGrpSpPr>
          <p:cNvPr name="Group 12" id="12"/>
          <p:cNvGrpSpPr/>
          <p:nvPr/>
        </p:nvGrpSpPr>
        <p:grpSpPr>
          <a:xfrm rot="0">
            <a:off x="1506166" y="3115056"/>
            <a:ext cx="15275668" cy="6592510"/>
            <a:chOff x="0" y="0"/>
            <a:chExt cx="5749802" cy="2481438"/>
          </a:xfrm>
        </p:grpSpPr>
        <p:sp>
          <p:nvSpPr>
            <p:cNvPr name="Freeform 13" id="13"/>
            <p:cNvSpPr/>
            <p:nvPr/>
          </p:nvSpPr>
          <p:spPr>
            <a:xfrm flipH="false" flipV="false" rot="0">
              <a:off x="0" y="0"/>
              <a:ext cx="5749802" cy="2481438"/>
            </a:xfrm>
            <a:custGeom>
              <a:avLst/>
              <a:gdLst/>
              <a:ahLst/>
              <a:cxnLst/>
              <a:rect r="r" b="b" t="t" l="l"/>
              <a:pathLst>
                <a:path h="2481438" w="5749802">
                  <a:moveTo>
                    <a:pt x="17738" y="0"/>
                  </a:moveTo>
                  <a:lnTo>
                    <a:pt x="5732064" y="0"/>
                  </a:lnTo>
                  <a:cubicBezTo>
                    <a:pt x="5736768" y="0"/>
                    <a:pt x="5741280" y="1869"/>
                    <a:pt x="5744607" y="5195"/>
                  </a:cubicBezTo>
                  <a:cubicBezTo>
                    <a:pt x="5747933" y="8522"/>
                    <a:pt x="5749802" y="13034"/>
                    <a:pt x="5749802" y="17738"/>
                  </a:cubicBezTo>
                  <a:lnTo>
                    <a:pt x="5749802" y="2463700"/>
                  </a:lnTo>
                  <a:cubicBezTo>
                    <a:pt x="5749802" y="2473497"/>
                    <a:pt x="5741860" y="2481438"/>
                    <a:pt x="5732064" y="2481438"/>
                  </a:cubicBezTo>
                  <a:lnTo>
                    <a:pt x="17738" y="2481438"/>
                  </a:lnTo>
                  <a:cubicBezTo>
                    <a:pt x="13034" y="2481438"/>
                    <a:pt x="8522" y="2479569"/>
                    <a:pt x="5195" y="2476243"/>
                  </a:cubicBezTo>
                  <a:cubicBezTo>
                    <a:pt x="1869" y="2472916"/>
                    <a:pt x="0" y="2468404"/>
                    <a:pt x="0" y="2463700"/>
                  </a:cubicBezTo>
                  <a:lnTo>
                    <a:pt x="0" y="17738"/>
                  </a:lnTo>
                  <a:cubicBezTo>
                    <a:pt x="0" y="13034"/>
                    <a:pt x="1869" y="8522"/>
                    <a:pt x="5195" y="5195"/>
                  </a:cubicBezTo>
                  <a:cubicBezTo>
                    <a:pt x="8522" y="1869"/>
                    <a:pt x="13034" y="0"/>
                    <a:pt x="17738" y="0"/>
                  </a:cubicBezTo>
                  <a:close/>
                </a:path>
              </a:pathLst>
            </a:custGeom>
            <a:gradFill rotWithShape="true">
              <a:gsLst>
                <a:gs pos="0">
                  <a:srgbClr val="FFFFFF">
                    <a:alpha val="10500"/>
                  </a:srgbClr>
                </a:gs>
                <a:gs pos="25000">
                  <a:srgbClr val="FFFFFF">
                    <a:alpha val="20000"/>
                  </a:srgbClr>
                </a:gs>
                <a:gs pos="50000">
                  <a:srgbClr val="FFFFFF">
                    <a:alpha val="10000"/>
                  </a:srgbClr>
                </a:gs>
                <a:gs pos="75000">
                  <a:srgbClr val="FFFFFF">
                    <a:alpha val="20000"/>
                  </a:srgbClr>
                </a:gs>
                <a:gs pos="100000">
                  <a:srgbClr val="FFFFFF">
                    <a:alpha val="10000"/>
                  </a:srgbClr>
                </a:gs>
              </a:gsLst>
              <a:lin ang="2700000"/>
            </a:gradFill>
            <a:ln w="19050"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sp>
          <p:nvSpPr>
            <p:cNvPr name="TextBox 14" id="14"/>
            <p:cNvSpPr txBox="true"/>
            <p:nvPr/>
          </p:nvSpPr>
          <p:spPr>
            <a:xfrm>
              <a:off x="0" y="76200"/>
              <a:ext cx="5749802" cy="2405238"/>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5" id="15"/>
          <p:cNvSpPr txBox="true"/>
          <p:nvPr/>
        </p:nvSpPr>
        <p:spPr>
          <a:xfrm rot="0">
            <a:off x="3020380" y="3582141"/>
            <a:ext cx="13917365" cy="5818399"/>
          </a:xfrm>
          <a:prstGeom prst="rect">
            <a:avLst/>
          </a:prstGeom>
        </p:spPr>
        <p:txBody>
          <a:bodyPr anchor="t" rtlCol="false" tIns="0" lIns="0" bIns="0" rIns="0">
            <a:spAutoFit/>
          </a:bodyPr>
          <a:lstStyle/>
          <a:p>
            <a:pPr algn="just" marL="0" indent="0" lvl="0">
              <a:lnSpc>
                <a:spcPts val="5741"/>
              </a:lnSpc>
              <a:spcBef>
                <a:spcPct val="0"/>
              </a:spcBef>
            </a:pPr>
            <a:r>
              <a:rPr lang="en-US" sz="4592" spc="-137">
                <a:solidFill>
                  <a:srgbClr val="FFFFFF"/>
                </a:solidFill>
                <a:latin typeface="Open Sans 2"/>
                <a:ea typeface="Open Sans 2"/>
                <a:cs typeface="Open Sans 2"/>
                <a:sym typeface="Open Sans 2"/>
              </a:rPr>
              <a:t>M</a:t>
            </a:r>
            <a:r>
              <a:rPr lang="en-US" sz="4592" spc="-137" strike="noStrike" u="none">
                <a:solidFill>
                  <a:srgbClr val="FFFFFF"/>
                </a:solidFill>
                <a:latin typeface="Open Sans 2"/>
                <a:ea typeface="Open Sans 2"/>
                <a:cs typeface="Open Sans 2"/>
                <a:sym typeface="Open Sans 2"/>
              </a:rPr>
              <a:t>odul utama dalam sistem meliputi:</a:t>
            </a:r>
          </a:p>
          <a:p>
            <a:pPr algn="just" marL="991616" indent="-495808" lvl="1">
              <a:lnSpc>
                <a:spcPts val="5741"/>
              </a:lnSpc>
              <a:spcBef>
                <a:spcPct val="0"/>
              </a:spcBef>
              <a:buFont typeface="Arial"/>
              <a:buChar char="•"/>
            </a:pPr>
            <a:r>
              <a:rPr lang="en-US" sz="4592" spc="-137" strike="noStrike" u="none">
                <a:solidFill>
                  <a:srgbClr val="FFFFFF"/>
                </a:solidFill>
                <a:latin typeface="Open Sans 2"/>
                <a:ea typeface="Open Sans 2"/>
                <a:cs typeface="Open Sans 2"/>
                <a:sym typeface="Open Sans 2"/>
              </a:rPr>
              <a:t>Modul Autentikasi</a:t>
            </a:r>
          </a:p>
          <a:p>
            <a:pPr algn="just" marL="991616" indent="-495808" lvl="1">
              <a:lnSpc>
                <a:spcPts val="5741"/>
              </a:lnSpc>
              <a:spcBef>
                <a:spcPct val="0"/>
              </a:spcBef>
              <a:buFont typeface="Arial"/>
              <a:buChar char="•"/>
            </a:pPr>
            <a:r>
              <a:rPr lang="en-US" sz="4592" spc="-137" strike="noStrike" u="none">
                <a:solidFill>
                  <a:srgbClr val="FFFFFF"/>
                </a:solidFill>
                <a:latin typeface="Open Sans 2"/>
                <a:ea typeface="Open Sans 2"/>
                <a:cs typeface="Open Sans 2"/>
                <a:sym typeface="Open Sans 2"/>
              </a:rPr>
              <a:t>Modul Pelanggan</a:t>
            </a:r>
          </a:p>
          <a:p>
            <a:pPr algn="just" marL="991616" indent="-495808" lvl="1">
              <a:lnSpc>
                <a:spcPts val="5741"/>
              </a:lnSpc>
              <a:spcBef>
                <a:spcPct val="0"/>
              </a:spcBef>
              <a:buFont typeface="Arial"/>
              <a:buChar char="•"/>
            </a:pPr>
            <a:r>
              <a:rPr lang="en-US" sz="4592" spc="-137" strike="noStrike" u="none">
                <a:solidFill>
                  <a:srgbClr val="FFFFFF"/>
                </a:solidFill>
                <a:latin typeface="Open Sans 2"/>
                <a:ea typeface="Open Sans 2"/>
                <a:cs typeface="Open Sans 2"/>
                <a:sym typeface="Open Sans 2"/>
              </a:rPr>
              <a:t>Modul Produk</a:t>
            </a:r>
          </a:p>
          <a:p>
            <a:pPr algn="just" marL="991616" indent="-495808" lvl="1">
              <a:lnSpc>
                <a:spcPts val="5741"/>
              </a:lnSpc>
              <a:spcBef>
                <a:spcPct val="0"/>
              </a:spcBef>
              <a:buFont typeface="Arial"/>
              <a:buChar char="•"/>
            </a:pPr>
            <a:r>
              <a:rPr lang="en-US" sz="4592" spc="-137" strike="noStrike" u="none">
                <a:solidFill>
                  <a:srgbClr val="FFFFFF"/>
                </a:solidFill>
                <a:latin typeface="Open Sans 2"/>
                <a:ea typeface="Open Sans 2"/>
                <a:cs typeface="Open Sans 2"/>
                <a:sym typeface="Open Sans 2"/>
              </a:rPr>
              <a:t>Modul Pemesanan</a:t>
            </a:r>
          </a:p>
          <a:p>
            <a:pPr algn="just" marL="991616" indent="-495808" lvl="1">
              <a:lnSpc>
                <a:spcPts val="5741"/>
              </a:lnSpc>
              <a:spcBef>
                <a:spcPct val="0"/>
              </a:spcBef>
              <a:buFont typeface="Arial"/>
              <a:buChar char="•"/>
            </a:pPr>
            <a:r>
              <a:rPr lang="en-US" sz="4592" spc="-137" strike="noStrike" u="none">
                <a:solidFill>
                  <a:srgbClr val="FFFFFF"/>
                </a:solidFill>
                <a:latin typeface="Open Sans 2"/>
                <a:ea typeface="Open Sans 2"/>
                <a:cs typeface="Open Sans 2"/>
                <a:sym typeface="Open Sans 2"/>
              </a:rPr>
              <a:t>Modul Pembayaran</a:t>
            </a:r>
          </a:p>
          <a:p>
            <a:pPr algn="just" marL="991616" indent="-495808" lvl="1">
              <a:lnSpc>
                <a:spcPts val="5741"/>
              </a:lnSpc>
              <a:spcBef>
                <a:spcPct val="0"/>
              </a:spcBef>
              <a:buFont typeface="Arial"/>
              <a:buChar char="•"/>
            </a:pPr>
            <a:r>
              <a:rPr lang="en-US" sz="4592" spc="-137" strike="noStrike" u="none">
                <a:solidFill>
                  <a:srgbClr val="FFFFFF"/>
                </a:solidFill>
                <a:latin typeface="Open Sans 2"/>
                <a:ea typeface="Open Sans 2"/>
                <a:cs typeface="Open Sans 2"/>
                <a:sym typeface="Open Sans 2"/>
              </a:rPr>
              <a:t>Modul La</a:t>
            </a:r>
            <a:r>
              <a:rPr lang="en-US" sz="4592" spc="-137" strike="noStrike" u="none">
                <a:solidFill>
                  <a:srgbClr val="FFFFFF"/>
                </a:solidFill>
                <a:latin typeface="Open Sans 2"/>
                <a:ea typeface="Open Sans 2"/>
                <a:cs typeface="Open Sans 2"/>
                <a:sym typeface="Open Sans 2"/>
              </a:rPr>
              <a:t>po</a:t>
            </a:r>
            <a:r>
              <a:rPr lang="en-US" sz="4592" spc="-137" strike="noStrike" u="none">
                <a:solidFill>
                  <a:srgbClr val="FFFFFF"/>
                </a:solidFill>
                <a:latin typeface="Open Sans 2"/>
                <a:ea typeface="Open Sans 2"/>
                <a:cs typeface="Open Sans 2"/>
                <a:sym typeface="Open Sans 2"/>
              </a:rPr>
              <a:t>ran </a:t>
            </a:r>
            <a:r>
              <a:rPr lang="en-US" sz="4592" spc="-137" strike="noStrike" u="none">
                <a:solidFill>
                  <a:srgbClr val="FFFFFF"/>
                </a:solidFill>
                <a:latin typeface="Open Sans 2"/>
                <a:ea typeface="Open Sans 2"/>
                <a:cs typeface="Open Sans 2"/>
                <a:sym typeface="Open Sans 2"/>
              </a:rPr>
              <a:t>P</a:t>
            </a:r>
            <a:r>
              <a:rPr lang="en-US" sz="4592" spc="-137" strike="noStrike" u="none">
                <a:solidFill>
                  <a:srgbClr val="FFFFFF"/>
                </a:solidFill>
                <a:latin typeface="Open Sans 2"/>
                <a:ea typeface="Open Sans 2"/>
                <a:cs typeface="Open Sans 2"/>
                <a:sym typeface="Open Sans 2"/>
              </a:rPr>
              <a:t>enjua</a:t>
            </a:r>
            <a:r>
              <a:rPr lang="en-US" sz="4592" spc="-137" strike="noStrike" u="none">
                <a:solidFill>
                  <a:srgbClr val="FFFFFF"/>
                </a:solidFill>
                <a:latin typeface="Open Sans 2"/>
                <a:ea typeface="Open Sans 2"/>
                <a:cs typeface="Open Sans 2"/>
                <a:sym typeface="Open Sans 2"/>
              </a:rPr>
              <a:t>l</a:t>
            </a:r>
            <a:r>
              <a:rPr lang="en-US" sz="4592" spc="-137" strike="noStrike" u="none">
                <a:solidFill>
                  <a:srgbClr val="FFFFFF"/>
                </a:solidFill>
                <a:latin typeface="Open Sans 2"/>
                <a:ea typeface="Open Sans 2"/>
                <a:cs typeface="Open Sans 2"/>
                <a:sym typeface="Open Sans 2"/>
              </a:rPr>
              <a:t>an</a:t>
            </a:r>
          </a:p>
          <a:p>
            <a:pPr algn="just" marL="0" indent="0" lvl="0">
              <a:lnSpc>
                <a:spcPts val="605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9" id="9"/>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1" id="11"/>
          <p:cNvGrpSpPr/>
          <p:nvPr/>
        </p:nvGrpSpPr>
        <p:grpSpPr>
          <a:xfrm rot="0">
            <a:off x="808007" y="1908254"/>
            <a:ext cx="3311131" cy="8071510"/>
            <a:chOff x="0" y="0"/>
            <a:chExt cx="461708" cy="1125500"/>
          </a:xfrm>
        </p:grpSpPr>
        <p:sp>
          <p:nvSpPr>
            <p:cNvPr name="Freeform 12" id="12"/>
            <p:cNvSpPr/>
            <p:nvPr/>
          </p:nvSpPr>
          <p:spPr>
            <a:xfrm flipH="false" flipV="false" rot="0">
              <a:off x="0" y="0"/>
              <a:ext cx="461708" cy="1125500"/>
            </a:xfrm>
            <a:custGeom>
              <a:avLst/>
              <a:gdLst/>
              <a:ahLst/>
              <a:cxnLst/>
              <a:rect r="r" b="b" t="t" l="l"/>
              <a:pathLst>
                <a:path h="1125500" w="461708">
                  <a:moveTo>
                    <a:pt x="81835" y="0"/>
                  </a:moveTo>
                  <a:lnTo>
                    <a:pt x="379873" y="0"/>
                  </a:lnTo>
                  <a:cubicBezTo>
                    <a:pt x="425069" y="0"/>
                    <a:pt x="461708" y="36639"/>
                    <a:pt x="461708" y="81835"/>
                  </a:cubicBezTo>
                  <a:lnTo>
                    <a:pt x="461708" y="1043665"/>
                  </a:lnTo>
                  <a:cubicBezTo>
                    <a:pt x="461708" y="1088862"/>
                    <a:pt x="425069" y="1125500"/>
                    <a:pt x="379873" y="1125500"/>
                  </a:cubicBezTo>
                  <a:lnTo>
                    <a:pt x="81835" y="1125500"/>
                  </a:lnTo>
                  <a:cubicBezTo>
                    <a:pt x="36639" y="1125500"/>
                    <a:pt x="0" y="1088862"/>
                    <a:pt x="0" y="1043665"/>
                  </a:cubicBezTo>
                  <a:lnTo>
                    <a:pt x="0" y="81835"/>
                  </a:lnTo>
                  <a:cubicBezTo>
                    <a:pt x="0" y="36639"/>
                    <a:pt x="36639" y="0"/>
                    <a:pt x="81835" y="0"/>
                  </a:cubicBezTo>
                  <a:close/>
                </a:path>
              </a:pathLst>
            </a:custGeom>
            <a:blipFill>
              <a:blip r:embed="rId5"/>
              <a:stretch>
                <a:fillRect l="-6789" t="0" r="-6789"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3" id="13"/>
          <p:cNvGrpSpPr/>
          <p:nvPr/>
        </p:nvGrpSpPr>
        <p:grpSpPr>
          <a:xfrm rot="0">
            <a:off x="5104534" y="1908254"/>
            <a:ext cx="3312667" cy="8071510"/>
            <a:chOff x="0" y="0"/>
            <a:chExt cx="461708" cy="1124978"/>
          </a:xfrm>
        </p:grpSpPr>
        <p:sp>
          <p:nvSpPr>
            <p:cNvPr name="Freeform 14" id="14"/>
            <p:cNvSpPr/>
            <p:nvPr/>
          </p:nvSpPr>
          <p:spPr>
            <a:xfrm flipH="false" flipV="false" rot="0">
              <a:off x="0" y="0"/>
              <a:ext cx="461708" cy="1124978"/>
            </a:xfrm>
            <a:custGeom>
              <a:avLst/>
              <a:gdLst/>
              <a:ahLst/>
              <a:cxnLst/>
              <a:rect r="r" b="b" t="t" l="l"/>
              <a:pathLst>
                <a:path h="1124978" w="461708">
                  <a:moveTo>
                    <a:pt x="81797" y="0"/>
                  </a:moveTo>
                  <a:lnTo>
                    <a:pt x="379910" y="0"/>
                  </a:lnTo>
                  <a:cubicBezTo>
                    <a:pt x="401604" y="0"/>
                    <a:pt x="422410" y="8618"/>
                    <a:pt x="437750" y="23958"/>
                  </a:cubicBezTo>
                  <a:cubicBezTo>
                    <a:pt x="453090" y="39298"/>
                    <a:pt x="461708" y="60103"/>
                    <a:pt x="461708" y="81797"/>
                  </a:cubicBezTo>
                  <a:lnTo>
                    <a:pt x="461708" y="1043181"/>
                  </a:lnTo>
                  <a:cubicBezTo>
                    <a:pt x="461708" y="1064875"/>
                    <a:pt x="453090" y="1085681"/>
                    <a:pt x="437750" y="1101021"/>
                  </a:cubicBezTo>
                  <a:cubicBezTo>
                    <a:pt x="422410" y="1116361"/>
                    <a:pt x="401604" y="1124978"/>
                    <a:pt x="379910" y="1124978"/>
                  </a:cubicBezTo>
                  <a:lnTo>
                    <a:pt x="81797" y="1124978"/>
                  </a:lnTo>
                  <a:cubicBezTo>
                    <a:pt x="60103" y="1124978"/>
                    <a:pt x="39298" y="1116361"/>
                    <a:pt x="23958" y="1101021"/>
                  </a:cubicBezTo>
                  <a:cubicBezTo>
                    <a:pt x="8618" y="1085681"/>
                    <a:pt x="0" y="1064875"/>
                    <a:pt x="0" y="1043181"/>
                  </a:cubicBezTo>
                  <a:lnTo>
                    <a:pt x="0" y="81797"/>
                  </a:lnTo>
                  <a:cubicBezTo>
                    <a:pt x="0" y="60103"/>
                    <a:pt x="8618" y="39298"/>
                    <a:pt x="23958" y="23958"/>
                  </a:cubicBezTo>
                  <a:cubicBezTo>
                    <a:pt x="39298" y="8618"/>
                    <a:pt x="60103" y="0"/>
                    <a:pt x="81797" y="0"/>
                  </a:cubicBezTo>
                  <a:close/>
                </a:path>
              </a:pathLst>
            </a:custGeom>
            <a:blipFill>
              <a:blip r:embed="rId6"/>
              <a:stretch>
                <a:fillRect l="-2695" t="-8041" r="-1433" b="-1872"/>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5" id="15"/>
          <p:cNvGrpSpPr/>
          <p:nvPr/>
        </p:nvGrpSpPr>
        <p:grpSpPr>
          <a:xfrm rot="0">
            <a:off x="9517090" y="1906627"/>
            <a:ext cx="3312667" cy="8073137"/>
            <a:chOff x="0" y="0"/>
            <a:chExt cx="461708" cy="1125205"/>
          </a:xfrm>
        </p:grpSpPr>
        <p:sp>
          <p:nvSpPr>
            <p:cNvPr name="Freeform 16" id="16"/>
            <p:cNvSpPr/>
            <p:nvPr/>
          </p:nvSpPr>
          <p:spPr>
            <a:xfrm flipH="false" flipV="false" rot="0">
              <a:off x="0" y="0"/>
              <a:ext cx="461708" cy="1125205"/>
            </a:xfrm>
            <a:custGeom>
              <a:avLst/>
              <a:gdLst/>
              <a:ahLst/>
              <a:cxnLst/>
              <a:rect r="r" b="b" t="t" l="l"/>
              <a:pathLst>
                <a:path h="1125205" w="461708">
                  <a:moveTo>
                    <a:pt x="81797" y="0"/>
                  </a:moveTo>
                  <a:lnTo>
                    <a:pt x="379910" y="0"/>
                  </a:lnTo>
                  <a:cubicBezTo>
                    <a:pt x="401604" y="0"/>
                    <a:pt x="422410" y="8618"/>
                    <a:pt x="437750" y="23958"/>
                  </a:cubicBezTo>
                  <a:cubicBezTo>
                    <a:pt x="453090" y="39298"/>
                    <a:pt x="461708" y="60103"/>
                    <a:pt x="461708" y="81797"/>
                  </a:cubicBezTo>
                  <a:lnTo>
                    <a:pt x="461708" y="1043408"/>
                  </a:lnTo>
                  <a:cubicBezTo>
                    <a:pt x="461708" y="1065102"/>
                    <a:pt x="453090" y="1085907"/>
                    <a:pt x="437750" y="1101247"/>
                  </a:cubicBezTo>
                  <a:cubicBezTo>
                    <a:pt x="422410" y="1116587"/>
                    <a:pt x="401604" y="1125205"/>
                    <a:pt x="379910" y="1125205"/>
                  </a:cubicBezTo>
                  <a:lnTo>
                    <a:pt x="81797" y="1125205"/>
                  </a:lnTo>
                  <a:cubicBezTo>
                    <a:pt x="60103" y="1125205"/>
                    <a:pt x="39298" y="1116587"/>
                    <a:pt x="23958" y="1101247"/>
                  </a:cubicBezTo>
                  <a:cubicBezTo>
                    <a:pt x="8618" y="1085907"/>
                    <a:pt x="0" y="1065102"/>
                    <a:pt x="0" y="1043408"/>
                  </a:cubicBezTo>
                  <a:lnTo>
                    <a:pt x="0" y="81797"/>
                  </a:lnTo>
                  <a:cubicBezTo>
                    <a:pt x="0" y="60103"/>
                    <a:pt x="8618" y="39298"/>
                    <a:pt x="23958" y="23958"/>
                  </a:cubicBezTo>
                  <a:cubicBezTo>
                    <a:pt x="39298" y="8618"/>
                    <a:pt x="60103" y="0"/>
                    <a:pt x="81797" y="0"/>
                  </a:cubicBezTo>
                  <a:close/>
                </a:path>
              </a:pathLst>
            </a:custGeom>
            <a:blipFill>
              <a:blip r:embed="rId7"/>
              <a:stretch>
                <a:fillRect l="0" t="-1291" r="0" b="-1291"/>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7" id="17"/>
          <p:cNvGrpSpPr/>
          <p:nvPr/>
        </p:nvGrpSpPr>
        <p:grpSpPr>
          <a:xfrm rot="0">
            <a:off x="13927556" y="1908254"/>
            <a:ext cx="3311131" cy="8071510"/>
            <a:chOff x="0" y="0"/>
            <a:chExt cx="461708" cy="1125500"/>
          </a:xfrm>
        </p:grpSpPr>
        <p:sp>
          <p:nvSpPr>
            <p:cNvPr name="Freeform 18" id="18"/>
            <p:cNvSpPr/>
            <p:nvPr/>
          </p:nvSpPr>
          <p:spPr>
            <a:xfrm flipH="false" flipV="false" rot="0">
              <a:off x="0" y="0"/>
              <a:ext cx="461708" cy="1125500"/>
            </a:xfrm>
            <a:custGeom>
              <a:avLst/>
              <a:gdLst/>
              <a:ahLst/>
              <a:cxnLst/>
              <a:rect r="r" b="b" t="t" l="l"/>
              <a:pathLst>
                <a:path h="1125500" w="461708">
                  <a:moveTo>
                    <a:pt x="81835" y="0"/>
                  </a:moveTo>
                  <a:lnTo>
                    <a:pt x="379873" y="0"/>
                  </a:lnTo>
                  <a:cubicBezTo>
                    <a:pt x="425069" y="0"/>
                    <a:pt x="461708" y="36639"/>
                    <a:pt x="461708" y="81835"/>
                  </a:cubicBezTo>
                  <a:lnTo>
                    <a:pt x="461708" y="1043665"/>
                  </a:lnTo>
                  <a:cubicBezTo>
                    <a:pt x="461708" y="1088862"/>
                    <a:pt x="425069" y="1125500"/>
                    <a:pt x="379873" y="1125500"/>
                  </a:cubicBezTo>
                  <a:lnTo>
                    <a:pt x="81835" y="1125500"/>
                  </a:lnTo>
                  <a:cubicBezTo>
                    <a:pt x="36639" y="1125500"/>
                    <a:pt x="0" y="1088862"/>
                    <a:pt x="0" y="1043665"/>
                  </a:cubicBezTo>
                  <a:lnTo>
                    <a:pt x="0" y="81835"/>
                  </a:lnTo>
                  <a:cubicBezTo>
                    <a:pt x="0" y="36639"/>
                    <a:pt x="36639" y="0"/>
                    <a:pt x="81835" y="0"/>
                  </a:cubicBezTo>
                  <a:close/>
                </a:path>
              </a:pathLst>
            </a:custGeom>
            <a:blipFill>
              <a:blip r:embed="rId8"/>
              <a:stretch>
                <a:fillRect l="-8647" t="0" r="-8647"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9" id="19"/>
          <p:cNvSpPr txBox="true"/>
          <p:nvPr/>
        </p:nvSpPr>
        <p:spPr>
          <a:xfrm rot="0">
            <a:off x="1285077" y="1163677"/>
            <a:ext cx="235699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Splash Screen</a:t>
            </a:r>
          </a:p>
        </p:txBody>
      </p:sp>
      <p:sp>
        <p:nvSpPr>
          <p:cNvPr name="TextBox 20" id="20"/>
          <p:cNvSpPr txBox="true"/>
          <p:nvPr/>
        </p:nvSpPr>
        <p:spPr>
          <a:xfrm rot="0">
            <a:off x="15062446" y="1163677"/>
            <a:ext cx="1041350"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Daftar</a:t>
            </a:r>
          </a:p>
        </p:txBody>
      </p:sp>
      <p:sp>
        <p:nvSpPr>
          <p:cNvPr name="TextBox 21" id="21"/>
          <p:cNvSpPr txBox="true"/>
          <p:nvPr/>
        </p:nvSpPr>
        <p:spPr>
          <a:xfrm rot="0">
            <a:off x="9226826" y="1163677"/>
            <a:ext cx="389319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Kategori (belum masuk)</a:t>
            </a:r>
          </a:p>
        </p:txBody>
      </p:sp>
      <p:sp>
        <p:nvSpPr>
          <p:cNvPr name="TextBox 22" id="22"/>
          <p:cNvSpPr txBox="true"/>
          <p:nvPr/>
        </p:nvSpPr>
        <p:spPr>
          <a:xfrm rot="0">
            <a:off x="5937756" y="1163677"/>
            <a:ext cx="140523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Beranda</a:t>
            </a:r>
          </a:p>
        </p:txBody>
      </p:sp>
      <p:sp>
        <p:nvSpPr>
          <p:cNvPr name="TextBox 23" id="23"/>
          <p:cNvSpPr txBox="true"/>
          <p:nvPr/>
        </p:nvSpPr>
        <p:spPr>
          <a:xfrm rot="0">
            <a:off x="5815718" y="274676"/>
            <a:ext cx="6647038" cy="688976"/>
          </a:xfrm>
          <a:prstGeom prst="rect">
            <a:avLst/>
          </a:prstGeom>
        </p:spPr>
        <p:txBody>
          <a:bodyPr anchor="t" rtlCol="false" tIns="0" lIns="0" bIns="0" rIns="0">
            <a:spAutoFit/>
          </a:bodyPr>
          <a:lstStyle/>
          <a:p>
            <a:pPr algn="ctr">
              <a:lnSpc>
                <a:spcPts val="5599"/>
              </a:lnSpc>
              <a:spcBef>
                <a:spcPct val="0"/>
              </a:spcBef>
            </a:pPr>
            <a:r>
              <a:rPr lang="en-US" sz="3999" spc="-231">
                <a:solidFill>
                  <a:srgbClr val="FFFFFF"/>
                </a:solidFill>
                <a:latin typeface="Higuen Elegant Serif"/>
                <a:ea typeface="Higuen Elegant Serif"/>
                <a:cs typeface="Higuen Elegant Serif"/>
                <a:sym typeface="Higuen Elegant Serif"/>
              </a:rPr>
              <a:t>Dashboard Pelanggan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2231027"/>
            <a:ext cx="3311131" cy="7422519"/>
            <a:chOff x="0" y="0"/>
            <a:chExt cx="461708" cy="1035004"/>
          </a:xfrm>
        </p:grpSpPr>
        <p:sp>
          <p:nvSpPr>
            <p:cNvPr name="Freeform 13" id="13"/>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5"/>
              <a:stretch>
                <a:fillRect l="-3140" t="0" r="-3140"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2231027"/>
            <a:ext cx="3312667" cy="7425963"/>
            <a:chOff x="0" y="0"/>
            <a:chExt cx="461708" cy="1035004"/>
          </a:xfrm>
        </p:grpSpPr>
        <p:sp>
          <p:nvSpPr>
            <p:cNvPr name="Freeform 15" id="15"/>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6"/>
              <a:stretch>
                <a:fillRect l="-4724" t="0" r="-4724"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2231027"/>
            <a:ext cx="3312667" cy="7425963"/>
            <a:chOff x="0" y="0"/>
            <a:chExt cx="461708" cy="1035004"/>
          </a:xfrm>
        </p:grpSpPr>
        <p:sp>
          <p:nvSpPr>
            <p:cNvPr name="Freeform 17" id="17"/>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7"/>
              <a:stretch>
                <a:fillRect l="-4423" t="0" r="-4423"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2231027"/>
            <a:ext cx="3311131" cy="7422519"/>
            <a:chOff x="0" y="0"/>
            <a:chExt cx="461708" cy="1035004"/>
          </a:xfrm>
        </p:grpSpPr>
        <p:sp>
          <p:nvSpPr>
            <p:cNvPr name="Freeform 19" id="19"/>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8"/>
              <a:stretch>
                <a:fillRect l="-3665" t="0" r="-3665"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1897207" y="1518805"/>
            <a:ext cx="113273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masuk</a:t>
            </a:r>
          </a:p>
        </p:txBody>
      </p:sp>
      <p:sp>
        <p:nvSpPr>
          <p:cNvPr name="TextBox 21" id="21"/>
          <p:cNvSpPr txBox="true"/>
          <p:nvPr/>
        </p:nvSpPr>
        <p:spPr>
          <a:xfrm rot="0">
            <a:off x="14706598" y="1518805"/>
            <a:ext cx="1753046"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Tidak Valid</a:t>
            </a:r>
          </a:p>
        </p:txBody>
      </p:sp>
      <p:sp>
        <p:nvSpPr>
          <p:cNvPr name="TextBox 22" id="22"/>
          <p:cNvSpPr txBox="true"/>
          <p:nvPr/>
        </p:nvSpPr>
        <p:spPr>
          <a:xfrm rot="0">
            <a:off x="9377961" y="1559057"/>
            <a:ext cx="359092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Pemulihan Kata Sandi</a:t>
            </a:r>
          </a:p>
        </p:txBody>
      </p:sp>
      <p:sp>
        <p:nvSpPr>
          <p:cNvPr name="TextBox 23" id="23"/>
          <p:cNvSpPr txBox="true"/>
          <p:nvPr/>
        </p:nvSpPr>
        <p:spPr>
          <a:xfrm rot="0">
            <a:off x="5530411" y="1518805"/>
            <a:ext cx="2468166"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lupa kata sandi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397132"/>
            <a:ext cx="3311131" cy="8256414"/>
            <a:chOff x="0" y="0"/>
            <a:chExt cx="461708" cy="1151284"/>
          </a:xfrm>
        </p:grpSpPr>
        <p:sp>
          <p:nvSpPr>
            <p:cNvPr name="Freeform 13" id="13"/>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5"/>
              <a:stretch>
                <a:fillRect l="0" t="-1391" r="0" b="-1391"/>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397132"/>
            <a:ext cx="3312667" cy="8259858"/>
            <a:chOff x="0" y="0"/>
            <a:chExt cx="461708" cy="1151230"/>
          </a:xfrm>
        </p:grpSpPr>
        <p:sp>
          <p:nvSpPr>
            <p:cNvPr name="Freeform 15" id="15"/>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6"/>
              <a:stretch>
                <a:fillRect l="0" t="-447" r="0" b="-447"/>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397132"/>
            <a:ext cx="3312667" cy="8259858"/>
            <a:chOff x="0" y="0"/>
            <a:chExt cx="461708" cy="1151230"/>
          </a:xfrm>
        </p:grpSpPr>
        <p:sp>
          <p:nvSpPr>
            <p:cNvPr name="Freeform 17" id="17"/>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7"/>
              <a:stretch>
                <a:fillRect l="-647" t="0" r="-647"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1397132"/>
            <a:ext cx="3311131" cy="8256414"/>
            <a:chOff x="0" y="0"/>
            <a:chExt cx="461708" cy="1151284"/>
          </a:xfrm>
        </p:grpSpPr>
        <p:sp>
          <p:nvSpPr>
            <p:cNvPr name="Freeform 19" id="19"/>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8"/>
              <a:stretch>
                <a:fillRect l="0" t="-1087" r="0" b="-1087"/>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600933" y="504825"/>
            <a:ext cx="386953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Kategori (sudah masuk)</a:t>
            </a:r>
          </a:p>
        </p:txBody>
      </p:sp>
      <p:sp>
        <p:nvSpPr>
          <p:cNvPr name="TextBox 21" id="21"/>
          <p:cNvSpPr txBox="true"/>
          <p:nvPr/>
        </p:nvSpPr>
        <p:spPr>
          <a:xfrm rot="0">
            <a:off x="13540753" y="504825"/>
            <a:ext cx="4084737"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Koleksi Gantungan Kunci</a:t>
            </a:r>
          </a:p>
        </p:txBody>
      </p:sp>
      <p:sp>
        <p:nvSpPr>
          <p:cNvPr name="TextBox 22" id="22"/>
          <p:cNvSpPr txBox="true"/>
          <p:nvPr/>
        </p:nvSpPr>
        <p:spPr>
          <a:xfrm rot="0">
            <a:off x="9591083" y="504825"/>
            <a:ext cx="316468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Koleksi Jam Tangan</a:t>
            </a:r>
          </a:p>
        </p:txBody>
      </p:sp>
      <p:sp>
        <p:nvSpPr>
          <p:cNvPr name="TextBox 23" id="23"/>
          <p:cNvSpPr txBox="true"/>
          <p:nvPr/>
        </p:nvSpPr>
        <p:spPr>
          <a:xfrm rot="0">
            <a:off x="5556278" y="504825"/>
            <a:ext cx="239583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Koleksi Gelang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397132"/>
            <a:ext cx="3311131" cy="8256414"/>
            <a:chOff x="0" y="0"/>
            <a:chExt cx="461708" cy="1151284"/>
          </a:xfrm>
        </p:grpSpPr>
        <p:sp>
          <p:nvSpPr>
            <p:cNvPr name="Freeform 13" id="13"/>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5"/>
              <a:stretch>
                <a:fillRect l="0" t="-227" r="0" b="-227"/>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397132"/>
            <a:ext cx="3312667" cy="8259858"/>
            <a:chOff x="0" y="0"/>
            <a:chExt cx="461708" cy="1151230"/>
          </a:xfrm>
        </p:grpSpPr>
        <p:sp>
          <p:nvSpPr>
            <p:cNvPr name="Freeform 15" id="15"/>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6"/>
              <a:stretch>
                <a:fillRect l="0" t="-496" r="0" b="-496"/>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397132"/>
            <a:ext cx="3312667" cy="8259858"/>
            <a:chOff x="0" y="0"/>
            <a:chExt cx="461708" cy="1151230"/>
          </a:xfrm>
        </p:grpSpPr>
        <p:sp>
          <p:nvSpPr>
            <p:cNvPr name="Freeform 17" id="17"/>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7"/>
              <a:stretch>
                <a:fillRect l="-5369" t="0" r="-5369"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1397132"/>
            <a:ext cx="3311131" cy="8256414"/>
            <a:chOff x="0" y="0"/>
            <a:chExt cx="461708" cy="1151284"/>
          </a:xfrm>
        </p:grpSpPr>
        <p:sp>
          <p:nvSpPr>
            <p:cNvPr name="Freeform 19" id="19"/>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8"/>
              <a:stretch>
                <a:fillRect l="-5190" t="0" r="-5190"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1249629" y="704941"/>
            <a:ext cx="2395389"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Koleksi Kalung</a:t>
            </a:r>
          </a:p>
        </p:txBody>
      </p:sp>
      <p:sp>
        <p:nvSpPr>
          <p:cNvPr name="TextBox 21" id="21"/>
          <p:cNvSpPr txBox="true"/>
          <p:nvPr/>
        </p:nvSpPr>
        <p:spPr>
          <a:xfrm rot="0">
            <a:off x="10075519" y="733425"/>
            <a:ext cx="2195810"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Detail Produk</a:t>
            </a:r>
          </a:p>
        </p:txBody>
      </p:sp>
      <p:sp>
        <p:nvSpPr>
          <p:cNvPr name="TextBox 22" id="22"/>
          <p:cNvSpPr txBox="true"/>
          <p:nvPr/>
        </p:nvSpPr>
        <p:spPr>
          <a:xfrm rot="0">
            <a:off x="5403878" y="733425"/>
            <a:ext cx="254823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Koleksi Custom</a:t>
            </a:r>
          </a:p>
        </p:txBody>
      </p:sp>
      <p:sp>
        <p:nvSpPr>
          <p:cNvPr name="TextBox 23" id="23"/>
          <p:cNvSpPr txBox="true"/>
          <p:nvPr/>
        </p:nvSpPr>
        <p:spPr>
          <a:xfrm rot="0">
            <a:off x="13713542" y="733425"/>
            <a:ext cx="3739158"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Detail Produk (Custom)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028700"/>
            <a:ext cx="3311131" cy="8624846"/>
            <a:chOff x="0" y="0"/>
            <a:chExt cx="461708" cy="1202658"/>
          </a:xfrm>
        </p:grpSpPr>
        <p:sp>
          <p:nvSpPr>
            <p:cNvPr name="Freeform 13" id="13"/>
            <p:cNvSpPr/>
            <p:nvPr/>
          </p:nvSpPr>
          <p:spPr>
            <a:xfrm flipH="false" flipV="false" rot="0">
              <a:off x="0" y="0"/>
              <a:ext cx="461708" cy="1202658"/>
            </a:xfrm>
            <a:custGeom>
              <a:avLst/>
              <a:gdLst/>
              <a:ahLst/>
              <a:cxnLst/>
              <a:rect r="r" b="b" t="t" l="l"/>
              <a:pathLst>
                <a:path h="1202658" w="461708">
                  <a:moveTo>
                    <a:pt x="81835" y="0"/>
                  </a:moveTo>
                  <a:lnTo>
                    <a:pt x="379873" y="0"/>
                  </a:lnTo>
                  <a:cubicBezTo>
                    <a:pt x="425069" y="0"/>
                    <a:pt x="461708" y="36639"/>
                    <a:pt x="461708" y="81835"/>
                  </a:cubicBezTo>
                  <a:lnTo>
                    <a:pt x="461708" y="1120823"/>
                  </a:lnTo>
                  <a:cubicBezTo>
                    <a:pt x="461708" y="1142527"/>
                    <a:pt x="453086" y="1163342"/>
                    <a:pt x="437739" y="1178689"/>
                  </a:cubicBezTo>
                  <a:cubicBezTo>
                    <a:pt x="422392" y="1194036"/>
                    <a:pt x="401577" y="1202658"/>
                    <a:pt x="379873" y="1202658"/>
                  </a:cubicBezTo>
                  <a:lnTo>
                    <a:pt x="81835" y="1202658"/>
                  </a:lnTo>
                  <a:cubicBezTo>
                    <a:pt x="36639" y="1202658"/>
                    <a:pt x="0" y="1166019"/>
                    <a:pt x="0" y="1120823"/>
                  </a:cubicBezTo>
                  <a:lnTo>
                    <a:pt x="0" y="81835"/>
                  </a:lnTo>
                  <a:cubicBezTo>
                    <a:pt x="0" y="36639"/>
                    <a:pt x="36639" y="0"/>
                    <a:pt x="81835" y="0"/>
                  </a:cubicBezTo>
                  <a:close/>
                </a:path>
              </a:pathLst>
            </a:custGeom>
            <a:blipFill>
              <a:blip r:embed="rId5"/>
              <a:stretch>
                <a:fillRect l="-1020" t="0" r="-1020"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028700"/>
            <a:ext cx="3312667" cy="8628290"/>
            <a:chOff x="0" y="0"/>
            <a:chExt cx="461708" cy="1202580"/>
          </a:xfrm>
        </p:grpSpPr>
        <p:sp>
          <p:nvSpPr>
            <p:cNvPr name="Freeform 15" id="15"/>
            <p:cNvSpPr/>
            <p:nvPr/>
          </p:nvSpPr>
          <p:spPr>
            <a:xfrm flipH="false" flipV="false" rot="0">
              <a:off x="0" y="0"/>
              <a:ext cx="461708" cy="1202580"/>
            </a:xfrm>
            <a:custGeom>
              <a:avLst/>
              <a:gdLst/>
              <a:ahLst/>
              <a:cxnLst/>
              <a:rect r="r" b="b" t="t" l="l"/>
              <a:pathLst>
                <a:path h="1202580" w="461708">
                  <a:moveTo>
                    <a:pt x="81797" y="0"/>
                  </a:moveTo>
                  <a:lnTo>
                    <a:pt x="379910" y="0"/>
                  </a:lnTo>
                  <a:cubicBezTo>
                    <a:pt x="401604" y="0"/>
                    <a:pt x="422410" y="8618"/>
                    <a:pt x="437750" y="23958"/>
                  </a:cubicBezTo>
                  <a:cubicBezTo>
                    <a:pt x="453090" y="39298"/>
                    <a:pt x="461708" y="60103"/>
                    <a:pt x="461708" y="81797"/>
                  </a:cubicBezTo>
                  <a:lnTo>
                    <a:pt x="461708" y="1120783"/>
                  </a:lnTo>
                  <a:cubicBezTo>
                    <a:pt x="461708" y="1142477"/>
                    <a:pt x="453090" y="1163283"/>
                    <a:pt x="437750" y="1178623"/>
                  </a:cubicBezTo>
                  <a:cubicBezTo>
                    <a:pt x="422410" y="1193963"/>
                    <a:pt x="401604" y="1202580"/>
                    <a:pt x="379910" y="1202580"/>
                  </a:cubicBezTo>
                  <a:lnTo>
                    <a:pt x="81797" y="1202580"/>
                  </a:lnTo>
                  <a:cubicBezTo>
                    <a:pt x="60103" y="1202580"/>
                    <a:pt x="39298" y="1193963"/>
                    <a:pt x="23958" y="1178623"/>
                  </a:cubicBezTo>
                  <a:cubicBezTo>
                    <a:pt x="8618" y="1163283"/>
                    <a:pt x="0" y="1142477"/>
                    <a:pt x="0" y="1120783"/>
                  </a:cubicBezTo>
                  <a:lnTo>
                    <a:pt x="0" y="81797"/>
                  </a:lnTo>
                  <a:cubicBezTo>
                    <a:pt x="0" y="60103"/>
                    <a:pt x="8618" y="39298"/>
                    <a:pt x="23958" y="23958"/>
                  </a:cubicBezTo>
                  <a:cubicBezTo>
                    <a:pt x="39298" y="8618"/>
                    <a:pt x="60103" y="0"/>
                    <a:pt x="81797" y="0"/>
                  </a:cubicBezTo>
                  <a:close/>
                </a:path>
              </a:pathLst>
            </a:custGeom>
            <a:blipFill>
              <a:blip r:embed="rId6"/>
              <a:stretch>
                <a:fillRect l="-5101" t="-8915" r="-5101"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028700"/>
            <a:ext cx="3312667" cy="8628290"/>
            <a:chOff x="0" y="0"/>
            <a:chExt cx="461708" cy="1202580"/>
          </a:xfrm>
        </p:grpSpPr>
        <p:sp>
          <p:nvSpPr>
            <p:cNvPr name="Freeform 17" id="17"/>
            <p:cNvSpPr/>
            <p:nvPr/>
          </p:nvSpPr>
          <p:spPr>
            <a:xfrm flipH="false" flipV="false" rot="0">
              <a:off x="0" y="0"/>
              <a:ext cx="461708" cy="1202580"/>
            </a:xfrm>
            <a:custGeom>
              <a:avLst/>
              <a:gdLst/>
              <a:ahLst/>
              <a:cxnLst/>
              <a:rect r="r" b="b" t="t" l="l"/>
              <a:pathLst>
                <a:path h="1202580" w="461708">
                  <a:moveTo>
                    <a:pt x="81797" y="0"/>
                  </a:moveTo>
                  <a:lnTo>
                    <a:pt x="379910" y="0"/>
                  </a:lnTo>
                  <a:cubicBezTo>
                    <a:pt x="401604" y="0"/>
                    <a:pt x="422410" y="8618"/>
                    <a:pt x="437750" y="23958"/>
                  </a:cubicBezTo>
                  <a:cubicBezTo>
                    <a:pt x="453090" y="39298"/>
                    <a:pt x="461708" y="60103"/>
                    <a:pt x="461708" y="81797"/>
                  </a:cubicBezTo>
                  <a:lnTo>
                    <a:pt x="461708" y="1120783"/>
                  </a:lnTo>
                  <a:cubicBezTo>
                    <a:pt x="461708" y="1142477"/>
                    <a:pt x="453090" y="1163283"/>
                    <a:pt x="437750" y="1178623"/>
                  </a:cubicBezTo>
                  <a:cubicBezTo>
                    <a:pt x="422410" y="1193963"/>
                    <a:pt x="401604" y="1202580"/>
                    <a:pt x="379910" y="1202580"/>
                  </a:cubicBezTo>
                  <a:lnTo>
                    <a:pt x="81797" y="1202580"/>
                  </a:lnTo>
                  <a:cubicBezTo>
                    <a:pt x="60103" y="1202580"/>
                    <a:pt x="39298" y="1193963"/>
                    <a:pt x="23958" y="1178623"/>
                  </a:cubicBezTo>
                  <a:cubicBezTo>
                    <a:pt x="8618" y="1163283"/>
                    <a:pt x="0" y="1142477"/>
                    <a:pt x="0" y="1120783"/>
                  </a:cubicBezTo>
                  <a:lnTo>
                    <a:pt x="0" y="81797"/>
                  </a:lnTo>
                  <a:cubicBezTo>
                    <a:pt x="0" y="60103"/>
                    <a:pt x="8618" y="39298"/>
                    <a:pt x="23958" y="23958"/>
                  </a:cubicBezTo>
                  <a:cubicBezTo>
                    <a:pt x="39298" y="8618"/>
                    <a:pt x="60103" y="0"/>
                    <a:pt x="81797" y="0"/>
                  </a:cubicBezTo>
                  <a:close/>
                </a:path>
              </a:pathLst>
            </a:custGeom>
            <a:blipFill>
              <a:blip r:embed="rId7"/>
              <a:stretch>
                <a:fillRect l="-7893" t="-14720" r="-7893"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08506" y="1028700"/>
            <a:ext cx="3311131" cy="9258300"/>
            <a:chOff x="0" y="0"/>
            <a:chExt cx="461708" cy="1290988"/>
          </a:xfrm>
        </p:grpSpPr>
        <p:sp>
          <p:nvSpPr>
            <p:cNvPr name="Freeform 19" id="19"/>
            <p:cNvSpPr/>
            <p:nvPr/>
          </p:nvSpPr>
          <p:spPr>
            <a:xfrm flipH="false" flipV="false" rot="0">
              <a:off x="0" y="0"/>
              <a:ext cx="461708" cy="1290988"/>
            </a:xfrm>
            <a:custGeom>
              <a:avLst/>
              <a:gdLst/>
              <a:ahLst/>
              <a:cxnLst/>
              <a:rect r="r" b="b" t="t" l="l"/>
              <a:pathLst>
                <a:path h="1290988" w="461708">
                  <a:moveTo>
                    <a:pt x="81835" y="0"/>
                  </a:moveTo>
                  <a:lnTo>
                    <a:pt x="379873" y="0"/>
                  </a:lnTo>
                  <a:cubicBezTo>
                    <a:pt x="425069" y="0"/>
                    <a:pt x="461708" y="36639"/>
                    <a:pt x="461708" y="81835"/>
                  </a:cubicBezTo>
                  <a:lnTo>
                    <a:pt x="461708" y="1209152"/>
                  </a:lnTo>
                  <a:cubicBezTo>
                    <a:pt x="461708" y="1254349"/>
                    <a:pt x="425069" y="1290988"/>
                    <a:pt x="379873" y="1290988"/>
                  </a:cubicBezTo>
                  <a:lnTo>
                    <a:pt x="81835" y="1290988"/>
                  </a:lnTo>
                  <a:cubicBezTo>
                    <a:pt x="36639" y="1290988"/>
                    <a:pt x="0" y="1254349"/>
                    <a:pt x="0" y="1209152"/>
                  </a:cubicBezTo>
                  <a:lnTo>
                    <a:pt x="0" y="81835"/>
                  </a:lnTo>
                  <a:cubicBezTo>
                    <a:pt x="0" y="36639"/>
                    <a:pt x="36639" y="0"/>
                    <a:pt x="81835" y="0"/>
                  </a:cubicBezTo>
                  <a:close/>
                </a:path>
              </a:pathLst>
            </a:custGeom>
            <a:blipFill>
              <a:blip r:embed="rId8"/>
              <a:stretch>
                <a:fillRect l="0" t="-1274" r="0" b="-1274"/>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662752" y="247741"/>
            <a:ext cx="360164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Pilih Charms (Custom)</a:t>
            </a:r>
          </a:p>
        </p:txBody>
      </p:sp>
      <p:sp>
        <p:nvSpPr>
          <p:cNvPr name="TextBox 21" id="21"/>
          <p:cNvSpPr txBox="true"/>
          <p:nvPr/>
        </p:nvSpPr>
        <p:spPr>
          <a:xfrm rot="0">
            <a:off x="14242833" y="247741"/>
            <a:ext cx="235699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Splash Screen</a:t>
            </a:r>
          </a:p>
        </p:txBody>
      </p:sp>
      <p:sp>
        <p:nvSpPr>
          <p:cNvPr name="TextBox 22" id="22"/>
          <p:cNvSpPr txBox="true"/>
          <p:nvPr/>
        </p:nvSpPr>
        <p:spPr>
          <a:xfrm rot="0">
            <a:off x="9994928" y="247741"/>
            <a:ext cx="235699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Splash Screen</a:t>
            </a:r>
          </a:p>
        </p:txBody>
      </p:sp>
      <p:sp>
        <p:nvSpPr>
          <p:cNvPr name="TextBox 23" id="23"/>
          <p:cNvSpPr txBox="true"/>
          <p:nvPr/>
        </p:nvSpPr>
        <p:spPr>
          <a:xfrm rot="0">
            <a:off x="5872561" y="247741"/>
            <a:ext cx="1683693"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Keranjang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397132"/>
            <a:ext cx="3311131" cy="8256414"/>
            <a:chOff x="0" y="0"/>
            <a:chExt cx="461708" cy="1151284"/>
          </a:xfrm>
        </p:grpSpPr>
        <p:sp>
          <p:nvSpPr>
            <p:cNvPr name="Freeform 13" id="13"/>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5"/>
              <a:stretch>
                <a:fillRect l="0" t="-15743" r="0" b="-15743"/>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397132"/>
            <a:ext cx="3312667" cy="8259858"/>
            <a:chOff x="0" y="0"/>
            <a:chExt cx="461708" cy="1151230"/>
          </a:xfrm>
        </p:grpSpPr>
        <p:sp>
          <p:nvSpPr>
            <p:cNvPr name="Freeform 15" id="15"/>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6"/>
              <a:stretch>
                <a:fillRect l="0" t="-17122" r="0" b="-17122"/>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397132"/>
            <a:ext cx="3312667" cy="8259858"/>
            <a:chOff x="0" y="0"/>
            <a:chExt cx="461708" cy="1151230"/>
          </a:xfrm>
        </p:grpSpPr>
        <p:sp>
          <p:nvSpPr>
            <p:cNvPr name="Freeform 17" id="17"/>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7"/>
              <a:stretch>
                <a:fillRect l="0" t="-1089" r="0" b="-1089"/>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1397132"/>
            <a:ext cx="3311131" cy="8256414"/>
            <a:chOff x="0" y="0"/>
            <a:chExt cx="461708" cy="1151284"/>
          </a:xfrm>
        </p:grpSpPr>
        <p:sp>
          <p:nvSpPr>
            <p:cNvPr name="Freeform 19" id="19"/>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8"/>
              <a:stretch>
                <a:fillRect l="0" t="-286" r="0" b="-286"/>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688871" y="704941"/>
            <a:ext cx="3530352"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Pembayaran Berhasil</a:t>
            </a:r>
          </a:p>
        </p:txBody>
      </p:sp>
      <p:sp>
        <p:nvSpPr>
          <p:cNvPr name="TextBox 21" id="21"/>
          <p:cNvSpPr txBox="true"/>
          <p:nvPr/>
        </p:nvSpPr>
        <p:spPr>
          <a:xfrm rot="0">
            <a:off x="14898517" y="704941"/>
            <a:ext cx="143574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Pesanan</a:t>
            </a:r>
          </a:p>
        </p:txBody>
      </p:sp>
      <p:sp>
        <p:nvSpPr>
          <p:cNvPr name="TextBox 22" id="22"/>
          <p:cNvSpPr txBox="true"/>
          <p:nvPr/>
        </p:nvSpPr>
        <p:spPr>
          <a:xfrm rot="0">
            <a:off x="10607430" y="733425"/>
            <a:ext cx="1131987"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Favorit</a:t>
            </a:r>
          </a:p>
        </p:txBody>
      </p:sp>
      <p:sp>
        <p:nvSpPr>
          <p:cNvPr name="TextBox 23" id="23"/>
          <p:cNvSpPr txBox="true"/>
          <p:nvPr/>
        </p:nvSpPr>
        <p:spPr>
          <a:xfrm rot="0">
            <a:off x="5201055" y="733425"/>
            <a:ext cx="3126879"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Pembayaran Gagal</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397132"/>
            <a:ext cx="3311131" cy="8256414"/>
            <a:chOff x="0" y="0"/>
            <a:chExt cx="461708" cy="1151284"/>
          </a:xfrm>
        </p:grpSpPr>
        <p:sp>
          <p:nvSpPr>
            <p:cNvPr name="Freeform 13" id="13"/>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5"/>
              <a:stretch>
                <a:fillRect l="-182" t="0" r="-182"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397132"/>
            <a:ext cx="3312667" cy="8259858"/>
            <a:chOff x="0" y="0"/>
            <a:chExt cx="461708" cy="1151230"/>
          </a:xfrm>
        </p:grpSpPr>
        <p:sp>
          <p:nvSpPr>
            <p:cNvPr name="Freeform 15" id="15"/>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6"/>
              <a:stretch>
                <a:fillRect l="0" t="-2254" r="0" b="-2254"/>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397132"/>
            <a:ext cx="3312667" cy="8259858"/>
            <a:chOff x="0" y="0"/>
            <a:chExt cx="461708" cy="1151230"/>
          </a:xfrm>
        </p:grpSpPr>
        <p:sp>
          <p:nvSpPr>
            <p:cNvPr name="Freeform 17" id="17"/>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7"/>
              <a:stretch>
                <a:fillRect l="0" t="-927" r="0" b="-927"/>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1397132"/>
            <a:ext cx="3311131" cy="8256414"/>
            <a:chOff x="0" y="0"/>
            <a:chExt cx="461708" cy="1151284"/>
          </a:xfrm>
        </p:grpSpPr>
        <p:sp>
          <p:nvSpPr>
            <p:cNvPr name="Freeform 19" id="19"/>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8"/>
              <a:stretch>
                <a:fillRect l="0" t="-2252" r="0" b="-2252"/>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911741" y="704941"/>
            <a:ext cx="3084612"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Informasi Pesanan</a:t>
            </a:r>
          </a:p>
        </p:txBody>
      </p:sp>
      <p:sp>
        <p:nvSpPr>
          <p:cNvPr name="TextBox 21" id="21"/>
          <p:cNvSpPr txBox="true"/>
          <p:nvPr/>
        </p:nvSpPr>
        <p:spPr>
          <a:xfrm rot="0">
            <a:off x="13705689" y="704941"/>
            <a:ext cx="3363218"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Profil (belum masuk)</a:t>
            </a:r>
          </a:p>
        </p:txBody>
      </p:sp>
      <p:sp>
        <p:nvSpPr>
          <p:cNvPr name="TextBox 22" id="22"/>
          <p:cNvSpPr txBox="true"/>
          <p:nvPr/>
        </p:nvSpPr>
        <p:spPr>
          <a:xfrm rot="0">
            <a:off x="9651685" y="733425"/>
            <a:ext cx="284842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Riwayat Pesanan</a:t>
            </a:r>
          </a:p>
        </p:txBody>
      </p:sp>
      <p:sp>
        <p:nvSpPr>
          <p:cNvPr name="TextBox 23" id="23"/>
          <p:cNvSpPr txBox="true"/>
          <p:nvPr/>
        </p:nvSpPr>
        <p:spPr>
          <a:xfrm rot="0">
            <a:off x="6198501" y="733425"/>
            <a:ext cx="1131987"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Ulasan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397132"/>
            <a:ext cx="3311131" cy="8256414"/>
            <a:chOff x="0" y="0"/>
            <a:chExt cx="461708" cy="1151284"/>
          </a:xfrm>
        </p:grpSpPr>
        <p:sp>
          <p:nvSpPr>
            <p:cNvPr name="Freeform 13" id="13"/>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5"/>
              <a:stretch>
                <a:fillRect l="0" t="-925" r="0" b="-925"/>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397132"/>
            <a:ext cx="3312667" cy="8259858"/>
            <a:chOff x="0" y="0"/>
            <a:chExt cx="461708" cy="1151230"/>
          </a:xfrm>
        </p:grpSpPr>
        <p:sp>
          <p:nvSpPr>
            <p:cNvPr name="Freeform 15" id="15"/>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6"/>
              <a:stretch>
                <a:fillRect l="0" t="-1089" r="0" b="-1089"/>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397132"/>
            <a:ext cx="3312667" cy="8259858"/>
            <a:chOff x="0" y="0"/>
            <a:chExt cx="461708" cy="1151230"/>
          </a:xfrm>
        </p:grpSpPr>
        <p:sp>
          <p:nvSpPr>
            <p:cNvPr name="Freeform 17" id="17"/>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7"/>
              <a:stretch>
                <a:fillRect l="0" t="-132" r="0" b="-132"/>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1397132"/>
            <a:ext cx="3311131" cy="8256414"/>
            <a:chOff x="0" y="0"/>
            <a:chExt cx="461708" cy="1151284"/>
          </a:xfrm>
        </p:grpSpPr>
        <p:sp>
          <p:nvSpPr>
            <p:cNvPr name="Freeform 19" id="19"/>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8"/>
              <a:stretch>
                <a:fillRect l="0" t="-925" r="0" b="-925"/>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784270" y="704941"/>
            <a:ext cx="3339554"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Profil (sudah masuk)</a:t>
            </a:r>
          </a:p>
        </p:txBody>
      </p:sp>
      <p:sp>
        <p:nvSpPr>
          <p:cNvPr name="TextBox 21" id="21"/>
          <p:cNvSpPr txBox="true"/>
          <p:nvPr/>
        </p:nvSpPr>
        <p:spPr>
          <a:xfrm rot="0">
            <a:off x="14655327" y="704941"/>
            <a:ext cx="1855589"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Ubah Email</a:t>
            </a:r>
          </a:p>
        </p:txBody>
      </p:sp>
      <p:sp>
        <p:nvSpPr>
          <p:cNvPr name="TextBox 22" id="22"/>
          <p:cNvSpPr txBox="true"/>
          <p:nvPr/>
        </p:nvSpPr>
        <p:spPr>
          <a:xfrm rot="0">
            <a:off x="10196144" y="704941"/>
            <a:ext cx="1954560"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Ubah Nama</a:t>
            </a:r>
          </a:p>
        </p:txBody>
      </p:sp>
      <p:sp>
        <p:nvSpPr>
          <p:cNvPr name="TextBox 23" id="23"/>
          <p:cNvSpPr txBox="true"/>
          <p:nvPr/>
        </p:nvSpPr>
        <p:spPr>
          <a:xfrm rot="0">
            <a:off x="5505855" y="704941"/>
            <a:ext cx="2517279"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Infromasi Akun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1397132"/>
            <a:ext cx="3311131" cy="8256414"/>
            <a:chOff x="0" y="0"/>
            <a:chExt cx="461708" cy="1151284"/>
          </a:xfrm>
        </p:grpSpPr>
        <p:sp>
          <p:nvSpPr>
            <p:cNvPr name="Freeform 13" id="13"/>
            <p:cNvSpPr/>
            <p:nvPr/>
          </p:nvSpPr>
          <p:spPr>
            <a:xfrm flipH="false" flipV="false" rot="0">
              <a:off x="0" y="0"/>
              <a:ext cx="461708" cy="1151284"/>
            </a:xfrm>
            <a:custGeom>
              <a:avLst/>
              <a:gdLst/>
              <a:ahLst/>
              <a:cxnLst/>
              <a:rect r="r" b="b" t="t" l="l"/>
              <a:pathLst>
                <a:path h="1151284" w="461708">
                  <a:moveTo>
                    <a:pt x="81835" y="0"/>
                  </a:moveTo>
                  <a:lnTo>
                    <a:pt x="379873" y="0"/>
                  </a:lnTo>
                  <a:cubicBezTo>
                    <a:pt x="425069" y="0"/>
                    <a:pt x="461708" y="36639"/>
                    <a:pt x="461708" y="81835"/>
                  </a:cubicBezTo>
                  <a:lnTo>
                    <a:pt x="461708" y="1069448"/>
                  </a:lnTo>
                  <a:cubicBezTo>
                    <a:pt x="461708" y="1091152"/>
                    <a:pt x="453086" y="1111967"/>
                    <a:pt x="437739" y="1127315"/>
                  </a:cubicBezTo>
                  <a:cubicBezTo>
                    <a:pt x="422392" y="1142662"/>
                    <a:pt x="401577" y="1151284"/>
                    <a:pt x="379873" y="1151284"/>
                  </a:cubicBezTo>
                  <a:lnTo>
                    <a:pt x="81835" y="1151284"/>
                  </a:lnTo>
                  <a:cubicBezTo>
                    <a:pt x="36639" y="1151284"/>
                    <a:pt x="0" y="1114645"/>
                    <a:pt x="0" y="1069448"/>
                  </a:cubicBezTo>
                  <a:lnTo>
                    <a:pt x="0" y="81835"/>
                  </a:lnTo>
                  <a:cubicBezTo>
                    <a:pt x="0" y="36639"/>
                    <a:pt x="36639" y="0"/>
                    <a:pt x="81835" y="0"/>
                  </a:cubicBezTo>
                  <a:close/>
                </a:path>
              </a:pathLst>
            </a:custGeom>
            <a:blipFill>
              <a:blip r:embed="rId5"/>
              <a:stretch>
                <a:fillRect l="0" t="-129" r="0" b="-129"/>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1397132"/>
            <a:ext cx="3312667" cy="8259858"/>
            <a:chOff x="0" y="0"/>
            <a:chExt cx="461708" cy="1151230"/>
          </a:xfrm>
        </p:grpSpPr>
        <p:sp>
          <p:nvSpPr>
            <p:cNvPr name="Freeform 15" id="15"/>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6"/>
              <a:stretch>
                <a:fillRect l="-24" t="0" r="-24"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1397132"/>
            <a:ext cx="3312667" cy="8259858"/>
            <a:chOff x="0" y="0"/>
            <a:chExt cx="461708" cy="1151230"/>
          </a:xfrm>
        </p:grpSpPr>
        <p:sp>
          <p:nvSpPr>
            <p:cNvPr name="Freeform 17" id="17"/>
            <p:cNvSpPr/>
            <p:nvPr/>
          </p:nvSpPr>
          <p:spPr>
            <a:xfrm flipH="false" flipV="false" rot="0">
              <a:off x="0" y="0"/>
              <a:ext cx="461708" cy="1151230"/>
            </a:xfrm>
            <a:custGeom>
              <a:avLst/>
              <a:gdLst/>
              <a:ahLst/>
              <a:cxnLst/>
              <a:rect r="r" b="b" t="t" l="l"/>
              <a:pathLst>
                <a:path h="1151230" w="461708">
                  <a:moveTo>
                    <a:pt x="81797" y="0"/>
                  </a:moveTo>
                  <a:lnTo>
                    <a:pt x="379910" y="0"/>
                  </a:lnTo>
                  <a:cubicBezTo>
                    <a:pt x="401604" y="0"/>
                    <a:pt x="422410" y="8618"/>
                    <a:pt x="437750" y="23958"/>
                  </a:cubicBezTo>
                  <a:cubicBezTo>
                    <a:pt x="453090" y="39298"/>
                    <a:pt x="461708" y="60103"/>
                    <a:pt x="461708" y="81797"/>
                  </a:cubicBezTo>
                  <a:lnTo>
                    <a:pt x="461708" y="1069432"/>
                  </a:lnTo>
                  <a:cubicBezTo>
                    <a:pt x="461708" y="1091126"/>
                    <a:pt x="453090" y="1111932"/>
                    <a:pt x="437750" y="1127272"/>
                  </a:cubicBezTo>
                  <a:cubicBezTo>
                    <a:pt x="422410" y="1142612"/>
                    <a:pt x="401604" y="1151230"/>
                    <a:pt x="379910" y="1151230"/>
                  </a:cubicBezTo>
                  <a:lnTo>
                    <a:pt x="81797" y="1151230"/>
                  </a:lnTo>
                  <a:cubicBezTo>
                    <a:pt x="60103" y="1151230"/>
                    <a:pt x="39298" y="1142612"/>
                    <a:pt x="23958" y="1127272"/>
                  </a:cubicBezTo>
                  <a:cubicBezTo>
                    <a:pt x="8618" y="1111932"/>
                    <a:pt x="0" y="1091126"/>
                    <a:pt x="0" y="1069432"/>
                  </a:cubicBezTo>
                  <a:lnTo>
                    <a:pt x="0" y="81797"/>
                  </a:lnTo>
                  <a:cubicBezTo>
                    <a:pt x="0" y="60103"/>
                    <a:pt x="8618" y="39298"/>
                    <a:pt x="23958" y="23958"/>
                  </a:cubicBezTo>
                  <a:cubicBezTo>
                    <a:pt x="39298" y="8618"/>
                    <a:pt x="60103" y="0"/>
                    <a:pt x="81797" y="0"/>
                  </a:cubicBezTo>
                  <a:close/>
                </a:path>
              </a:pathLst>
            </a:custGeom>
            <a:blipFill>
              <a:blip r:embed="rId7"/>
              <a:stretch>
                <a:fillRect l="-24" t="0" r="-24"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13927556" y="1485900"/>
            <a:ext cx="3311131" cy="8167646"/>
            <a:chOff x="0" y="0"/>
            <a:chExt cx="461708" cy="1138906"/>
          </a:xfrm>
        </p:grpSpPr>
        <p:sp>
          <p:nvSpPr>
            <p:cNvPr name="Freeform 19" id="19"/>
            <p:cNvSpPr/>
            <p:nvPr/>
          </p:nvSpPr>
          <p:spPr>
            <a:xfrm flipH="false" flipV="false" rot="0">
              <a:off x="0" y="0"/>
              <a:ext cx="461708" cy="1138906"/>
            </a:xfrm>
            <a:custGeom>
              <a:avLst/>
              <a:gdLst/>
              <a:ahLst/>
              <a:cxnLst/>
              <a:rect r="r" b="b" t="t" l="l"/>
              <a:pathLst>
                <a:path h="1138906" w="461708">
                  <a:moveTo>
                    <a:pt x="81835" y="0"/>
                  </a:moveTo>
                  <a:lnTo>
                    <a:pt x="379873" y="0"/>
                  </a:lnTo>
                  <a:cubicBezTo>
                    <a:pt x="425069" y="0"/>
                    <a:pt x="461708" y="36639"/>
                    <a:pt x="461708" y="81835"/>
                  </a:cubicBezTo>
                  <a:lnTo>
                    <a:pt x="461708" y="1057071"/>
                  </a:lnTo>
                  <a:cubicBezTo>
                    <a:pt x="461708" y="1102267"/>
                    <a:pt x="425069" y="1138906"/>
                    <a:pt x="379873" y="1138906"/>
                  </a:cubicBezTo>
                  <a:lnTo>
                    <a:pt x="81835" y="1138906"/>
                  </a:lnTo>
                  <a:cubicBezTo>
                    <a:pt x="36639" y="1138906"/>
                    <a:pt x="0" y="1102267"/>
                    <a:pt x="0" y="1057071"/>
                  </a:cubicBezTo>
                  <a:lnTo>
                    <a:pt x="0" y="81835"/>
                  </a:lnTo>
                  <a:cubicBezTo>
                    <a:pt x="0" y="36639"/>
                    <a:pt x="36639" y="0"/>
                    <a:pt x="81835" y="0"/>
                  </a:cubicBezTo>
                  <a:close/>
                </a:path>
              </a:pathLst>
            </a:custGeom>
            <a:blipFill>
              <a:blip r:embed="rId8"/>
              <a:stretch>
                <a:fillRect l="0" t="-1315" r="0" b="-1315"/>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1095395" y="704941"/>
            <a:ext cx="2717304"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Ubah Kata Sandi</a:t>
            </a:r>
          </a:p>
        </p:txBody>
      </p:sp>
      <p:sp>
        <p:nvSpPr>
          <p:cNvPr name="TextBox 21" id="21"/>
          <p:cNvSpPr txBox="true"/>
          <p:nvPr/>
        </p:nvSpPr>
        <p:spPr>
          <a:xfrm rot="0">
            <a:off x="14290326" y="733425"/>
            <a:ext cx="258559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Tambah Alamat</a:t>
            </a:r>
          </a:p>
        </p:txBody>
      </p:sp>
      <p:sp>
        <p:nvSpPr>
          <p:cNvPr name="TextBox 22" id="22"/>
          <p:cNvSpPr txBox="true"/>
          <p:nvPr/>
        </p:nvSpPr>
        <p:spPr>
          <a:xfrm rot="0">
            <a:off x="10135720" y="733425"/>
            <a:ext cx="2075408"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Alamat Saya</a:t>
            </a:r>
          </a:p>
        </p:txBody>
      </p:sp>
      <p:sp>
        <p:nvSpPr>
          <p:cNvPr name="TextBox 23" id="23"/>
          <p:cNvSpPr txBox="true"/>
          <p:nvPr/>
        </p:nvSpPr>
        <p:spPr>
          <a:xfrm rot="0">
            <a:off x="5118902" y="733425"/>
            <a:ext cx="329118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Ubah Nomor Ponsel</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3141253" y="-831486"/>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5535869" y="1028700"/>
            <a:ext cx="3311131" cy="8516572"/>
            <a:chOff x="0" y="0"/>
            <a:chExt cx="461708" cy="1187560"/>
          </a:xfrm>
        </p:grpSpPr>
        <p:sp>
          <p:nvSpPr>
            <p:cNvPr name="Freeform 13" id="13"/>
            <p:cNvSpPr/>
            <p:nvPr/>
          </p:nvSpPr>
          <p:spPr>
            <a:xfrm flipH="false" flipV="false" rot="0">
              <a:off x="0" y="0"/>
              <a:ext cx="461708" cy="1187560"/>
            </a:xfrm>
            <a:custGeom>
              <a:avLst/>
              <a:gdLst/>
              <a:ahLst/>
              <a:cxnLst/>
              <a:rect r="r" b="b" t="t" l="l"/>
              <a:pathLst>
                <a:path h="1187560" w="461708">
                  <a:moveTo>
                    <a:pt x="81835" y="0"/>
                  </a:moveTo>
                  <a:lnTo>
                    <a:pt x="379873" y="0"/>
                  </a:lnTo>
                  <a:cubicBezTo>
                    <a:pt x="425069" y="0"/>
                    <a:pt x="461708" y="36639"/>
                    <a:pt x="461708" y="81835"/>
                  </a:cubicBezTo>
                  <a:lnTo>
                    <a:pt x="461708" y="1105725"/>
                  </a:lnTo>
                  <a:cubicBezTo>
                    <a:pt x="461708" y="1150922"/>
                    <a:pt x="425069" y="1187560"/>
                    <a:pt x="379873" y="1187560"/>
                  </a:cubicBezTo>
                  <a:lnTo>
                    <a:pt x="81835" y="1187560"/>
                  </a:lnTo>
                  <a:cubicBezTo>
                    <a:pt x="36639" y="1187560"/>
                    <a:pt x="0" y="1150922"/>
                    <a:pt x="0" y="1105725"/>
                  </a:cubicBezTo>
                  <a:lnTo>
                    <a:pt x="0" y="81835"/>
                  </a:lnTo>
                  <a:cubicBezTo>
                    <a:pt x="0" y="36639"/>
                    <a:pt x="36639" y="0"/>
                    <a:pt x="81835" y="0"/>
                  </a:cubicBezTo>
                  <a:close/>
                </a:path>
              </a:pathLst>
            </a:custGeom>
            <a:blipFill>
              <a:blip r:embed="rId5"/>
              <a:stretch>
                <a:fillRect l="-638" t="0" r="-638"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10374403" y="1028700"/>
            <a:ext cx="3312667" cy="8520016"/>
            <a:chOff x="0" y="0"/>
            <a:chExt cx="461708" cy="1187490"/>
          </a:xfrm>
        </p:grpSpPr>
        <p:sp>
          <p:nvSpPr>
            <p:cNvPr name="Freeform 15" id="15"/>
            <p:cNvSpPr/>
            <p:nvPr/>
          </p:nvSpPr>
          <p:spPr>
            <a:xfrm flipH="false" flipV="false" rot="0">
              <a:off x="0" y="0"/>
              <a:ext cx="461708" cy="1187490"/>
            </a:xfrm>
            <a:custGeom>
              <a:avLst/>
              <a:gdLst/>
              <a:ahLst/>
              <a:cxnLst/>
              <a:rect r="r" b="b" t="t" l="l"/>
              <a:pathLst>
                <a:path h="1187490" w="461708">
                  <a:moveTo>
                    <a:pt x="81797" y="0"/>
                  </a:moveTo>
                  <a:lnTo>
                    <a:pt x="379910" y="0"/>
                  </a:lnTo>
                  <a:cubicBezTo>
                    <a:pt x="401604" y="0"/>
                    <a:pt x="422410" y="8618"/>
                    <a:pt x="437750" y="23958"/>
                  </a:cubicBezTo>
                  <a:cubicBezTo>
                    <a:pt x="453090" y="39298"/>
                    <a:pt x="461708" y="60103"/>
                    <a:pt x="461708" y="81797"/>
                  </a:cubicBezTo>
                  <a:lnTo>
                    <a:pt x="461708" y="1105692"/>
                  </a:lnTo>
                  <a:cubicBezTo>
                    <a:pt x="461708" y="1127386"/>
                    <a:pt x="453090" y="1148192"/>
                    <a:pt x="437750" y="1163532"/>
                  </a:cubicBezTo>
                  <a:cubicBezTo>
                    <a:pt x="422410" y="1178872"/>
                    <a:pt x="401604" y="1187490"/>
                    <a:pt x="379910" y="1187490"/>
                  </a:cubicBezTo>
                  <a:lnTo>
                    <a:pt x="81797" y="1187490"/>
                  </a:lnTo>
                  <a:cubicBezTo>
                    <a:pt x="60103" y="1187490"/>
                    <a:pt x="39298" y="1178872"/>
                    <a:pt x="23958" y="1163532"/>
                  </a:cubicBezTo>
                  <a:cubicBezTo>
                    <a:pt x="8618" y="1148192"/>
                    <a:pt x="0" y="1127386"/>
                    <a:pt x="0" y="1105692"/>
                  </a:cubicBezTo>
                  <a:lnTo>
                    <a:pt x="0" y="81797"/>
                  </a:lnTo>
                  <a:cubicBezTo>
                    <a:pt x="0" y="60103"/>
                    <a:pt x="8618" y="39298"/>
                    <a:pt x="23958" y="23958"/>
                  </a:cubicBezTo>
                  <a:cubicBezTo>
                    <a:pt x="39298" y="8618"/>
                    <a:pt x="60103" y="0"/>
                    <a:pt x="81797" y="0"/>
                  </a:cubicBezTo>
                  <a:close/>
                </a:path>
              </a:pathLst>
            </a:custGeom>
            <a:blipFill>
              <a:blip r:embed="rId6"/>
              <a:stretch>
                <a:fillRect l="0" t="-1841" r="0" b="-1841"/>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6" id="16"/>
          <p:cNvSpPr txBox="true"/>
          <p:nvPr/>
        </p:nvSpPr>
        <p:spPr>
          <a:xfrm rot="0">
            <a:off x="11032472" y="247741"/>
            <a:ext cx="1996529"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Keluar Akun</a:t>
            </a:r>
          </a:p>
        </p:txBody>
      </p:sp>
      <p:sp>
        <p:nvSpPr>
          <p:cNvPr name="TextBox 17" id="17"/>
          <p:cNvSpPr txBox="true"/>
          <p:nvPr/>
        </p:nvSpPr>
        <p:spPr>
          <a:xfrm rot="0">
            <a:off x="6024027" y="247741"/>
            <a:ext cx="2334816"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Kontak Admin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1019175" y="-4480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808007" y="2231027"/>
            <a:ext cx="3311131" cy="7422519"/>
            <a:chOff x="0" y="0"/>
            <a:chExt cx="461708" cy="1035004"/>
          </a:xfrm>
        </p:grpSpPr>
        <p:sp>
          <p:nvSpPr>
            <p:cNvPr name="Freeform 13" id="13"/>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5"/>
              <a:stretch>
                <a:fillRect l="-229" t="0" r="-229"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5108161" y="2231027"/>
            <a:ext cx="3312667" cy="7425963"/>
            <a:chOff x="0" y="0"/>
            <a:chExt cx="461708" cy="1035004"/>
          </a:xfrm>
        </p:grpSpPr>
        <p:sp>
          <p:nvSpPr>
            <p:cNvPr name="Freeform 15" id="15"/>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6"/>
              <a:stretch>
                <a:fillRect l="-1651" t="0" r="-1651"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9517090" y="2231027"/>
            <a:ext cx="3312667" cy="7425963"/>
            <a:chOff x="0" y="0"/>
            <a:chExt cx="461708" cy="1035004"/>
          </a:xfrm>
        </p:grpSpPr>
        <p:sp>
          <p:nvSpPr>
            <p:cNvPr name="Freeform 17" id="17"/>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7"/>
              <a:stretch>
                <a:fillRect l="0" t="-3357" r="0" b="-3357"/>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18" id="18"/>
          <p:cNvSpPr txBox="true"/>
          <p:nvPr/>
        </p:nvSpPr>
        <p:spPr>
          <a:xfrm rot="0">
            <a:off x="5815718" y="274676"/>
            <a:ext cx="6647038" cy="688976"/>
          </a:xfrm>
          <a:prstGeom prst="rect">
            <a:avLst/>
          </a:prstGeom>
        </p:spPr>
        <p:txBody>
          <a:bodyPr anchor="t" rtlCol="false" tIns="0" lIns="0" bIns="0" rIns="0">
            <a:spAutoFit/>
          </a:bodyPr>
          <a:lstStyle/>
          <a:p>
            <a:pPr algn="ctr">
              <a:lnSpc>
                <a:spcPts val="5599"/>
              </a:lnSpc>
              <a:spcBef>
                <a:spcPct val="0"/>
              </a:spcBef>
            </a:pPr>
            <a:r>
              <a:rPr lang="en-US" sz="3999" spc="-231">
                <a:solidFill>
                  <a:srgbClr val="FFFFFF"/>
                </a:solidFill>
                <a:latin typeface="Higuen Elegant Serif"/>
                <a:ea typeface="Higuen Elegant Serif"/>
                <a:cs typeface="Higuen Elegant Serif"/>
                <a:sym typeface="Higuen Elegant Serif"/>
              </a:rPr>
              <a:t>Dashboard Admin</a:t>
            </a:r>
          </a:p>
        </p:txBody>
      </p:sp>
      <p:sp>
        <p:nvSpPr>
          <p:cNvPr name="TextBox 19" id="19"/>
          <p:cNvSpPr txBox="true"/>
          <p:nvPr/>
        </p:nvSpPr>
        <p:spPr>
          <a:xfrm rot="0">
            <a:off x="1357203" y="1599385"/>
            <a:ext cx="235699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Splash Screen</a:t>
            </a:r>
          </a:p>
        </p:txBody>
      </p:sp>
      <p:sp>
        <p:nvSpPr>
          <p:cNvPr name="TextBox 20" id="20"/>
          <p:cNvSpPr txBox="true"/>
          <p:nvPr/>
        </p:nvSpPr>
        <p:spPr>
          <a:xfrm rot="0">
            <a:off x="14974638" y="1599385"/>
            <a:ext cx="1216968"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Navbar</a:t>
            </a:r>
          </a:p>
        </p:txBody>
      </p:sp>
      <p:sp>
        <p:nvSpPr>
          <p:cNvPr name="TextBox 21" id="21"/>
          <p:cNvSpPr txBox="true"/>
          <p:nvPr/>
        </p:nvSpPr>
        <p:spPr>
          <a:xfrm rot="0">
            <a:off x="10470806" y="1523185"/>
            <a:ext cx="140523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Beranda</a:t>
            </a:r>
          </a:p>
        </p:txBody>
      </p:sp>
      <p:sp>
        <p:nvSpPr>
          <p:cNvPr name="TextBox 22" id="22"/>
          <p:cNvSpPr txBox="true"/>
          <p:nvPr/>
        </p:nvSpPr>
        <p:spPr>
          <a:xfrm rot="0">
            <a:off x="5195474" y="1599385"/>
            <a:ext cx="313804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Masuk akun admin</a:t>
            </a:r>
          </a:p>
        </p:txBody>
      </p:sp>
      <p:grpSp>
        <p:nvGrpSpPr>
          <p:cNvPr name="Group 23" id="23"/>
          <p:cNvGrpSpPr/>
          <p:nvPr/>
        </p:nvGrpSpPr>
        <p:grpSpPr>
          <a:xfrm rot="0">
            <a:off x="13948169" y="2234471"/>
            <a:ext cx="3311131" cy="7422519"/>
            <a:chOff x="0" y="0"/>
            <a:chExt cx="461708" cy="1035004"/>
          </a:xfrm>
        </p:grpSpPr>
        <p:sp>
          <p:nvSpPr>
            <p:cNvPr name="Freeform 24" id="24"/>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8"/>
              <a:stretch>
                <a:fillRect l="-1365" t="0" r="-1366"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5533525" y="-4157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5322357" y="2263327"/>
            <a:ext cx="3311131" cy="7422519"/>
            <a:chOff x="0" y="0"/>
            <a:chExt cx="461708" cy="1035004"/>
          </a:xfrm>
        </p:grpSpPr>
        <p:sp>
          <p:nvSpPr>
            <p:cNvPr name="Freeform 13" id="13"/>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5"/>
              <a:stretch>
                <a:fillRect l="0" t="-471" r="0" b="-471"/>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9622511" y="2263327"/>
            <a:ext cx="3312667" cy="7425963"/>
            <a:chOff x="0" y="0"/>
            <a:chExt cx="461708" cy="1035004"/>
          </a:xfrm>
        </p:grpSpPr>
        <p:sp>
          <p:nvSpPr>
            <p:cNvPr name="Freeform 15" id="15"/>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6"/>
              <a:stretch>
                <a:fillRect l="-1001" t="0" r="-1001"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14031440" y="2263327"/>
            <a:ext cx="3312667" cy="7425963"/>
            <a:chOff x="0" y="0"/>
            <a:chExt cx="461708" cy="1035004"/>
          </a:xfrm>
        </p:grpSpPr>
        <p:sp>
          <p:nvSpPr>
            <p:cNvPr name="Freeform 17" id="17"/>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7"/>
              <a:stretch>
                <a:fillRect l="-2033" t="0" r="-2033"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973483" y="2266771"/>
            <a:ext cx="3311131" cy="7422519"/>
            <a:chOff x="0" y="0"/>
            <a:chExt cx="461708" cy="1035004"/>
          </a:xfrm>
        </p:grpSpPr>
        <p:sp>
          <p:nvSpPr>
            <p:cNvPr name="Freeform 19" id="19"/>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8"/>
              <a:stretch>
                <a:fillRect l="-1627" t="0" r="-1627"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1477457" y="1599385"/>
            <a:ext cx="211648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CRUD Admin</a:t>
            </a:r>
          </a:p>
        </p:txBody>
      </p:sp>
      <p:sp>
        <p:nvSpPr>
          <p:cNvPr name="TextBox 21" id="21"/>
          <p:cNvSpPr txBox="true"/>
          <p:nvPr/>
        </p:nvSpPr>
        <p:spPr>
          <a:xfrm rot="0">
            <a:off x="14739590" y="1599385"/>
            <a:ext cx="1896368"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Hapus Data</a:t>
            </a:r>
          </a:p>
        </p:txBody>
      </p:sp>
      <p:sp>
        <p:nvSpPr>
          <p:cNvPr name="TextBox 22" id="22"/>
          <p:cNvSpPr txBox="true"/>
          <p:nvPr/>
        </p:nvSpPr>
        <p:spPr>
          <a:xfrm rot="0">
            <a:off x="10545196" y="1599385"/>
            <a:ext cx="1467296"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Edit Data</a:t>
            </a:r>
          </a:p>
        </p:txBody>
      </p:sp>
      <p:sp>
        <p:nvSpPr>
          <p:cNvPr name="TextBox 23" id="23"/>
          <p:cNvSpPr txBox="true"/>
          <p:nvPr/>
        </p:nvSpPr>
        <p:spPr>
          <a:xfrm rot="0">
            <a:off x="5904425" y="1599385"/>
            <a:ext cx="2146995"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Tambah data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5507815" y="-4157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5296647" y="2263327"/>
            <a:ext cx="3311131" cy="7422519"/>
            <a:chOff x="0" y="0"/>
            <a:chExt cx="461708" cy="1035004"/>
          </a:xfrm>
        </p:grpSpPr>
        <p:sp>
          <p:nvSpPr>
            <p:cNvPr name="Freeform 13" id="13"/>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5"/>
              <a:stretch>
                <a:fillRect l="0" t="-3890" r="0" b="-389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9596801" y="2263327"/>
            <a:ext cx="3312667" cy="7425963"/>
            <a:chOff x="0" y="0"/>
            <a:chExt cx="461708" cy="1035004"/>
          </a:xfrm>
        </p:grpSpPr>
        <p:sp>
          <p:nvSpPr>
            <p:cNvPr name="Freeform 15" id="15"/>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6"/>
              <a:stretch>
                <a:fillRect l="0" t="-3160" r="0" b="-316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14005731" y="2263327"/>
            <a:ext cx="3312667" cy="7425963"/>
            <a:chOff x="0" y="0"/>
            <a:chExt cx="461708" cy="1035004"/>
          </a:xfrm>
        </p:grpSpPr>
        <p:sp>
          <p:nvSpPr>
            <p:cNvPr name="Freeform 17" id="17"/>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7"/>
              <a:stretch>
                <a:fillRect l="0" t="-3177" r="0" b="-3177"/>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880133" y="2266771"/>
            <a:ext cx="3311131" cy="7422519"/>
            <a:chOff x="0" y="0"/>
            <a:chExt cx="461708" cy="1035004"/>
          </a:xfrm>
        </p:grpSpPr>
        <p:sp>
          <p:nvSpPr>
            <p:cNvPr name="Freeform 19" id="19"/>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8"/>
              <a:stretch>
                <a:fillRect l="-1264" t="0" r="-1264" b="0"/>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1302583" y="1599385"/>
            <a:ext cx="246623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Berhasil Hapus</a:t>
            </a:r>
          </a:p>
        </p:txBody>
      </p:sp>
      <p:sp>
        <p:nvSpPr>
          <p:cNvPr name="TextBox 21" id="21"/>
          <p:cNvSpPr txBox="true"/>
          <p:nvPr/>
        </p:nvSpPr>
        <p:spPr>
          <a:xfrm rot="0">
            <a:off x="14944043" y="1599385"/>
            <a:ext cx="1436043"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Dikemas</a:t>
            </a:r>
          </a:p>
        </p:txBody>
      </p:sp>
      <p:sp>
        <p:nvSpPr>
          <p:cNvPr name="TextBox 22" id="22"/>
          <p:cNvSpPr txBox="true"/>
          <p:nvPr/>
        </p:nvSpPr>
        <p:spPr>
          <a:xfrm rot="0">
            <a:off x="9892548" y="1599385"/>
            <a:ext cx="2721173"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Rincian Pesanan</a:t>
            </a:r>
          </a:p>
        </p:txBody>
      </p:sp>
      <p:sp>
        <p:nvSpPr>
          <p:cNvPr name="TextBox 23" id="23"/>
          <p:cNvSpPr txBox="true"/>
          <p:nvPr/>
        </p:nvSpPr>
        <p:spPr>
          <a:xfrm rot="0">
            <a:off x="5590318" y="1599385"/>
            <a:ext cx="268084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Kelolas Pesanan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grpSp>
        <p:nvGrpSpPr>
          <p:cNvPr name="Group 2" id="2"/>
          <p:cNvGrpSpPr/>
          <p:nvPr/>
        </p:nvGrpSpPr>
        <p:grpSpPr>
          <a:xfrm rot="0">
            <a:off x="2535699" y="-415743"/>
            <a:ext cx="16240125" cy="11118486"/>
            <a:chOff x="0" y="0"/>
            <a:chExt cx="21653500" cy="14824648"/>
          </a:xfrm>
        </p:grpSpPr>
        <p:sp>
          <p:nvSpPr>
            <p:cNvPr name="AutoShape 3" id="3"/>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4" id="4"/>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5" id="5"/>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7" id="7"/>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4584154" y="9085272"/>
            <a:ext cx="2758837" cy="568275"/>
          </a:xfrm>
          <a:custGeom>
            <a:avLst/>
            <a:gdLst/>
            <a:ahLst/>
            <a:cxnLst/>
            <a:rect r="r" b="b" t="t" l="l"/>
            <a:pathLst>
              <a:path h="568275" w="2758837">
                <a:moveTo>
                  <a:pt x="0" y="0"/>
                </a:moveTo>
                <a:lnTo>
                  <a:pt x="2758837" y="0"/>
                </a:lnTo>
                <a:lnTo>
                  <a:pt x="2758837" y="568274"/>
                </a:lnTo>
                <a:lnTo>
                  <a:pt x="0" y="568274"/>
                </a:lnTo>
                <a:lnTo>
                  <a:pt x="0" y="0"/>
                </a:lnTo>
                <a:close/>
              </a:path>
            </a:pathLst>
          </a:custGeom>
          <a:blipFill>
            <a:blip r:embed="rId4"/>
            <a:stretch>
              <a:fillRect l="0" t="-20329" r="0" b="-7659"/>
            </a:stretch>
          </a:blipFill>
        </p:spPr>
      </p:sp>
      <p:sp>
        <p:nvSpPr>
          <p:cNvPr name="Freeform 10" id="10"/>
          <p:cNvSpPr/>
          <p:nvPr/>
        </p:nvSpPr>
        <p:spPr>
          <a:xfrm flipH="false" flipV="false" rot="0">
            <a:off x="1249629" y="9085272"/>
            <a:ext cx="2758837" cy="568275"/>
          </a:xfrm>
          <a:custGeom>
            <a:avLst/>
            <a:gdLst/>
            <a:ahLst/>
            <a:cxnLst/>
            <a:rect r="r" b="b" t="t" l="l"/>
            <a:pathLst>
              <a:path h="568275" w="2758837">
                <a:moveTo>
                  <a:pt x="0" y="0"/>
                </a:moveTo>
                <a:lnTo>
                  <a:pt x="2758838" y="0"/>
                </a:lnTo>
                <a:lnTo>
                  <a:pt x="2758838" y="568274"/>
                </a:lnTo>
                <a:lnTo>
                  <a:pt x="0" y="568274"/>
                </a:lnTo>
                <a:lnTo>
                  <a:pt x="0" y="0"/>
                </a:lnTo>
                <a:close/>
              </a:path>
            </a:pathLst>
          </a:custGeom>
          <a:blipFill>
            <a:blip r:embed="rId4"/>
            <a:stretch>
              <a:fillRect l="0" t="-20329" r="0" b="-7659"/>
            </a:stretch>
          </a:blipFill>
        </p:spPr>
      </p:sp>
      <p:sp>
        <p:nvSpPr>
          <p:cNvPr name="Freeform 11" id="11"/>
          <p:cNvSpPr/>
          <p:nvPr/>
        </p:nvSpPr>
        <p:spPr>
          <a:xfrm flipH="false" flipV="false" rot="0">
            <a:off x="7952113" y="9085272"/>
            <a:ext cx="2775554" cy="571718"/>
          </a:xfrm>
          <a:custGeom>
            <a:avLst/>
            <a:gdLst/>
            <a:ahLst/>
            <a:cxnLst/>
            <a:rect r="r" b="b" t="t" l="l"/>
            <a:pathLst>
              <a:path h="571718" w="2775554">
                <a:moveTo>
                  <a:pt x="0" y="0"/>
                </a:moveTo>
                <a:lnTo>
                  <a:pt x="2775554" y="0"/>
                </a:lnTo>
                <a:lnTo>
                  <a:pt x="2775554" y="571718"/>
                </a:lnTo>
                <a:lnTo>
                  <a:pt x="0" y="571718"/>
                </a:lnTo>
                <a:lnTo>
                  <a:pt x="0" y="0"/>
                </a:lnTo>
                <a:close/>
              </a:path>
            </a:pathLst>
          </a:custGeom>
          <a:blipFill>
            <a:blip r:embed="rId4"/>
            <a:stretch>
              <a:fillRect l="0" t="-20329" r="0" b="-7659"/>
            </a:stretch>
          </a:blipFill>
        </p:spPr>
      </p:sp>
      <p:grpSp>
        <p:nvGrpSpPr>
          <p:cNvPr name="Group 12" id="12"/>
          <p:cNvGrpSpPr/>
          <p:nvPr/>
        </p:nvGrpSpPr>
        <p:grpSpPr>
          <a:xfrm rot="0">
            <a:off x="5275173" y="2234471"/>
            <a:ext cx="3311131" cy="7422519"/>
            <a:chOff x="0" y="0"/>
            <a:chExt cx="461708" cy="1035004"/>
          </a:xfrm>
        </p:grpSpPr>
        <p:sp>
          <p:nvSpPr>
            <p:cNvPr name="Freeform 13" id="13"/>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5"/>
              <a:stretch>
                <a:fillRect l="0" t="-2535" r="0" b="-2535"/>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4" id="14"/>
          <p:cNvGrpSpPr/>
          <p:nvPr/>
        </p:nvGrpSpPr>
        <p:grpSpPr>
          <a:xfrm rot="0">
            <a:off x="9664717" y="2263327"/>
            <a:ext cx="3312667" cy="7425963"/>
            <a:chOff x="0" y="0"/>
            <a:chExt cx="461708" cy="1035004"/>
          </a:xfrm>
        </p:grpSpPr>
        <p:sp>
          <p:nvSpPr>
            <p:cNvPr name="Freeform 15" id="15"/>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6"/>
              <a:stretch>
                <a:fillRect l="0" t="-3584" r="0" b="-3584"/>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6" id="16"/>
          <p:cNvGrpSpPr/>
          <p:nvPr/>
        </p:nvGrpSpPr>
        <p:grpSpPr>
          <a:xfrm rot="0">
            <a:off x="14055797" y="2156775"/>
            <a:ext cx="3312667" cy="7425963"/>
            <a:chOff x="0" y="0"/>
            <a:chExt cx="461708" cy="1035004"/>
          </a:xfrm>
        </p:grpSpPr>
        <p:sp>
          <p:nvSpPr>
            <p:cNvPr name="Freeform 17" id="17"/>
            <p:cNvSpPr/>
            <p:nvPr/>
          </p:nvSpPr>
          <p:spPr>
            <a:xfrm flipH="false" flipV="false" rot="0">
              <a:off x="0" y="0"/>
              <a:ext cx="461708" cy="1035004"/>
            </a:xfrm>
            <a:custGeom>
              <a:avLst/>
              <a:gdLst/>
              <a:ahLst/>
              <a:cxnLst/>
              <a:rect r="r" b="b" t="t" l="l"/>
              <a:pathLst>
                <a:path h="1035004" w="461708">
                  <a:moveTo>
                    <a:pt x="81797" y="0"/>
                  </a:moveTo>
                  <a:lnTo>
                    <a:pt x="379910" y="0"/>
                  </a:lnTo>
                  <a:cubicBezTo>
                    <a:pt x="401604" y="0"/>
                    <a:pt x="422410" y="8618"/>
                    <a:pt x="437750" y="23958"/>
                  </a:cubicBezTo>
                  <a:cubicBezTo>
                    <a:pt x="453090" y="39298"/>
                    <a:pt x="461708" y="60103"/>
                    <a:pt x="461708" y="81797"/>
                  </a:cubicBezTo>
                  <a:lnTo>
                    <a:pt x="461708" y="953207"/>
                  </a:lnTo>
                  <a:cubicBezTo>
                    <a:pt x="461708" y="974901"/>
                    <a:pt x="453090" y="995707"/>
                    <a:pt x="437750" y="1011047"/>
                  </a:cubicBezTo>
                  <a:cubicBezTo>
                    <a:pt x="422410" y="1026386"/>
                    <a:pt x="401604" y="1035004"/>
                    <a:pt x="379910" y="1035004"/>
                  </a:cubicBezTo>
                  <a:lnTo>
                    <a:pt x="81797" y="1035004"/>
                  </a:lnTo>
                  <a:cubicBezTo>
                    <a:pt x="60103" y="1035004"/>
                    <a:pt x="39298" y="1026386"/>
                    <a:pt x="23958" y="1011047"/>
                  </a:cubicBezTo>
                  <a:cubicBezTo>
                    <a:pt x="8618" y="995707"/>
                    <a:pt x="0" y="974901"/>
                    <a:pt x="0" y="953207"/>
                  </a:cubicBezTo>
                  <a:lnTo>
                    <a:pt x="0" y="81797"/>
                  </a:lnTo>
                  <a:cubicBezTo>
                    <a:pt x="0" y="60103"/>
                    <a:pt x="8618" y="39298"/>
                    <a:pt x="23958" y="23958"/>
                  </a:cubicBezTo>
                  <a:cubicBezTo>
                    <a:pt x="39298" y="8618"/>
                    <a:pt x="60103" y="0"/>
                    <a:pt x="81797" y="0"/>
                  </a:cubicBezTo>
                  <a:close/>
                </a:path>
              </a:pathLst>
            </a:custGeom>
            <a:blipFill>
              <a:blip r:embed="rId7"/>
              <a:stretch>
                <a:fillRect l="0" t="-4401" r="0" b="-4401"/>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grpSp>
        <p:nvGrpSpPr>
          <p:cNvPr name="Group 18" id="18"/>
          <p:cNvGrpSpPr/>
          <p:nvPr/>
        </p:nvGrpSpPr>
        <p:grpSpPr>
          <a:xfrm rot="0">
            <a:off x="973483" y="2263327"/>
            <a:ext cx="3311131" cy="7422519"/>
            <a:chOff x="0" y="0"/>
            <a:chExt cx="461708" cy="1035004"/>
          </a:xfrm>
        </p:grpSpPr>
        <p:sp>
          <p:nvSpPr>
            <p:cNvPr name="Freeform 19" id="19"/>
            <p:cNvSpPr/>
            <p:nvPr/>
          </p:nvSpPr>
          <p:spPr>
            <a:xfrm flipH="false" flipV="false" rot="0">
              <a:off x="0" y="0"/>
              <a:ext cx="461708" cy="1035004"/>
            </a:xfrm>
            <a:custGeom>
              <a:avLst/>
              <a:gdLst/>
              <a:ahLst/>
              <a:cxnLst/>
              <a:rect r="r" b="b" t="t" l="l"/>
              <a:pathLst>
                <a:path h="1035004" w="461708">
                  <a:moveTo>
                    <a:pt x="81835" y="0"/>
                  </a:moveTo>
                  <a:lnTo>
                    <a:pt x="379873" y="0"/>
                  </a:lnTo>
                  <a:cubicBezTo>
                    <a:pt x="425069" y="0"/>
                    <a:pt x="461708" y="36639"/>
                    <a:pt x="461708" y="81835"/>
                  </a:cubicBezTo>
                  <a:lnTo>
                    <a:pt x="461708" y="953169"/>
                  </a:lnTo>
                  <a:cubicBezTo>
                    <a:pt x="461708" y="974873"/>
                    <a:pt x="453086" y="995688"/>
                    <a:pt x="437739" y="1011035"/>
                  </a:cubicBezTo>
                  <a:cubicBezTo>
                    <a:pt x="422392" y="1026383"/>
                    <a:pt x="401577" y="1035004"/>
                    <a:pt x="379873" y="1035004"/>
                  </a:cubicBezTo>
                  <a:lnTo>
                    <a:pt x="81835" y="1035004"/>
                  </a:lnTo>
                  <a:cubicBezTo>
                    <a:pt x="36639" y="1035004"/>
                    <a:pt x="0" y="998366"/>
                    <a:pt x="0" y="953169"/>
                  </a:cubicBezTo>
                  <a:lnTo>
                    <a:pt x="0" y="81835"/>
                  </a:lnTo>
                  <a:cubicBezTo>
                    <a:pt x="0" y="36639"/>
                    <a:pt x="36639" y="0"/>
                    <a:pt x="81835" y="0"/>
                  </a:cubicBezTo>
                  <a:close/>
                </a:path>
              </a:pathLst>
            </a:custGeom>
            <a:blipFill>
              <a:blip r:embed="rId8"/>
              <a:stretch>
                <a:fillRect l="0" t="-3545" r="0" b="-3545"/>
              </a:stretch>
            </a:blipFill>
            <a:ln w="9525" cap="rnd">
              <a:gradFill>
                <a:gsLst>
                  <a:gs pos="0">
                    <a:srgbClr val="FFFFFF">
                      <a:alpha val="100000"/>
                    </a:srgbClr>
                  </a:gs>
                  <a:gs pos="25000">
                    <a:srgbClr val="7D7D7D">
                      <a:alpha val="100000"/>
                    </a:srgbClr>
                  </a:gs>
                  <a:gs pos="50000">
                    <a:srgbClr val="FFFFFF">
                      <a:alpha val="100000"/>
                    </a:srgbClr>
                  </a:gs>
                  <a:gs pos="75000">
                    <a:srgbClr val="7C7C7C">
                      <a:alpha val="100000"/>
                    </a:srgbClr>
                  </a:gs>
                  <a:gs pos="100000">
                    <a:srgbClr val="FFFFFF">
                      <a:alpha val="100000"/>
                    </a:srgbClr>
                  </a:gs>
                </a:gsLst>
                <a:lin ang="0"/>
              </a:gradFill>
              <a:prstDash val="solid"/>
              <a:round/>
            </a:ln>
          </p:spPr>
        </p:sp>
      </p:grpSp>
      <p:sp>
        <p:nvSpPr>
          <p:cNvPr name="TextBox 20" id="20"/>
          <p:cNvSpPr txBox="true"/>
          <p:nvPr/>
        </p:nvSpPr>
        <p:spPr>
          <a:xfrm rot="0">
            <a:off x="1953483" y="1599385"/>
            <a:ext cx="1164431"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Dikirim</a:t>
            </a:r>
          </a:p>
        </p:txBody>
      </p:sp>
      <p:sp>
        <p:nvSpPr>
          <p:cNvPr name="TextBox 21" id="21"/>
          <p:cNvSpPr txBox="true"/>
          <p:nvPr/>
        </p:nvSpPr>
        <p:spPr>
          <a:xfrm rot="0">
            <a:off x="14251904" y="1599385"/>
            <a:ext cx="2920454"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Kelolas Keuangan</a:t>
            </a:r>
          </a:p>
        </p:txBody>
      </p:sp>
      <p:sp>
        <p:nvSpPr>
          <p:cNvPr name="TextBox 22" id="22"/>
          <p:cNvSpPr txBox="true"/>
          <p:nvPr/>
        </p:nvSpPr>
        <p:spPr>
          <a:xfrm rot="0">
            <a:off x="9233736" y="1599385"/>
            <a:ext cx="4174629"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Rincian Penilaian Pembeli</a:t>
            </a:r>
          </a:p>
        </p:txBody>
      </p:sp>
      <p:sp>
        <p:nvSpPr>
          <p:cNvPr name="TextBox 23" id="23"/>
          <p:cNvSpPr txBox="true"/>
          <p:nvPr/>
        </p:nvSpPr>
        <p:spPr>
          <a:xfrm rot="0">
            <a:off x="6346811" y="1599385"/>
            <a:ext cx="1167854" cy="523875"/>
          </a:xfrm>
          <a:prstGeom prst="rect">
            <a:avLst/>
          </a:prstGeom>
        </p:spPr>
        <p:txBody>
          <a:bodyPr anchor="t" rtlCol="false" tIns="0" lIns="0" bIns="0" rIns="0">
            <a:spAutoFit/>
          </a:bodyPr>
          <a:lstStyle/>
          <a:p>
            <a:pPr algn="ctr">
              <a:lnSpc>
                <a:spcPts val="4200"/>
              </a:lnSpc>
              <a:spcBef>
                <a:spcPct val="0"/>
              </a:spcBef>
            </a:pPr>
            <a:r>
              <a:rPr lang="en-US" b="true" sz="3000" spc="-174">
                <a:solidFill>
                  <a:srgbClr val="FFFFFF"/>
                </a:solidFill>
                <a:latin typeface="Bricolage Grotesque Bold"/>
                <a:ea typeface="Bricolage Grotesque Bold"/>
                <a:cs typeface="Bricolage Grotesque Bold"/>
                <a:sym typeface="Bricolage Grotesque Bold"/>
              </a:rPr>
              <a:t>Selesai</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sp>
        <p:nvSpPr>
          <p:cNvPr name="Freeform 2" id="2"/>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983568" y="-415743"/>
            <a:ext cx="16240125" cy="11118486"/>
            <a:chOff x="0" y="0"/>
            <a:chExt cx="21653500" cy="14824648"/>
          </a:xfrm>
        </p:grpSpPr>
        <p:sp>
          <p:nvSpPr>
            <p:cNvPr name="AutoShape 5" id="5"/>
            <p:cNvSpPr/>
            <p:nvPr/>
          </p:nvSpPr>
          <p:spPr>
            <a:xfrm>
              <a:off x="63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72199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7" id="7"/>
            <p:cNvSpPr/>
            <p:nvPr/>
          </p:nvSpPr>
          <p:spPr>
            <a:xfrm>
              <a:off x="144335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8" id="8"/>
            <p:cNvSpPr/>
            <p:nvPr/>
          </p:nvSpPr>
          <p:spPr>
            <a:xfrm>
              <a:off x="21647150" y="0"/>
              <a:ext cx="0" cy="14824648"/>
            </a:xfrm>
            <a:prstGeom prst="line">
              <a:avLst/>
            </a:prstGeom>
            <a:ln cap="flat" w="12700">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grpSp>
      <p:sp>
        <p:nvSpPr>
          <p:cNvPr name="Freeform 9" id="9"/>
          <p:cNvSpPr/>
          <p:nvPr/>
        </p:nvSpPr>
        <p:spPr>
          <a:xfrm flipH="false" flipV="false" rot="0">
            <a:off x="839145" y="3067731"/>
            <a:ext cx="12741938" cy="3359238"/>
          </a:xfrm>
          <a:custGeom>
            <a:avLst/>
            <a:gdLst/>
            <a:ahLst/>
            <a:cxnLst/>
            <a:rect r="r" b="b" t="t" l="l"/>
            <a:pathLst>
              <a:path h="3359238" w="12741938">
                <a:moveTo>
                  <a:pt x="0" y="0"/>
                </a:moveTo>
                <a:lnTo>
                  <a:pt x="12741938" y="0"/>
                </a:lnTo>
                <a:lnTo>
                  <a:pt x="12741938" y="3359238"/>
                </a:lnTo>
                <a:lnTo>
                  <a:pt x="0" y="3359238"/>
                </a:lnTo>
                <a:lnTo>
                  <a:pt x="0" y="0"/>
                </a:lnTo>
                <a:close/>
              </a:path>
            </a:pathLst>
          </a:custGeom>
          <a:blipFill>
            <a:blip r:embed="rId4"/>
            <a:stretch>
              <a:fillRect l="0" t="0" r="0" b="0"/>
            </a:stretch>
          </a:blipFill>
        </p:spPr>
      </p:sp>
      <p:sp>
        <p:nvSpPr>
          <p:cNvPr name="Freeform 10" id="10"/>
          <p:cNvSpPr/>
          <p:nvPr/>
        </p:nvSpPr>
        <p:spPr>
          <a:xfrm flipH="false" flipV="false" rot="0">
            <a:off x="839145" y="7060941"/>
            <a:ext cx="12741938" cy="3359238"/>
          </a:xfrm>
          <a:custGeom>
            <a:avLst/>
            <a:gdLst/>
            <a:ahLst/>
            <a:cxnLst/>
            <a:rect r="r" b="b" t="t" l="l"/>
            <a:pathLst>
              <a:path h="3359238" w="12741938">
                <a:moveTo>
                  <a:pt x="0" y="0"/>
                </a:moveTo>
                <a:lnTo>
                  <a:pt x="12741938" y="0"/>
                </a:lnTo>
                <a:lnTo>
                  <a:pt x="12741938" y="3359238"/>
                </a:lnTo>
                <a:lnTo>
                  <a:pt x="0" y="3359238"/>
                </a:lnTo>
                <a:lnTo>
                  <a:pt x="0" y="0"/>
                </a:lnTo>
                <a:close/>
              </a:path>
            </a:pathLst>
          </a:custGeom>
          <a:blipFill>
            <a:blip r:embed="rId4"/>
            <a:stretch>
              <a:fillRect l="0" t="0" r="0" b="0"/>
            </a:stretch>
          </a:blipFill>
        </p:spPr>
      </p:sp>
      <p:grpSp>
        <p:nvGrpSpPr>
          <p:cNvPr name="Group 11" id="11"/>
          <p:cNvGrpSpPr/>
          <p:nvPr/>
        </p:nvGrpSpPr>
        <p:grpSpPr>
          <a:xfrm rot="0">
            <a:off x="-663646" y="-268574"/>
            <a:ext cx="5539308" cy="10688754"/>
            <a:chOff x="0" y="0"/>
            <a:chExt cx="839945" cy="1620774"/>
          </a:xfrm>
        </p:grpSpPr>
        <p:sp>
          <p:nvSpPr>
            <p:cNvPr name="Freeform 12" id="12"/>
            <p:cNvSpPr/>
            <p:nvPr/>
          </p:nvSpPr>
          <p:spPr>
            <a:xfrm flipH="false" flipV="false" rot="0">
              <a:off x="0" y="0"/>
              <a:ext cx="839945" cy="1620774"/>
            </a:xfrm>
            <a:custGeom>
              <a:avLst/>
              <a:gdLst/>
              <a:ahLst/>
              <a:cxnLst/>
              <a:rect r="r" b="b" t="t" l="l"/>
              <a:pathLst>
                <a:path h="1620774" w="839945">
                  <a:moveTo>
                    <a:pt x="0" y="0"/>
                  </a:moveTo>
                  <a:lnTo>
                    <a:pt x="839945" y="0"/>
                  </a:lnTo>
                  <a:lnTo>
                    <a:pt x="839945" y="1620774"/>
                  </a:lnTo>
                  <a:lnTo>
                    <a:pt x="0" y="1620774"/>
                  </a:lnTo>
                  <a:close/>
                </a:path>
              </a:pathLst>
            </a:custGeom>
            <a:blipFill>
              <a:blip r:embed="rId5">
                <a:alphaModFix amt="40000"/>
              </a:blip>
              <a:stretch>
                <a:fillRect l="-3845" t="0" r="-3845" b="0"/>
              </a:stretch>
            </a:blipFill>
            <a:ln cap="sq">
              <a:noFill/>
              <a:prstDash val="solid"/>
              <a:miter/>
            </a:ln>
          </p:spPr>
        </p:sp>
      </p:grpSp>
      <p:grpSp>
        <p:nvGrpSpPr>
          <p:cNvPr name="Group 13" id="13"/>
          <p:cNvGrpSpPr/>
          <p:nvPr/>
        </p:nvGrpSpPr>
        <p:grpSpPr>
          <a:xfrm rot="0">
            <a:off x="3924256" y="3766954"/>
            <a:ext cx="12791025" cy="3293987"/>
            <a:chOff x="0" y="0"/>
            <a:chExt cx="3368830" cy="867552"/>
          </a:xfrm>
        </p:grpSpPr>
        <p:sp>
          <p:nvSpPr>
            <p:cNvPr name="Freeform 14" id="14"/>
            <p:cNvSpPr/>
            <p:nvPr/>
          </p:nvSpPr>
          <p:spPr>
            <a:xfrm flipH="false" flipV="false" rot="0">
              <a:off x="0" y="0"/>
              <a:ext cx="3368830" cy="867552"/>
            </a:xfrm>
            <a:custGeom>
              <a:avLst/>
              <a:gdLst/>
              <a:ahLst/>
              <a:cxnLst/>
              <a:rect r="r" b="b" t="t" l="l"/>
              <a:pathLst>
                <a:path h="867552" w="3368830">
                  <a:moveTo>
                    <a:pt x="37526" y="0"/>
                  </a:moveTo>
                  <a:lnTo>
                    <a:pt x="3331303" y="0"/>
                  </a:lnTo>
                  <a:cubicBezTo>
                    <a:pt x="3352029" y="0"/>
                    <a:pt x="3368830" y="16801"/>
                    <a:pt x="3368830" y="37526"/>
                  </a:cubicBezTo>
                  <a:lnTo>
                    <a:pt x="3368830" y="830026"/>
                  </a:lnTo>
                  <a:cubicBezTo>
                    <a:pt x="3368830" y="839978"/>
                    <a:pt x="3364876" y="849523"/>
                    <a:pt x="3357838" y="856561"/>
                  </a:cubicBezTo>
                  <a:cubicBezTo>
                    <a:pt x="3350801" y="863598"/>
                    <a:pt x="3341256" y="867552"/>
                    <a:pt x="3331303" y="867552"/>
                  </a:cubicBezTo>
                  <a:lnTo>
                    <a:pt x="37526" y="867552"/>
                  </a:lnTo>
                  <a:cubicBezTo>
                    <a:pt x="27574" y="867552"/>
                    <a:pt x="18029" y="863598"/>
                    <a:pt x="10991" y="856561"/>
                  </a:cubicBezTo>
                  <a:cubicBezTo>
                    <a:pt x="3954" y="849523"/>
                    <a:pt x="0" y="839978"/>
                    <a:pt x="0" y="830026"/>
                  </a:cubicBezTo>
                  <a:lnTo>
                    <a:pt x="0" y="37526"/>
                  </a:lnTo>
                  <a:cubicBezTo>
                    <a:pt x="0" y="27574"/>
                    <a:pt x="3954" y="18029"/>
                    <a:pt x="10991" y="10991"/>
                  </a:cubicBezTo>
                  <a:cubicBezTo>
                    <a:pt x="18029" y="3954"/>
                    <a:pt x="27574" y="0"/>
                    <a:pt x="37526" y="0"/>
                  </a:cubicBezTo>
                  <a:close/>
                </a:path>
              </a:pathLst>
            </a:custGeom>
            <a:solidFill>
              <a:srgbClr val="FFFFFF"/>
            </a:solidFill>
            <a:ln w="19050" cap="rnd">
              <a:solidFill>
                <a:srgbClr val="320000"/>
              </a:solidFill>
              <a:prstDash val="solid"/>
              <a:round/>
            </a:ln>
          </p:spPr>
        </p:sp>
        <p:sp>
          <p:nvSpPr>
            <p:cNvPr name="TextBox 15" id="15"/>
            <p:cNvSpPr txBox="true"/>
            <p:nvPr/>
          </p:nvSpPr>
          <p:spPr>
            <a:xfrm>
              <a:off x="0" y="-38100"/>
              <a:ext cx="3368830" cy="905652"/>
            </a:xfrm>
            <a:prstGeom prst="rect">
              <a:avLst/>
            </a:prstGeom>
          </p:spPr>
          <p:txBody>
            <a:bodyPr anchor="ctr" rtlCol="false" tIns="50800" lIns="50800" bIns="50800" rIns="50800"/>
            <a:lstStyle/>
            <a:p>
              <a:pPr algn="l">
                <a:lnSpc>
                  <a:spcPts val="2659"/>
                </a:lnSpc>
                <a:spcBef>
                  <a:spcPct val="0"/>
                </a:spcBef>
              </a:pPr>
            </a:p>
          </p:txBody>
        </p:sp>
      </p:grpSp>
      <p:sp>
        <p:nvSpPr>
          <p:cNvPr name="TextBox 16" id="16"/>
          <p:cNvSpPr txBox="true"/>
          <p:nvPr/>
        </p:nvSpPr>
        <p:spPr>
          <a:xfrm rot="0">
            <a:off x="5583796" y="2172463"/>
            <a:ext cx="17685015" cy="914410"/>
          </a:xfrm>
          <a:prstGeom prst="rect">
            <a:avLst/>
          </a:prstGeom>
        </p:spPr>
        <p:txBody>
          <a:bodyPr anchor="t" rtlCol="false" tIns="0" lIns="0" bIns="0" rIns="0">
            <a:spAutoFit/>
          </a:bodyPr>
          <a:lstStyle/>
          <a:p>
            <a:pPr algn="l">
              <a:lnSpc>
                <a:spcPts val="6800"/>
              </a:lnSpc>
            </a:pPr>
            <a:r>
              <a:rPr lang="en-US" sz="6667" spc="-386" b="true">
                <a:solidFill>
                  <a:srgbClr val="FFFFFF"/>
                </a:solidFill>
                <a:latin typeface="Bricolage Grotesque Bold"/>
                <a:ea typeface="Bricolage Grotesque Bold"/>
                <a:cs typeface="Bricolage Grotesque Bold"/>
                <a:sym typeface="Bricolage Grotesque Bold"/>
              </a:rPr>
              <a:t>Link Figma</a:t>
            </a:r>
          </a:p>
        </p:txBody>
      </p:sp>
      <p:sp>
        <p:nvSpPr>
          <p:cNvPr name="TextBox 17" id="17"/>
          <p:cNvSpPr txBox="true"/>
          <p:nvPr/>
        </p:nvSpPr>
        <p:spPr>
          <a:xfrm rot="0">
            <a:off x="4877600" y="4186056"/>
            <a:ext cx="10884338" cy="2874885"/>
          </a:xfrm>
          <a:prstGeom prst="rect">
            <a:avLst/>
          </a:prstGeom>
        </p:spPr>
        <p:txBody>
          <a:bodyPr anchor="t" rtlCol="false" tIns="0" lIns="0" bIns="0" rIns="0">
            <a:spAutoFit/>
          </a:bodyPr>
          <a:lstStyle/>
          <a:p>
            <a:pPr algn="just">
              <a:lnSpc>
                <a:spcPts val="5421"/>
              </a:lnSpc>
              <a:spcBef>
                <a:spcPct val="0"/>
              </a:spcBef>
            </a:pPr>
            <a:r>
              <a:rPr lang="en-US" sz="4336" spc="-130" u="sng">
                <a:solidFill>
                  <a:srgbClr val="320000"/>
                </a:solidFill>
                <a:latin typeface="Open Sans 2"/>
                <a:ea typeface="Open Sans 2"/>
                <a:cs typeface="Open Sans 2"/>
                <a:sym typeface="Open Sans 2"/>
                <a:hlinkClick r:id="rId6" tooltip="https://www.figma.com/design/EtVbPQLrKY0KScQ8ztPfR5/latihan-ansi?node-id=1-16990&amp;t=wLsI6A84NJn2UuRV-1"/>
              </a:rPr>
              <a:t>https://www.figma.com/design/EtVbPQLrKY0KScQ8ztPfR5/latihan-ansi?node-id=1-16990&amp;t=wLsI6A84NJn2UuRV-1</a:t>
            </a:r>
          </a:p>
          <a:p>
            <a:pPr algn="l" marL="0" indent="0" lvl="0">
              <a:lnSpc>
                <a:spcPts val="6484"/>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320000">
                <a:alpha val="100000"/>
              </a:srgbClr>
            </a:gs>
            <a:gs pos="50000">
              <a:srgbClr val="320003">
                <a:alpha val="100000"/>
              </a:srgbClr>
            </a:gs>
            <a:gs pos="100000">
              <a:srgbClr val="320006">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AutoShape 2" id="2"/>
          <p:cNvSpPr/>
          <p:nvPr/>
        </p:nvSpPr>
        <p:spPr>
          <a:xfrm>
            <a:off x="10239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Freeform 3" id="3"/>
          <p:cNvSpPr/>
          <p:nvPr/>
        </p:nvSpPr>
        <p:spPr>
          <a:xfrm flipH="false" flipV="false" rot="0">
            <a:off x="-1069008" y="-1373680"/>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64341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118443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7" id="7"/>
          <p:cNvSpPr/>
          <p:nvPr/>
        </p:nvSpPr>
        <p:spPr>
          <a:xfrm>
            <a:off x="17254538" y="-448043"/>
            <a:ext cx="0" cy="11118486"/>
          </a:xfrm>
          <a:prstGeom prst="line">
            <a:avLst/>
          </a:prstGeom>
          <a:ln cap="flat" w="9525">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len="sm" w="sm"/>
            <a:tailEnd type="none" len="sm" w="sm"/>
          </a:ln>
        </p:spPr>
      </p:sp>
      <p:grpSp>
        <p:nvGrpSpPr>
          <p:cNvPr name="Group 8" id="8"/>
          <p:cNvGrpSpPr/>
          <p:nvPr/>
        </p:nvGrpSpPr>
        <p:grpSpPr>
          <a:xfrm rot="0">
            <a:off x="12976639" y="-96257"/>
            <a:ext cx="5421584" cy="10461592"/>
            <a:chOff x="0" y="0"/>
            <a:chExt cx="839945" cy="1620774"/>
          </a:xfrm>
        </p:grpSpPr>
        <p:sp>
          <p:nvSpPr>
            <p:cNvPr name="Freeform 9" id="9"/>
            <p:cNvSpPr/>
            <p:nvPr/>
          </p:nvSpPr>
          <p:spPr>
            <a:xfrm flipH="false" flipV="false" rot="0">
              <a:off x="0" y="0"/>
              <a:ext cx="839945" cy="1620774"/>
            </a:xfrm>
            <a:custGeom>
              <a:avLst/>
              <a:gdLst/>
              <a:ahLst/>
              <a:cxnLst/>
              <a:rect r="r" b="b" t="t" l="l"/>
              <a:pathLst>
                <a:path h="1620774" w="839945">
                  <a:moveTo>
                    <a:pt x="0" y="0"/>
                  </a:moveTo>
                  <a:lnTo>
                    <a:pt x="839945" y="0"/>
                  </a:lnTo>
                  <a:lnTo>
                    <a:pt x="839945" y="1620774"/>
                  </a:lnTo>
                  <a:lnTo>
                    <a:pt x="0" y="1620774"/>
                  </a:lnTo>
                  <a:close/>
                </a:path>
              </a:pathLst>
            </a:custGeom>
            <a:blipFill>
              <a:blip r:embed="rId4"/>
              <a:stretch>
                <a:fillRect l="-143869" t="0" r="-47393" b="0"/>
              </a:stretch>
            </a:blipFill>
            <a:ln cap="sq">
              <a:noFill/>
              <a:prstDash val="solid"/>
              <a:miter/>
            </a:ln>
          </p:spPr>
        </p:sp>
      </p:grpSp>
      <p:sp>
        <p:nvSpPr>
          <p:cNvPr name="Freeform 10" id="10"/>
          <p:cNvSpPr/>
          <p:nvPr/>
        </p:nvSpPr>
        <p:spPr>
          <a:xfrm flipH="false" flipV="false" rot="0">
            <a:off x="699681" y="1028700"/>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sp>
        <p:nvSpPr>
          <p:cNvPr name="Freeform 11" id="11"/>
          <p:cNvSpPr/>
          <p:nvPr/>
        </p:nvSpPr>
        <p:spPr>
          <a:xfrm flipH="false" flipV="false" rot="0">
            <a:off x="699681" y="5385578"/>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grpSp>
        <p:nvGrpSpPr>
          <p:cNvPr name="Group 12" id="12"/>
          <p:cNvGrpSpPr/>
          <p:nvPr/>
        </p:nvGrpSpPr>
        <p:grpSpPr>
          <a:xfrm rot="0">
            <a:off x="815566" y="2421562"/>
            <a:ext cx="12791025" cy="5050342"/>
            <a:chOff x="0" y="0"/>
            <a:chExt cx="3368830" cy="1330131"/>
          </a:xfrm>
        </p:grpSpPr>
        <p:sp>
          <p:nvSpPr>
            <p:cNvPr name="Freeform 13" id="13"/>
            <p:cNvSpPr/>
            <p:nvPr/>
          </p:nvSpPr>
          <p:spPr>
            <a:xfrm flipH="false" flipV="false" rot="0">
              <a:off x="0" y="0"/>
              <a:ext cx="3368830" cy="1330131"/>
            </a:xfrm>
            <a:custGeom>
              <a:avLst/>
              <a:gdLst/>
              <a:ahLst/>
              <a:cxnLst/>
              <a:rect r="r" b="b" t="t" l="l"/>
              <a:pathLst>
                <a:path h="1330131" w="3368830">
                  <a:moveTo>
                    <a:pt x="37526" y="0"/>
                  </a:moveTo>
                  <a:lnTo>
                    <a:pt x="3331303" y="0"/>
                  </a:lnTo>
                  <a:cubicBezTo>
                    <a:pt x="3352029" y="0"/>
                    <a:pt x="3368830" y="16801"/>
                    <a:pt x="3368830" y="37526"/>
                  </a:cubicBezTo>
                  <a:lnTo>
                    <a:pt x="3368830" y="1292605"/>
                  </a:lnTo>
                  <a:cubicBezTo>
                    <a:pt x="3368830" y="1302558"/>
                    <a:pt x="3364876" y="1312103"/>
                    <a:pt x="3357838" y="1319140"/>
                  </a:cubicBezTo>
                  <a:cubicBezTo>
                    <a:pt x="3350801" y="1326178"/>
                    <a:pt x="3341256" y="1330131"/>
                    <a:pt x="3331303" y="1330131"/>
                  </a:cubicBezTo>
                  <a:lnTo>
                    <a:pt x="37526" y="1330131"/>
                  </a:lnTo>
                  <a:cubicBezTo>
                    <a:pt x="27574" y="1330131"/>
                    <a:pt x="18029" y="1326178"/>
                    <a:pt x="10991" y="1319140"/>
                  </a:cubicBezTo>
                  <a:cubicBezTo>
                    <a:pt x="3954" y="1312103"/>
                    <a:pt x="0" y="1302558"/>
                    <a:pt x="0" y="1292605"/>
                  </a:cubicBezTo>
                  <a:lnTo>
                    <a:pt x="0" y="37526"/>
                  </a:lnTo>
                  <a:cubicBezTo>
                    <a:pt x="0" y="27574"/>
                    <a:pt x="3954" y="18029"/>
                    <a:pt x="10991" y="10991"/>
                  </a:cubicBezTo>
                  <a:cubicBezTo>
                    <a:pt x="18029" y="3954"/>
                    <a:pt x="27574" y="0"/>
                    <a:pt x="37526" y="0"/>
                  </a:cubicBezTo>
                  <a:close/>
                </a:path>
              </a:pathLst>
            </a:custGeom>
            <a:solidFill>
              <a:srgbClr val="FFFFFF"/>
            </a:solidFill>
            <a:ln w="19050" cap="rnd">
              <a:solidFill>
                <a:srgbClr val="320000"/>
              </a:solidFill>
              <a:prstDash val="solid"/>
              <a:round/>
            </a:ln>
          </p:spPr>
        </p:sp>
        <p:sp>
          <p:nvSpPr>
            <p:cNvPr name="TextBox 14" id="14"/>
            <p:cNvSpPr txBox="true"/>
            <p:nvPr/>
          </p:nvSpPr>
          <p:spPr>
            <a:xfrm>
              <a:off x="0" y="-38100"/>
              <a:ext cx="3368830" cy="1368231"/>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4298029" y="8216870"/>
            <a:ext cx="8383335" cy="1041430"/>
            <a:chOff x="0" y="0"/>
            <a:chExt cx="2207957" cy="274286"/>
          </a:xfrm>
        </p:grpSpPr>
        <p:sp>
          <p:nvSpPr>
            <p:cNvPr name="Freeform 16" id="16"/>
            <p:cNvSpPr/>
            <p:nvPr/>
          </p:nvSpPr>
          <p:spPr>
            <a:xfrm flipH="false" flipV="false" rot="0">
              <a:off x="0" y="0"/>
              <a:ext cx="2207957" cy="274286"/>
            </a:xfrm>
            <a:custGeom>
              <a:avLst/>
              <a:gdLst/>
              <a:ahLst/>
              <a:cxnLst/>
              <a:rect r="r" b="b" t="t" l="l"/>
              <a:pathLst>
                <a:path h="274286" w="2207957">
                  <a:moveTo>
                    <a:pt x="57256" y="0"/>
                  </a:moveTo>
                  <a:lnTo>
                    <a:pt x="2150700" y="0"/>
                  </a:lnTo>
                  <a:cubicBezTo>
                    <a:pt x="2165885" y="0"/>
                    <a:pt x="2180449" y="6032"/>
                    <a:pt x="2191187" y="16770"/>
                  </a:cubicBezTo>
                  <a:cubicBezTo>
                    <a:pt x="2201924" y="27508"/>
                    <a:pt x="2207957" y="42071"/>
                    <a:pt x="2207957" y="57256"/>
                  </a:cubicBezTo>
                  <a:lnTo>
                    <a:pt x="2207957" y="217030"/>
                  </a:lnTo>
                  <a:cubicBezTo>
                    <a:pt x="2207957" y="232215"/>
                    <a:pt x="2201924" y="246778"/>
                    <a:pt x="2191187" y="257516"/>
                  </a:cubicBezTo>
                  <a:cubicBezTo>
                    <a:pt x="2180449" y="268254"/>
                    <a:pt x="2165885" y="274286"/>
                    <a:pt x="2150700" y="274286"/>
                  </a:cubicBezTo>
                  <a:lnTo>
                    <a:pt x="57256" y="274286"/>
                  </a:lnTo>
                  <a:cubicBezTo>
                    <a:pt x="42071" y="274286"/>
                    <a:pt x="27508" y="268254"/>
                    <a:pt x="16770" y="257516"/>
                  </a:cubicBezTo>
                  <a:cubicBezTo>
                    <a:pt x="6032" y="246778"/>
                    <a:pt x="0" y="232215"/>
                    <a:pt x="0" y="217030"/>
                  </a:cubicBezTo>
                  <a:lnTo>
                    <a:pt x="0" y="57256"/>
                  </a:lnTo>
                  <a:cubicBezTo>
                    <a:pt x="0" y="42071"/>
                    <a:pt x="6032" y="27508"/>
                    <a:pt x="16770" y="16770"/>
                  </a:cubicBezTo>
                  <a:cubicBezTo>
                    <a:pt x="27508" y="6032"/>
                    <a:pt x="42071" y="0"/>
                    <a:pt x="57256" y="0"/>
                  </a:cubicBezTo>
                  <a:close/>
                </a:path>
              </a:pathLst>
            </a:custGeom>
            <a:gradFill rotWithShape="true">
              <a:gsLst>
                <a:gs pos="0">
                  <a:srgbClr val="FFFFFF">
                    <a:alpha val="8400"/>
                  </a:srgbClr>
                </a:gs>
                <a:gs pos="25000">
                  <a:srgbClr val="FFFFFF">
                    <a:alpha val="24000"/>
                  </a:srgbClr>
                </a:gs>
                <a:gs pos="50000">
                  <a:srgbClr val="FFFFFF">
                    <a:alpha val="8000"/>
                  </a:srgbClr>
                </a:gs>
                <a:gs pos="75000">
                  <a:srgbClr val="FFFFFF">
                    <a:alpha val="24000"/>
                  </a:srgbClr>
                </a:gs>
                <a:gs pos="100000">
                  <a:srgbClr val="FFFFFF">
                    <a:alpha val="8000"/>
                  </a:srgbClr>
                </a:gs>
              </a:gsLst>
              <a:lin ang="2700000"/>
            </a:gradFill>
            <a:ln w="19050" cap="rnd">
              <a:solidFill>
                <a:srgbClr val="FFFFFF">
                  <a:alpha val="80000"/>
                </a:srgbClr>
              </a:solidFill>
              <a:prstDash val="solid"/>
              <a:round/>
            </a:ln>
          </p:spPr>
        </p:sp>
        <p:sp>
          <p:nvSpPr>
            <p:cNvPr name="TextBox 17" id="17"/>
            <p:cNvSpPr txBox="true"/>
            <p:nvPr/>
          </p:nvSpPr>
          <p:spPr>
            <a:xfrm>
              <a:off x="0" y="-38100"/>
              <a:ext cx="2207957" cy="312386"/>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15566" y="8216870"/>
            <a:ext cx="5077952" cy="1041430"/>
            <a:chOff x="0" y="0"/>
            <a:chExt cx="1337403" cy="274286"/>
          </a:xfrm>
        </p:grpSpPr>
        <p:sp>
          <p:nvSpPr>
            <p:cNvPr name="Freeform 19" id="19"/>
            <p:cNvSpPr/>
            <p:nvPr/>
          </p:nvSpPr>
          <p:spPr>
            <a:xfrm flipH="false" flipV="false" rot="0">
              <a:off x="0" y="0"/>
              <a:ext cx="1337403" cy="274286"/>
            </a:xfrm>
            <a:custGeom>
              <a:avLst/>
              <a:gdLst/>
              <a:ahLst/>
              <a:cxnLst/>
              <a:rect r="r" b="b" t="t" l="l"/>
              <a:pathLst>
                <a:path h="274286" w="1337403">
                  <a:moveTo>
                    <a:pt x="94526" y="0"/>
                  </a:moveTo>
                  <a:lnTo>
                    <a:pt x="1242877" y="0"/>
                  </a:lnTo>
                  <a:cubicBezTo>
                    <a:pt x="1295082" y="0"/>
                    <a:pt x="1337403" y="42321"/>
                    <a:pt x="1337403" y="94526"/>
                  </a:cubicBezTo>
                  <a:lnTo>
                    <a:pt x="1337403" y="179760"/>
                  </a:lnTo>
                  <a:cubicBezTo>
                    <a:pt x="1337403" y="204830"/>
                    <a:pt x="1327444" y="228873"/>
                    <a:pt x="1309717" y="246600"/>
                  </a:cubicBezTo>
                  <a:cubicBezTo>
                    <a:pt x="1291990" y="264327"/>
                    <a:pt x="1267947" y="274286"/>
                    <a:pt x="1242877" y="274286"/>
                  </a:cubicBezTo>
                  <a:lnTo>
                    <a:pt x="94526" y="274286"/>
                  </a:lnTo>
                  <a:cubicBezTo>
                    <a:pt x="42321" y="274286"/>
                    <a:pt x="0" y="231965"/>
                    <a:pt x="0" y="179760"/>
                  </a:cubicBezTo>
                  <a:lnTo>
                    <a:pt x="0" y="94526"/>
                  </a:lnTo>
                  <a:cubicBezTo>
                    <a:pt x="0" y="42321"/>
                    <a:pt x="42321" y="0"/>
                    <a:pt x="94526" y="0"/>
                  </a:cubicBezTo>
                  <a:close/>
                </a:path>
              </a:pathLst>
            </a:custGeom>
            <a:solidFill>
              <a:srgbClr val="FFFFFF"/>
            </a:solidFill>
            <a:ln w="19050" cap="rnd">
              <a:solidFill>
                <a:srgbClr val="320000"/>
              </a:solidFill>
              <a:prstDash val="solid"/>
              <a:round/>
            </a:ln>
          </p:spPr>
        </p:sp>
        <p:sp>
          <p:nvSpPr>
            <p:cNvPr name="TextBox 20" id="20"/>
            <p:cNvSpPr txBox="true"/>
            <p:nvPr/>
          </p:nvSpPr>
          <p:spPr>
            <a:xfrm>
              <a:off x="0" y="-38100"/>
              <a:ext cx="1337403" cy="312386"/>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195873" y="3233030"/>
            <a:ext cx="17447611" cy="2739702"/>
          </a:xfrm>
          <a:prstGeom prst="rect">
            <a:avLst/>
          </a:prstGeom>
        </p:spPr>
        <p:txBody>
          <a:bodyPr anchor="t" rtlCol="false" tIns="0" lIns="0" bIns="0" rIns="0">
            <a:spAutoFit/>
          </a:bodyPr>
          <a:lstStyle/>
          <a:p>
            <a:pPr algn="l">
              <a:lnSpc>
                <a:spcPts val="20672"/>
              </a:lnSpc>
            </a:pPr>
            <a:r>
              <a:rPr lang="en-US" sz="20266" spc="-1175" b="true">
                <a:solidFill>
                  <a:srgbClr val="320000"/>
                </a:solidFill>
                <a:latin typeface="Bricolage Grotesque Bold"/>
                <a:ea typeface="Bricolage Grotesque Bold"/>
                <a:cs typeface="Bricolage Grotesque Bold"/>
                <a:sym typeface="Bricolage Grotesque Bold"/>
              </a:rPr>
              <a:t>Th</a:t>
            </a:r>
            <a:r>
              <a:rPr lang="en-US" b="true" sz="20266" spc="-1175">
                <a:solidFill>
                  <a:srgbClr val="320000"/>
                </a:solidFill>
                <a:latin typeface="Bricolage Grotesque Bold"/>
                <a:ea typeface="Bricolage Grotesque Bold"/>
                <a:cs typeface="Bricolage Grotesque Bold"/>
                <a:sym typeface="Bricolage Grotesque Bold"/>
              </a:rPr>
              <a:t>ank You</a:t>
            </a:r>
          </a:p>
        </p:txBody>
      </p:sp>
      <p:sp>
        <p:nvSpPr>
          <p:cNvPr name="TextBox 22" id="22"/>
          <p:cNvSpPr txBox="true"/>
          <p:nvPr/>
        </p:nvSpPr>
        <p:spPr>
          <a:xfrm rot="0">
            <a:off x="8220075" y="6442969"/>
            <a:ext cx="4317426" cy="643975"/>
          </a:xfrm>
          <a:prstGeom prst="rect">
            <a:avLst/>
          </a:prstGeom>
        </p:spPr>
        <p:txBody>
          <a:bodyPr anchor="t" rtlCol="false" tIns="0" lIns="0" bIns="0" rIns="0">
            <a:spAutoFit/>
          </a:bodyPr>
          <a:lstStyle/>
          <a:p>
            <a:pPr algn="l" marL="0" indent="0" lvl="0">
              <a:lnSpc>
                <a:spcPts val="2608"/>
              </a:lnSpc>
              <a:spcBef>
                <a:spcPct val="0"/>
              </a:spcBef>
            </a:pPr>
            <a:r>
              <a:rPr lang="en-US" sz="2086" spc="-62" strike="noStrike" u="none">
                <a:solidFill>
                  <a:srgbClr val="320000"/>
                </a:solidFill>
                <a:latin typeface="Open Sans 2"/>
                <a:ea typeface="Open Sans 2"/>
                <a:cs typeface="Open Sans 2"/>
                <a:sym typeface="Open Sans 2"/>
              </a:rPr>
              <a:t>Discovering Impact: The Contribution of Research to Society</a:t>
            </a:r>
          </a:p>
        </p:txBody>
      </p:sp>
      <p:sp>
        <p:nvSpPr>
          <p:cNvPr name="TextBox 23" id="23"/>
          <p:cNvSpPr txBox="true"/>
          <p:nvPr/>
        </p:nvSpPr>
        <p:spPr>
          <a:xfrm rot="0">
            <a:off x="1326848" y="6442969"/>
            <a:ext cx="3318718" cy="643975"/>
          </a:xfrm>
          <a:prstGeom prst="rect">
            <a:avLst/>
          </a:prstGeom>
        </p:spPr>
        <p:txBody>
          <a:bodyPr anchor="t" rtlCol="false" tIns="0" lIns="0" bIns="0" rIns="0">
            <a:spAutoFit/>
          </a:bodyPr>
          <a:lstStyle/>
          <a:p>
            <a:pPr algn="l">
              <a:lnSpc>
                <a:spcPts val="2608"/>
              </a:lnSpc>
            </a:pPr>
            <a:r>
              <a:rPr lang="en-US" sz="2086" spc="-62">
                <a:solidFill>
                  <a:srgbClr val="320000"/>
                </a:solidFill>
                <a:latin typeface="Open Sans 2"/>
                <a:ea typeface="Open Sans 2"/>
                <a:cs typeface="Open Sans 2"/>
                <a:sym typeface="Open Sans 2"/>
              </a:rPr>
              <a:t>Product Research Proposal for Salford &amp; Co.</a:t>
            </a:r>
          </a:p>
        </p:txBody>
      </p:sp>
      <p:sp>
        <p:nvSpPr>
          <p:cNvPr name="TextBox 24" id="24"/>
          <p:cNvSpPr txBox="true"/>
          <p:nvPr/>
        </p:nvSpPr>
        <p:spPr>
          <a:xfrm rot="0">
            <a:off x="1326848" y="8539192"/>
            <a:ext cx="3894213" cy="372744"/>
          </a:xfrm>
          <a:prstGeom prst="rect">
            <a:avLst/>
          </a:prstGeom>
        </p:spPr>
        <p:txBody>
          <a:bodyPr anchor="t" rtlCol="false" tIns="0" lIns="0" bIns="0" rIns="0">
            <a:spAutoFit/>
          </a:bodyPr>
          <a:lstStyle/>
          <a:p>
            <a:pPr algn="l">
              <a:lnSpc>
                <a:spcPts val="3080"/>
              </a:lnSpc>
              <a:spcBef>
                <a:spcPct val="0"/>
              </a:spcBef>
            </a:pPr>
            <a:r>
              <a:rPr lang="en-US" sz="2200" spc="-77">
                <a:solidFill>
                  <a:srgbClr val="320000"/>
                </a:solidFill>
                <a:latin typeface="Open Sans 1"/>
                <a:ea typeface="Open Sans 1"/>
                <a:cs typeface="Open Sans 1"/>
                <a:sym typeface="Open Sans 1"/>
              </a:rPr>
              <a:t>Presented by: Aaron Loeb</a:t>
            </a:r>
          </a:p>
        </p:txBody>
      </p:sp>
      <p:sp>
        <p:nvSpPr>
          <p:cNvPr name="TextBox 25" id="25"/>
          <p:cNvSpPr txBox="true"/>
          <p:nvPr/>
        </p:nvSpPr>
        <p:spPr>
          <a:xfrm rot="0">
            <a:off x="6879293" y="8581737"/>
            <a:ext cx="1972567"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+123-456-7890</a:t>
            </a:r>
          </a:p>
        </p:txBody>
      </p:sp>
      <p:sp>
        <p:nvSpPr>
          <p:cNvPr name="TextBox 26" id="26"/>
          <p:cNvSpPr txBox="true"/>
          <p:nvPr/>
        </p:nvSpPr>
        <p:spPr>
          <a:xfrm rot="0">
            <a:off x="9545463" y="8581737"/>
            <a:ext cx="2915598" cy="297180"/>
          </a:xfrm>
          <a:prstGeom prst="rect">
            <a:avLst/>
          </a:prstGeom>
        </p:spPr>
        <p:txBody>
          <a:bodyPr anchor="t" rtlCol="false" tIns="0" lIns="0" bIns="0" rIns="0">
            <a:spAutoFit/>
          </a:bodyPr>
          <a:lstStyle/>
          <a:p>
            <a:pPr algn="l" marL="0" indent="0" lvl="0">
              <a:lnSpc>
                <a:spcPts val="2520"/>
              </a:lnSpc>
              <a:spcBef>
                <a:spcPct val="0"/>
              </a:spcBef>
            </a:pPr>
            <a:r>
              <a:rPr lang="en-US" sz="1800" strike="noStrike" u="none">
                <a:solidFill>
                  <a:srgbClr val="FFFFFF"/>
                </a:solidFill>
                <a:latin typeface="Open Sans 1"/>
                <a:ea typeface="Open Sans 1"/>
                <a:cs typeface="Open Sans 1"/>
                <a:sym typeface="Open Sans 1"/>
              </a:rPr>
              <a:t>www.reallygreatsite.com</a:t>
            </a:r>
          </a:p>
        </p:txBody>
      </p:sp>
      <p:sp>
        <p:nvSpPr>
          <p:cNvPr name="Freeform 27" id="27"/>
          <p:cNvSpPr/>
          <p:nvPr/>
        </p:nvSpPr>
        <p:spPr>
          <a:xfrm flipH="false" flipV="false" rot="0">
            <a:off x="1133120" y="945978"/>
            <a:ext cx="345628" cy="407930"/>
          </a:xfrm>
          <a:custGeom>
            <a:avLst/>
            <a:gdLst/>
            <a:ahLst/>
            <a:cxnLst/>
            <a:rect r="r" b="b" t="t" l="l"/>
            <a:pathLst>
              <a:path h="407930" w="345628">
                <a:moveTo>
                  <a:pt x="0" y="0"/>
                </a:moveTo>
                <a:lnTo>
                  <a:pt x="345628" y="0"/>
                </a:lnTo>
                <a:lnTo>
                  <a:pt x="345628" y="407930"/>
                </a:lnTo>
                <a:lnTo>
                  <a:pt x="0" y="40793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1757089" y="981075"/>
            <a:ext cx="3608461" cy="349250"/>
          </a:xfrm>
          <a:prstGeom prst="rect">
            <a:avLst/>
          </a:prstGeom>
        </p:spPr>
        <p:txBody>
          <a:bodyPr anchor="t" rtlCol="false" tIns="0" lIns="0" bIns="0" rIns="0">
            <a:spAutoFit/>
          </a:bodyPr>
          <a:lstStyle/>
          <a:p>
            <a:pPr algn="l">
              <a:lnSpc>
                <a:spcPts val="2800"/>
              </a:lnSpc>
            </a:pPr>
            <a:r>
              <a:rPr lang="en-US" b="true" sz="2000" spc="-88">
                <a:solidFill>
                  <a:srgbClr val="FFFFFF"/>
                </a:solidFill>
                <a:latin typeface="Open Sans 2 Bold"/>
                <a:ea typeface="Open Sans 2 Bold"/>
                <a:cs typeface="Open Sans 2 Bold"/>
                <a:sym typeface="Open Sans 2 Bold"/>
              </a:rPr>
              <a:t>Salford &amp; Co.</a:t>
            </a:r>
          </a:p>
        </p:txBody>
      </p:sp>
      <p:sp>
        <p:nvSpPr>
          <p:cNvPr name="TextBox 29" id="29"/>
          <p:cNvSpPr txBox="true"/>
          <p:nvPr/>
        </p:nvSpPr>
        <p:spPr>
          <a:xfrm rot="0">
            <a:off x="10378788" y="981075"/>
            <a:ext cx="2264569" cy="349250"/>
          </a:xfrm>
          <a:prstGeom prst="rect">
            <a:avLst/>
          </a:prstGeom>
        </p:spPr>
        <p:txBody>
          <a:bodyPr anchor="t" rtlCol="false" tIns="0" lIns="0" bIns="0" rIns="0">
            <a:spAutoFit/>
          </a:bodyPr>
          <a:lstStyle/>
          <a:p>
            <a:pPr algn="ctr">
              <a:lnSpc>
                <a:spcPts val="2800"/>
              </a:lnSpc>
            </a:pPr>
            <a:r>
              <a:rPr lang="en-US" sz="2000" spc="-88">
                <a:solidFill>
                  <a:srgbClr val="FFFFFF"/>
                </a:solidFill>
                <a:latin typeface="Open Sans 2"/>
                <a:ea typeface="Open Sans 2"/>
                <a:cs typeface="Open Sans 2"/>
                <a:sym typeface="Open Sans 2"/>
              </a:rPr>
              <a:t>October 2025</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320000"/>
        </a:solidFill>
      </p:bgPr>
    </p:bg>
    <p:spTree>
      <p:nvGrpSpPr>
        <p:cNvPr id="1" name=""/>
        <p:cNvGrpSpPr/>
        <p:nvPr/>
      </p:nvGrpSpPr>
      <p:grpSpPr>
        <a:xfrm>
          <a:off x="0" y="0"/>
          <a:ext cx="0" cy="0"/>
          <a:chOff x="0" y="0"/>
          <a:chExt cx="0" cy="0"/>
        </a:xfrm>
      </p:grpSpPr>
      <p:sp>
        <p:nvSpPr>
          <p:cNvPr name="AutoShape 2" id="2"/>
          <p:cNvSpPr/>
          <p:nvPr/>
        </p:nvSpPr>
        <p:spPr>
          <a:xfrm>
            <a:off x="10239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Freeform 3" id="3"/>
          <p:cNvSpPr/>
          <p:nvPr/>
        </p:nvSpPr>
        <p:spPr>
          <a:xfrm flipH="false" flipV="false" rot="0">
            <a:off x="-1087109" y="-1319378"/>
            <a:ext cx="7209415" cy="7209415"/>
          </a:xfrm>
          <a:custGeom>
            <a:avLst/>
            <a:gdLst/>
            <a:ahLst/>
            <a:cxnLst/>
            <a:rect r="r" b="b" t="t" l="l"/>
            <a:pathLst>
              <a:path h="7209415" w="7209415">
                <a:moveTo>
                  <a:pt x="0" y="0"/>
                </a:moveTo>
                <a:lnTo>
                  <a:pt x="7209414" y="0"/>
                </a:lnTo>
                <a:lnTo>
                  <a:pt x="7209414" y="7209415"/>
                </a:lnTo>
                <a:lnTo>
                  <a:pt x="0" y="72094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305222" y="146101"/>
            <a:ext cx="1251032" cy="1251032"/>
          </a:xfrm>
          <a:custGeom>
            <a:avLst/>
            <a:gdLst/>
            <a:ahLst/>
            <a:cxnLst/>
            <a:rect r="r" b="b" t="t" l="l"/>
            <a:pathLst>
              <a:path h="1251032" w="1251032">
                <a:moveTo>
                  <a:pt x="0" y="0"/>
                </a:moveTo>
                <a:lnTo>
                  <a:pt x="1251032" y="0"/>
                </a:lnTo>
                <a:lnTo>
                  <a:pt x="1251032" y="1251031"/>
                </a:lnTo>
                <a:lnTo>
                  <a:pt x="0" y="12510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64341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6" id="6"/>
          <p:cNvSpPr/>
          <p:nvPr/>
        </p:nvSpPr>
        <p:spPr>
          <a:xfrm>
            <a:off x="11844338" y="-448043"/>
            <a:ext cx="0" cy="11118486"/>
          </a:xfrm>
          <a:prstGeom prst="line">
            <a:avLst/>
          </a:prstGeom>
          <a:ln cap="flat" w="9525">
            <a:gradFill>
              <a:gsLst>
                <a:gs pos="0">
                  <a:srgbClr val="FFFFFF">
                    <a:alpha val="15000"/>
                  </a:srgbClr>
                </a:gs>
                <a:gs pos="25000">
                  <a:srgbClr val="7D7D7D">
                    <a:alpha val="15000"/>
                  </a:srgbClr>
                </a:gs>
                <a:gs pos="50000">
                  <a:srgbClr val="FFFFFF">
                    <a:alpha val="15000"/>
                  </a:srgbClr>
                </a:gs>
                <a:gs pos="75000">
                  <a:srgbClr val="7C7C7C">
                    <a:alpha val="15000"/>
                  </a:srgbClr>
                </a:gs>
                <a:gs pos="100000">
                  <a:srgbClr val="FFFFFF">
                    <a:alpha val="15000"/>
                  </a:srgbClr>
                </a:gs>
              </a:gsLst>
              <a:lin ang="0"/>
            </a:gradFill>
            <a:prstDash val="solid"/>
            <a:headEnd type="none" len="sm" w="sm"/>
            <a:tailEnd type="none" len="sm" w="sm"/>
          </a:ln>
        </p:spPr>
      </p:sp>
      <p:sp>
        <p:nvSpPr>
          <p:cNvPr name="AutoShape 7" id="7"/>
          <p:cNvSpPr/>
          <p:nvPr/>
        </p:nvSpPr>
        <p:spPr>
          <a:xfrm>
            <a:off x="17254538" y="-448043"/>
            <a:ext cx="0" cy="11118486"/>
          </a:xfrm>
          <a:prstGeom prst="line">
            <a:avLst/>
          </a:prstGeom>
          <a:ln cap="flat" w="9525">
            <a:gradFill>
              <a:gsLst>
                <a:gs pos="0">
                  <a:srgbClr val="FFFFFF">
                    <a:alpha val="26000"/>
                  </a:srgbClr>
                </a:gs>
                <a:gs pos="25000">
                  <a:srgbClr val="7D7D7D">
                    <a:alpha val="26000"/>
                  </a:srgbClr>
                </a:gs>
                <a:gs pos="50000">
                  <a:srgbClr val="FFFFFF">
                    <a:alpha val="26000"/>
                  </a:srgbClr>
                </a:gs>
                <a:gs pos="75000">
                  <a:srgbClr val="7C7C7C">
                    <a:alpha val="26000"/>
                  </a:srgbClr>
                </a:gs>
                <a:gs pos="100000">
                  <a:srgbClr val="FFFFFF">
                    <a:alpha val="26000"/>
                  </a:srgbClr>
                </a:gs>
              </a:gsLst>
              <a:lin ang="0"/>
            </a:gradFill>
            <a:prstDash val="solid"/>
            <a:headEnd type="none" len="sm" w="sm"/>
            <a:tailEnd type="none" len="sm" w="sm"/>
          </a:ln>
        </p:spPr>
      </p:sp>
      <p:grpSp>
        <p:nvGrpSpPr>
          <p:cNvPr name="Group 8" id="8"/>
          <p:cNvGrpSpPr/>
          <p:nvPr/>
        </p:nvGrpSpPr>
        <p:grpSpPr>
          <a:xfrm rot="0">
            <a:off x="12976639" y="-96257"/>
            <a:ext cx="5421584" cy="10461592"/>
            <a:chOff x="0" y="0"/>
            <a:chExt cx="839945" cy="1620774"/>
          </a:xfrm>
        </p:grpSpPr>
        <p:sp>
          <p:nvSpPr>
            <p:cNvPr name="Freeform 9" id="9"/>
            <p:cNvSpPr/>
            <p:nvPr/>
          </p:nvSpPr>
          <p:spPr>
            <a:xfrm flipH="false" flipV="false" rot="0">
              <a:off x="0" y="0"/>
              <a:ext cx="839945" cy="1620774"/>
            </a:xfrm>
            <a:custGeom>
              <a:avLst/>
              <a:gdLst/>
              <a:ahLst/>
              <a:cxnLst/>
              <a:rect r="r" b="b" t="t" l="l"/>
              <a:pathLst>
                <a:path h="1620774" w="839945">
                  <a:moveTo>
                    <a:pt x="0" y="0"/>
                  </a:moveTo>
                  <a:lnTo>
                    <a:pt x="839945" y="0"/>
                  </a:lnTo>
                  <a:lnTo>
                    <a:pt x="839945" y="1620774"/>
                  </a:lnTo>
                  <a:lnTo>
                    <a:pt x="0" y="1620774"/>
                  </a:lnTo>
                  <a:close/>
                </a:path>
              </a:pathLst>
            </a:custGeom>
            <a:blipFill>
              <a:blip r:embed="rId4"/>
              <a:stretch>
                <a:fillRect l="-3845" t="0" r="-3845" b="0"/>
              </a:stretch>
            </a:blipFill>
            <a:ln cap="sq">
              <a:noFill/>
              <a:prstDash val="solid"/>
              <a:miter/>
            </a:ln>
          </p:spPr>
        </p:sp>
      </p:grpSp>
      <p:sp>
        <p:nvSpPr>
          <p:cNvPr name="Freeform 10" id="10"/>
          <p:cNvSpPr/>
          <p:nvPr/>
        </p:nvSpPr>
        <p:spPr>
          <a:xfrm flipH="false" flipV="false" rot="0">
            <a:off x="699681" y="1028700"/>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sp>
        <p:nvSpPr>
          <p:cNvPr name="Freeform 11" id="11"/>
          <p:cNvSpPr/>
          <p:nvPr/>
        </p:nvSpPr>
        <p:spPr>
          <a:xfrm flipH="false" flipV="false" rot="0">
            <a:off x="699681" y="5385578"/>
            <a:ext cx="12906910" cy="3402731"/>
          </a:xfrm>
          <a:custGeom>
            <a:avLst/>
            <a:gdLst/>
            <a:ahLst/>
            <a:cxnLst/>
            <a:rect r="r" b="b" t="t" l="l"/>
            <a:pathLst>
              <a:path h="3402731" w="12906910">
                <a:moveTo>
                  <a:pt x="0" y="0"/>
                </a:moveTo>
                <a:lnTo>
                  <a:pt x="12906910" y="0"/>
                </a:lnTo>
                <a:lnTo>
                  <a:pt x="12906910" y="3402731"/>
                </a:lnTo>
                <a:lnTo>
                  <a:pt x="0" y="3402731"/>
                </a:lnTo>
                <a:lnTo>
                  <a:pt x="0" y="0"/>
                </a:lnTo>
                <a:close/>
              </a:path>
            </a:pathLst>
          </a:custGeom>
          <a:blipFill>
            <a:blip r:embed="rId5"/>
            <a:stretch>
              <a:fillRect l="0" t="0" r="0" b="0"/>
            </a:stretch>
          </a:blipFill>
        </p:spPr>
      </p:sp>
      <p:grpSp>
        <p:nvGrpSpPr>
          <p:cNvPr name="Group 12" id="12"/>
          <p:cNvGrpSpPr/>
          <p:nvPr/>
        </p:nvGrpSpPr>
        <p:grpSpPr>
          <a:xfrm rot="0">
            <a:off x="815566" y="2421562"/>
            <a:ext cx="12791025" cy="5050342"/>
            <a:chOff x="0" y="0"/>
            <a:chExt cx="3368830" cy="1330131"/>
          </a:xfrm>
        </p:grpSpPr>
        <p:sp>
          <p:nvSpPr>
            <p:cNvPr name="Freeform 13" id="13"/>
            <p:cNvSpPr/>
            <p:nvPr/>
          </p:nvSpPr>
          <p:spPr>
            <a:xfrm flipH="false" flipV="false" rot="0">
              <a:off x="0" y="0"/>
              <a:ext cx="3368830" cy="1330131"/>
            </a:xfrm>
            <a:custGeom>
              <a:avLst/>
              <a:gdLst/>
              <a:ahLst/>
              <a:cxnLst/>
              <a:rect r="r" b="b" t="t" l="l"/>
              <a:pathLst>
                <a:path h="1330131" w="3368830">
                  <a:moveTo>
                    <a:pt x="37526" y="0"/>
                  </a:moveTo>
                  <a:lnTo>
                    <a:pt x="3331303" y="0"/>
                  </a:lnTo>
                  <a:cubicBezTo>
                    <a:pt x="3352029" y="0"/>
                    <a:pt x="3368830" y="16801"/>
                    <a:pt x="3368830" y="37526"/>
                  </a:cubicBezTo>
                  <a:lnTo>
                    <a:pt x="3368830" y="1292605"/>
                  </a:lnTo>
                  <a:cubicBezTo>
                    <a:pt x="3368830" y="1302558"/>
                    <a:pt x="3364876" y="1312103"/>
                    <a:pt x="3357838" y="1319140"/>
                  </a:cubicBezTo>
                  <a:cubicBezTo>
                    <a:pt x="3350801" y="1326178"/>
                    <a:pt x="3341256" y="1330131"/>
                    <a:pt x="3331303" y="1330131"/>
                  </a:cubicBezTo>
                  <a:lnTo>
                    <a:pt x="37526" y="1330131"/>
                  </a:lnTo>
                  <a:cubicBezTo>
                    <a:pt x="27574" y="1330131"/>
                    <a:pt x="18029" y="1326178"/>
                    <a:pt x="10991" y="1319140"/>
                  </a:cubicBezTo>
                  <a:cubicBezTo>
                    <a:pt x="3954" y="1312103"/>
                    <a:pt x="0" y="1302558"/>
                    <a:pt x="0" y="1292605"/>
                  </a:cubicBezTo>
                  <a:lnTo>
                    <a:pt x="0" y="37526"/>
                  </a:lnTo>
                  <a:cubicBezTo>
                    <a:pt x="0" y="27574"/>
                    <a:pt x="3954" y="18029"/>
                    <a:pt x="10991" y="10991"/>
                  </a:cubicBezTo>
                  <a:cubicBezTo>
                    <a:pt x="18029" y="3954"/>
                    <a:pt x="27574" y="0"/>
                    <a:pt x="37526" y="0"/>
                  </a:cubicBezTo>
                  <a:close/>
                </a:path>
              </a:pathLst>
            </a:custGeom>
            <a:solidFill>
              <a:srgbClr val="FFFFFF"/>
            </a:solidFill>
            <a:ln w="19050" cap="rnd">
              <a:solidFill>
                <a:srgbClr val="320000"/>
              </a:solidFill>
              <a:prstDash val="solid"/>
              <a:round/>
            </a:ln>
          </p:spPr>
        </p:sp>
        <p:sp>
          <p:nvSpPr>
            <p:cNvPr name="TextBox 14" id="14"/>
            <p:cNvSpPr txBox="true"/>
            <p:nvPr/>
          </p:nvSpPr>
          <p:spPr>
            <a:xfrm>
              <a:off x="0" y="-38100"/>
              <a:ext cx="3368830" cy="1368231"/>
            </a:xfrm>
            <a:prstGeom prst="rect">
              <a:avLst/>
            </a:prstGeom>
          </p:spPr>
          <p:txBody>
            <a:bodyPr anchor="ctr" rtlCol="false" tIns="50800" lIns="50800" bIns="50800" rIns="50800"/>
            <a:lstStyle/>
            <a:p>
              <a:pPr algn="ctr">
                <a:lnSpc>
                  <a:spcPts val="2659"/>
                </a:lnSpc>
                <a:spcBef>
                  <a:spcPct val="0"/>
                </a:spcBef>
              </a:pPr>
            </a:p>
          </p:txBody>
        </p:sp>
      </p:grpSp>
      <p:grpSp>
        <p:nvGrpSpPr>
          <p:cNvPr name="Group 15" id="15"/>
          <p:cNvGrpSpPr/>
          <p:nvPr/>
        </p:nvGrpSpPr>
        <p:grpSpPr>
          <a:xfrm rot="0">
            <a:off x="4298029" y="8216870"/>
            <a:ext cx="8383335" cy="1041430"/>
            <a:chOff x="0" y="0"/>
            <a:chExt cx="2207957" cy="274286"/>
          </a:xfrm>
        </p:grpSpPr>
        <p:sp>
          <p:nvSpPr>
            <p:cNvPr name="Freeform 16" id="16"/>
            <p:cNvSpPr/>
            <p:nvPr/>
          </p:nvSpPr>
          <p:spPr>
            <a:xfrm flipH="false" flipV="false" rot="0">
              <a:off x="0" y="0"/>
              <a:ext cx="2207957" cy="274286"/>
            </a:xfrm>
            <a:custGeom>
              <a:avLst/>
              <a:gdLst/>
              <a:ahLst/>
              <a:cxnLst/>
              <a:rect r="r" b="b" t="t" l="l"/>
              <a:pathLst>
                <a:path h="274286" w="2207957">
                  <a:moveTo>
                    <a:pt x="57256" y="0"/>
                  </a:moveTo>
                  <a:lnTo>
                    <a:pt x="2150700" y="0"/>
                  </a:lnTo>
                  <a:cubicBezTo>
                    <a:pt x="2165885" y="0"/>
                    <a:pt x="2180449" y="6032"/>
                    <a:pt x="2191187" y="16770"/>
                  </a:cubicBezTo>
                  <a:cubicBezTo>
                    <a:pt x="2201924" y="27508"/>
                    <a:pt x="2207957" y="42071"/>
                    <a:pt x="2207957" y="57256"/>
                  </a:cubicBezTo>
                  <a:lnTo>
                    <a:pt x="2207957" y="217030"/>
                  </a:lnTo>
                  <a:cubicBezTo>
                    <a:pt x="2207957" y="232215"/>
                    <a:pt x="2201924" y="246778"/>
                    <a:pt x="2191187" y="257516"/>
                  </a:cubicBezTo>
                  <a:cubicBezTo>
                    <a:pt x="2180449" y="268254"/>
                    <a:pt x="2165885" y="274286"/>
                    <a:pt x="2150700" y="274286"/>
                  </a:cubicBezTo>
                  <a:lnTo>
                    <a:pt x="57256" y="274286"/>
                  </a:lnTo>
                  <a:cubicBezTo>
                    <a:pt x="42071" y="274286"/>
                    <a:pt x="27508" y="268254"/>
                    <a:pt x="16770" y="257516"/>
                  </a:cubicBezTo>
                  <a:cubicBezTo>
                    <a:pt x="6032" y="246778"/>
                    <a:pt x="0" y="232215"/>
                    <a:pt x="0" y="217030"/>
                  </a:cubicBezTo>
                  <a:lnTo>
                    <a:pt x="0" y="57256"/>
                  </a:lnTo>
                  <a:cubicBezTo>
                    <a:pt x="0" y="42071"/>
                    <a:pt x="6032" y="27508"/>
                    <a:pt x="16770" y="16770"/>
                  </a:cubicBezTo>
                  <a:cubicBezTo>
                    <a:pt x="27508" y="6032"/>
                    <a:pt x="42071" y="0"/>
                    <a:pt x="57256" y="0"/>
                  </a:cubicBezTo>
                  <a:close/>
                </a:path>
              </a:pathLst>
            </a:custGeom>
            <a:gradFill rotWithShape="true">
              <a:gsLst>
                <a:gs pos="0">
                  <a:srgbClr val="FFFFFF">
                    <a:alpha val="8400"/>
                  </a:srgbClr>
                </a:gs>
                <a:gs pos="25000">
                  <a:srgbClr val="FFFFFF">
                    <a:alpha val="24000"/>
                  </a:srgbClr>
                </a:gs>
                <a:gs pos="50000">
                  <a:srgbClr val="FFFFFF">
                    <a:alpha val="8000"/>
                  </a:srgbClr>
                </a:gs>
                <a:gs pos="75000">
                  <a:srgbClr val="FFFFFF">
                    <a:alpha val="24000"/>
                  </a:srgbClr>
                </a:gs>
                <a:gs pos="100000">
                  <a:srgbClr val="FFFFFF">
                    <a:alpha val="8000"/>
                  </a:srgbClr>
                </a:gs>
              </a:gsLst>
              <a:lin ang="2700000"/>
            </a:gradFill>
            <a:ln w="19050" cap="rnd">
              <a:solidFill>
                <a:srgbClr val="FFFFFF">
                  <a:alpha val="80000"/>
                </a:srgbClr>
              </a:solidFill>
              <a:prstDash val="solid"/>
              <a:round/>
            </a:ln>
          </p:spPr>
        </p:sp>
        <p:sp>
          <p:nvSpPr>
            <p:cNvPr name="TextBox 17" id="17"/>
            <p:cNvSpPr txBox="true"/>
            <p:nvPr/>
          </p:nvSpPr>
          <p:spPr>
            <a:xfrm>
              <a:off x="0" y="-38100"/>
              <a:ext cx="2207957" cy="312386"/>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0">
            <a:off x="815566" y="8216870"/>
            <a:ext cx="5077952" cy="1041430"/>
            <a:chOff x="0" y="0"/>
            <a:chExt cx="1337403" cy="274286"/>
          </a:xfrm>
        </p:grpSpPr>
        <p:sp>
          <p:nvSpPr>
            <p:cNvPr name="Freeform 19" id="19"/>
            <p:cNvSpPr/>
            <p:nvPr/>
          </p:nvSpPr>
          <p:spPr>
            <a:xfrm flipH="false" flipV="false" rot="0">
              <a:off x="0" y="0"/>
              <a:ext cx="1337403" cy="274286"/>
            </a:xfrm>
            <a:custGeom>
              <a:avLst/>
              <a:gdLst/>
              <a:ahLst/>
              <a:cxnLst/>
              <a:rect r="r" b="b" t="t" l="l"/>
              <a:pathLst>
                <a:path h="274286" w="1337403">
                  <a:moveTo>
                    <a:pt x="94526" y="0"/>
                  </a:moveTo>
                  <a:lnTo>
                    <a:pt x="1242877" y="0"/>
                  </a:lnTo>
                  <a:cubicBezTo>
                    <a:pt x="1295082" y="0"/>
                    <a:pt x="1337403" y="42321"/>
                    <a:pt x="1337403" y="94526"/>
                  </a:cubicBezTo>
                  <a:lnTo>
                    <a:pt x="1337403" y="179760"/>
                  </a:lnTo>
                  <a:cubicBezTo>
                    <a:pt x="1337403" y="204830"/>
                    <a:pt x="1327444" y="228873"/>
                    <a:pt x="1309717" y="246600"/>
                  </a:cubicBezTo>
                  <a:cubicBezTo>
                    <a:pt x="1291990" y="264327"/>
                    <a:pt x="1267947" y="274286"/>
                    <a:pt x="1242877" y="274286"/>
                  </a:cubicBezTo>
                  <a:lnTo>
                    <a:pt x="94526" y="274286"/>
                  </a:lnTo>
                  <a:cubicBezTo>
                    <a:pt x="42321" y="274286"/>
                    <a:pt x="0" y="231965"/>
                    <a:pt x="0" y="179760"/>
                  </a:cubicBezTo>
                  <a:lnTo>
                    <a:pt x="0" y="94526"/>
                  </a:lnTo>
                  <a:cubicBezTo>
                    <a:pt x="0" y="42321"/>
                    <a:pt x="42321" y="0"/>
                    <a:pt x="94526" y="0"/>
                  </a:cubicBezTo>
                  <a:close/>
                </a:path>
              </a:pathLst>
            </a:custGeom>
            <a:solidFill>
              <a:srgbClr val="FFFFFF"/>
            </a:solidFill>
            <a:ln w="19050" cap="rnd">
              <a:solidFill>
                <a:srgbClr val="320000"/>
              </a:solidFill>
              <a:prstDash val="solid"/>
              <a:round/>
            </a:ln>
          </p:spPr>
        </p:sp>
        <p:sp>
          <p:nvSpPr>
            <p:cNvPr name="TextBox 20" id="20"/>
            <p:cNvSpPr txBox="true"/>
            <p:nvPr/>
          </p:nvSpPr>
          <p:spPr>
            <a:xfrm>
              <a:off x="0" y="-38100"/>
              <a:ext cx="1337403" cy="312386"/>
            </a:xfrm>
            <a:prstGeom prst="rect">
              <a:avLst/>
            </a:prstGeom>
          </p:spPr>
          <p:txBody>
            <a:bodyPr anchor="ctr" rtlCol="false" tIns="50800" lIns="50800" bIns="50800" rIns="50800"/>
            <a:lstStyle/>
            <a:p>
              <a:pPr algn="ctr">
                <a:lnSpc>
                  <a:spcPts val="2659"/>
                </a:lnSpc>
                <a:spcBef>
                  <a:spcPct val="0"/>
                </a:spcBef>
              </a:pPr>
            </a:p>
          </p:txBody>
        </p:sp>
      </p:grpSp>
      <p:pic>
        <p:nvPicPr>
          <p:cNvPr name="Picture 21" id="21"/>
          <p:cNvPicPr>
            <a:picLocks noChangeAspect="true"/>
          </p:cNvPicPr>
          <p:nvPr/>
        </p:nvPicPr>
        <p:blipFill>
          <a:blip r:embed="rId6"/>
          <a:stretch>
            <a:fillRect/>
          </a:stretch>
        </p:blipFill>
        <p:spPr>
          <a:xfrm rot="0">
            <a:off x="6892709" y="8493617"/>
            <a:ext cx="448093" cy="456348"/>
          </a:xfrm>
          <a:prstGeom prst="rect">
            <a:avLst/>
          </a:prstGeom>
        </p:spPr>
      </p:pic>
      <p:sp>
        <p:nvSpPr>
          <p:cNvPr name="Freeform 22" id="22"/>
          <p:cNvSpPr/>
          <p:nvPr/>
        </p:nvSpPr>
        <p:spPr>
          <a:xfrm flipH="false" flipV="false" rot="0">
            <a:off x="9948069" y="8552977"/>
            <a:ext cx="383274" cy="383274"/>
          </a:xfrm>
          <a:custGeom>
            <a:avLst/>
            <a:gdLst/>
            <a:ahLst/>
            <a:cxnLst/>
            <a:rect r="r" b="b" t="t" l="l"/>
            <a:pathLst>
              <a:path h="383274" w="383274">
                <a:moveTo>
                  <a:pt x="0" y="0"/>
                </a:moveTo>
                <a:lnTo>
                  <a:pt x="383274" y="0"/>
                </a:lnTo>
                <a:lnTo>
                  <a:pt x="383274" y="383274"/>
                </a:lnTo>
                <a:lnTo>
                  <a:pt x="0" y="3832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3" id="23"/>
          <p:cNvSpPr txBox="true"/>
          <p:nvPr/>
        </p:nvSpPr>
        <p:spPr>
          <a:xfrm rot="0">
            <a:off x="3016896" y="3024261"/>
            <a:ext cx="13600372" cy="1684107"/>
          </a:xfrm>
          <a:prstGeom prst="rect">
            <a:avLst/>
          </a:prstGeom>
        </p:spPr>
        <p:txBody>
          <a:bodyPr anchor="t" rtlCol="false" tIns="0" lIns="0" bIns="0" rIns="0">
            <a:spAutoFit/>
          </a:bodyPr>
          <a:lstStyle/>
          <a:p>
            <a:pPr algn="l">
              <a:lnSpc>
                <a:spcPts val="12699"/>
              </a:lnSpc>
            </a:pPr>
            <a:r>
              <a:rPr lang="en-US" sz="12450" spc="-722" b="true">
                <a:solidFill>
                  <a:srgbClr val="320000"/>
                </a:solidFill>
                <a:latin typeface="Bricolage Grotesque Bold"/>
                <a:ea typeface="Bricolage Grotesque Bold"/>
                <a:cs typeface="Bricolage Grotesque Bold"/>
                <a:sym typeface="Bricolage Grotesque Bold"/>
              </a:rPr>
              <a:t>Terimakasih</a:t>
            </a:r>
          </a:p>
        </p:txBody>
      </p:sp>
      <p:sp>
        <p:nvSpPr>
          <p:cNvPr name="TextBox 24" id="24"/>
          <p:cNvSpPr txBox="true"/>
          <p:nvPr/>
        </p:nvSpPr>
        <p:spPr>
          <a:xfrm rot="0">
            <a:off x="3016896" y="4574306"/>
            <a:ext cx="10945602" cy="1137840"/>
          </a:xfrm>
          <a:prstGeom prst="rect">
            <a:avLst/>
          </a:prstGeom>
        </p:spPr>
        <p:txBody>
          <a:bodyPr anchor="t" rtlCol="false" tIns="0" lIns="0" bIns="0" rIns="0">
            <a:spAutoFit/>
          </a:bodyPr>
          <a:lstStyle/>
          <a:p>
            <a:pPr algn="l">
              <a:lnSpc>
                <a:spcPts val="8588"/>
              </a:lnSpc>
            </a:pPr>
            <a:r>
              <a:rPr lang="en-US" sz="8420" spc="-488">
                <a:solidFill>
                  <a:srgbClr val="320000"/>
                </a:solidFill>
                <a:latin typeface="Bricolage Grotesque Light"/>
                <a:ea typeface="Bricolage Grotesque Light"/>
                <a:cs typeface="Bricolage Grotesque Light"/>
                <a:sym typeface="Bricolage Grotesque Light"/>
              </a:rPr>
              <a:t>Atas Perhatiannya !</a:t>
            </a:r>
          </a:p>
        </p:txBody>
      </p:sp>
      <p:sp>
        <p:nvSpPr>
          <p:cNvPr name="TextBox 25" id="25"/>
          <p:cNvSpPr txBox="true"/>
          <p:nvPr/>
        </p:nvSpPr>
        <p:spPr>
          <a:xfrm rot="0">
            <a:off x="4961809" y="6518185"/>
            <a:ext cx="5252561" cy="393785"/>
          </a:xfrm>
          <a:prstGeom prst="rect">
            <a:avLst/>
          </a:prstGeom>
        </p:spPr>
        <p:txBody>
          <a:bodyPr anchor="t" rtlCol="false" tIns="0" lIns="0" bIns="0" rIns="0">
            <a:spAutoFit/>
          </a:bodyPr>
          <a:lstStyle/>
          <a:p>
            <a:pPr algn="l">
              <a:lnSpc>
                <a:spcPts val="3108"/>
              </a:lnSpc>
            </a:pPr>
            <a:r>
              <a:rPr lang="en-US" sz="2486" spc="-74">
                <a:solidFill>
                  <a:srgbClr val="320000"/>
                </a:solidFill>
                <a:latin typeface="Open Sans 2"/>
                <a:ea typeface="Open Sans 2"/>
                <a:cs typeface="Open Sans 2"/>
                <a:sym typeface="Open Sans 2"/>
              </a:rPr>
              <a:t>Ibu Arny Lattu, S.Pd.Kom., M.Kom.</a:t>
            </a:r>
          </a:p>
        </p:txBody>
      </p:sp>
      <p:sp>
        <p:nvSpPr>
          <p:cNvPr name="TextBox 26" id="26"/>
          <p:cNvSpPr txBox="true"/>
          <p:nvPr/>
        </p:nvSpPr>
        <p:spPr>
          <a:xfrm rot="0">
            <a:off x="1326848" y="8539192"/>
            <a:ext cx="3894213" cy="372744"/>
          </a:xfrm>
          <a:prstGeom prst="rect">
            <a:avLst/>
          </a:prstGeom>
        </p:spPr>
        <p:txBody>
          <a:bodyPr anchor="t" rtlCol="false" tIns="0" lIns="0" bIns="0" rIns="0">
            <a:spAutoFit/>
          </a:bodyPr>
          <a:lstStyle/>
          <a:p>
            <a:pPr algn="l">
              <a:lnSpc>
                <a:spcPts val="3080"/>
              </a:lnSpc>
              <a:spcBef>
                <a:spcPct val="0"/>
              </a:spcBef>
            </a:pPr>
            <a:r>
              <a:rPr lang="en-US" sz="2200" spc="-77">
                <a:solidFill>
                  <a:srgbClr val="320000"/>
                </a:solidFill>
                <a:latin typeface="Open Sans 1"/>
                <a:ea typeface="Open Sans 1"/>
                <a:cs typeface="Open Sans 1"/>
                <a:sym typeface="Open Sans 1"/>
              </a:rPr>
              <a:t>Kelompok 3  SI24F</a:t>
            </a:r>
          </a:p>
        </p:txBody>
      </p:sp>
      <p:sp>
        <p:nvSpPr>
          <p:cNvPr name="TextBox 27" id="27"/>
          <p:cNvSpPr txBox="true"/>
          <p:nvPr/>
        </p:nvSpPr>
        <p:spPr>
          <a:xfrm rot="0">
            <a:off x="7349812" y="8581737"/>
            <a:ext cx="1972567"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083110651114</a:t>
            </a:r>
          </a:p>
        </p:txBody>
      </p:sp>
      <p:sp>
        <p:nvSpPr>
          <p:cNvPr name="TextBox 28" id="28"/>
          <p:cNvSpPr txBox="true"/>
          <p:nvPr/>
        </p:nvSpPr>
        <p:spPr>
          <a:xfrm rot="0">
            <a:off x="10422779" y="8581737"/>
            <a:ext cx="2915598" cy="297180"/>
          </a:xfrm>
          <a:prstGeom prst="rect">
            <a:avLst/>
          </a:prstGeom>
        </p:spPr>
        <p:txBody>
          <a:bodyPr anchor="t" rtlCol="false" tIns="0" lIns="0" bIns="0" rIns="0">
            <a:spAutoFit/>
          </a:bodyPr>
          <a:lstStyle/>
          <a:p>
            <a:pPr algn="l" marL="0" indent="0" lvl="0">
              <a:lnSpc>
                <a:spcPts val="2520"/>
              </a:lnSpc>
              <a:spcBef>
                <a:spcPct val="0"/>
              </a:spcBef>
            </a:pPr>
            <a:r>
              <a:rPr lang="en-US" sz="1800">
                <a:solidFill>
                  <a:srgbClr val="FFFFFF"/>
                </a:solidFill>
                <a:latin typeface="Open Sans 1"/>
                <a:ea typeface="Open Sans 1"/>
                <a:cs typeface="Open Sans 1"/>
                <a:sym typeface="Open Sans 1"/>
              </a:rPr>
              <a:t>@4rzew</a:t>
            </a:r>
          </a:p>
        </p:txBody>
      </p:sp>
      <p:sp>
        <p:nvSpPr>
          <p:cNvPr name="TextBox 29" id="29"/>
          <p:cNvSpPr txBox="true"/>
          <p:nvPr/>
        </p:nvSpPr>
        <p:spPr>
          <a:xfrm rot="0">
            <a:off x="1102785" y="874681"/>
            <a:ext cx="7386911" cy="489606"/>
          </a:xfrm>
          <a:prstGeom prst="rect">
            <a:avLst/>
          </a:prstGeom>
        </p:spPr>
        <p:txBody>
          <a:bodyPr anchor="t" rtlCol="false" tIns="0" lIns="0" bIns="0" rIns="0">
            <a:spAutoFit/>
          </a:bodyPr>
          <a:lstStyle/>
          <a:p>
            <a:pPr algn="l">
              <a:lnSpc>
                <a:spcPts val="4014"/>
              </a:lnSpc>
            </a:pPr>
            <a:r>
              <a:rPr lang="en-US" sz="2867" spc="-126" b="true">
                <a:solidFill>
                  <a:srgbClr val="FFFFFF"/>
                </a:solidFill>
                <a:latin typeface="Open Sans 2 Bold"/>
                <a:ea typeface="Open Sans 2 Bold"/>
                <a:cs typeface="Open Sans 2 Bold"/>
                <a:sym typeface="Open Sans 2 Bold"/>
              </a:rPr>
              <a:t>ANALISIS DAN PERANCANGAN SISTEM</a:t>
            </a:r>
          </a:p>
        </p:txBody>
      </p:sp>
      <p:sp>
        <p:nvSpPr>
          <p:cNvPr name="TextBox 30" id="30"/>
          <p:cNvSpPr txBox="true"/>
          <p:nvPr/>
        </p:nvSpPr>
        <p:spPr>
          <a:xfrm rot="0">
            <a:off x="10378788" y="981075"/>
            <a:ext cx="2264569" cy="349250"/>
          </a:xfrm>
          <a:prstGeom prst="rect">
            <a:avLst/>
          </a:prstGeom>
        </p:spPr>
        <p:txBody>
          <a:bodyPr anchor="t" rtlCol="false" tIns="0" lIns="0" bIns="0" rIns="0">
            <a:spAutoFit/>
          </a:bodyPr>
          <a:lstStyle/>
          <a:p>
            <a:pPr algn="ctr">
              <a:lnSpc>
                <a:spcPts val="2800"/>
              </a:lnSpc>
            </a:pPr>
            <a:r>
              <a:rPr lang="en-US" sz="2000" spc="-88">
                <a:solidFill>
                  <a:srgbClr val="FFFFFF"/>
                </a:solidFill>
                <a:latin typeface="Open Sans 2"/>
                <a:ea typeface="Open Sans 2"/>
                <a:cs typeface="Open Sans 2"/>
                <a:sym typeface="Open Sans 2"/>
              </a:rPr>
              <a:t>Januari 2026</a:t>
            </a:r>
          </a:p>
        </p:txBody>
      </p:sp>
      <p:sp>
        <p:nvSpPr>
          <p:cNvPr name="TextBox 31" id="31"/>
          <p:cNvSpPr txBox="true"/>
          <p:nvPr/>
        </p:nvSpPr>
        <p:spPr>
          <a:xfrm rot="0">
            <a:off x="6210043" y="6087848"/>
            <a:ext cx="2002072" cy="349375"/>
          </a:xfrm>
          <a:prstGeom prst="rect">
            <a:avLst/>
          </a:prstGeom>
        </p:spPr>
        <p:txBody>
          <a:bodyPr anchor="t" rtlCol="false" tIns="0" lIns="0" bIns="0" rIns="0">
            <a:spAutoFit/>
          </a:bodyPr>
          <a:lstStyle/>
          <a:p>
            <a:pPr algn="ctr">
              <a:lnSpc>
                <a:spcPts val="2909"/>
              </a:lnSpc>
              <a:spcBef>
                <a:spcPct val="0"/>
              </a:spcBef>
            </a:pPr>
            <a:r>
              <a:rPr lang="en-US" sz="2077" spc="-155">
                <a:solidFill>
                  <a:srgbClr val="000000"/>
                </a:solidFill>
                <a:latin typeface="Open Sans 2"/>
                <a:ea typeface="Open Sans 2"/>
                <a:cs typeface="Open Sans 2"/>
                <a:sym typeface="Open Sans 2"/>
              </a:rPr>
              <a:t>Dosen Pengampu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DAG-wQwT5tY</dc:identifier>
  <dcterms:modified xsi:type="dcterms:W3CDTF">2011-08-01T06:04:30Z</dcterms:modified>
  <cp:revision>1</cp:revision>
  <dc:title>PPT ANSI Kelompok 3 (Arzew)  - SI24F</dc:title>
</cp:coreProperties>
</file>